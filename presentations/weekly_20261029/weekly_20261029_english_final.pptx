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2940825fb043ff" /><Relationship Type="http://schemas.openxmlformats.org/officeDocument/2006/relationships/extended-properties" Target="/docProps/app.xml" Id="R9c57c9baf7ca40a0" /><Relationship Type="http://schemas.openxmlformats.org/officeDocument/2006/relationships/officeDocument" Target="/ppt/presentation.xml" Id="Rf48719d996664f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28d5bff2984739"/>
  </p:sldMasterIdLst>
  <p:notesMasterIdLst>
    <p:notesMasterId xmlns:r="http://schemas.openxmlformats.org/officeDocument/2006/relationships" r:id="R9ad6c2b3b66c4593"/>
  </p:notesMasterIdLst>
  <p:sldIdLst>
    <p:sldId xmlns:r="http://schemas.openxmlformats.org/officeDocument/2006/relationships" id="256" r:id="R86523a8357324f71"/>
    <p:sldId xmlns:r="http://schemas.openxmlformats.org/officeDocument/2006/relationships" id="257" r:id="R49e6f032974a4b9a"/>
    <p:sldId xmlns:r="http://schemas.openxmlformats.org/officeDocument/2006/relationships" id="258" r:id="R9b232c0cc1fb4505"/>
    <p:sldId xmlns:r="http://schemas.openxmlformats.org/officeDocument/2006/relationships" id="259" r:id="R8ea4c28ea05a4e7a"/>
    <p:sldId xmlns:r="http://schemas.openxmlformats.org/officeDocument/2006/relationships" id="260" r:id="R98922a20f9274911"/>
    <p:sldId xmlns:r="http://schemas.openxmlformats.org/officeDocument/2006/relationships" id="261" r:id="R6554c7a9d046406e"/>
    <p:sldId xmlns:r="http://schemas.openxmlformats.org/officeDocument/2006/relationships" id="262" r:id="Rcac3df4b1fec4e79"/>
    <p:sldId xmlns:r="http://schemas.openxmlformats.org/officeDocument/2006/relationships" id="263" r:id="R00d84e3d6bd142ca"/>
    <p:sldId xmlns:r="http://schemas.openxmlformats.org/officeDocument/2006/relationships" id="264" r:id="R9c53e31c17dc44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72adef0d0f4d87" /><Relationship Type="http://schemas.openxmlformats.org/officeDocument/2006/relationships/slideMaster" Target="/ppt/slideMasters/slideMaster1.xml" Id="R1d28d5bff2984739" /><Relationship Type="http://schemas.openxmlformats.org/officeDocument/2006/relationships/notesMaster" Target="/ppt/notesMasters/notesMaster1.xml" Id="R9ad6c2b3b66c4593" /><Relationship Type="http://schemas.openxmlformats.org/officeDocument/2006/relationships/presProps" Target="/ppt/presProps.xml" Id="R525a95c8dd284c8d" /><Relationship Type="http://schemas.openxmlformats.org/officeDocument/2006/relationships/tableStyles" Target="/ppt/tableStyles.xml" Id="Reebe538078c34d3d" /><Relationship Type="http://schemas.openxmlformats.org/officeDocument/2006/relationships/slide" Target="/ppt/slides/slide1.xml" Id="R86523a8357324f71" /><Relationship Type="http://schemas.openxmlformats.org/officeDocument/2006/relationships/slide" Target="/ppt/slides/slide2.xml" Id="R49e6f032974a4b9a" /><Relationship Type="http://schemas.openxmlformats.org/officeDocument/2006/relationships/slide" Target="/ppt/slides/slide3.xml" Id="R9b232c0cc1fb4505" /><Relationship Type="http://schemas.openxmlformats.org/officeDocument/2006/relationships/slide" Target="/ppt/slides/slide4.xml" Id="R8ea4c28ea05a4e7a" /><Relationship Type="http://schemas.openxmlformats.org/officeDocument/2006/relationships/slide" Target="/ppt/slides/slide5.xml" Id="R98922a20f9274911" /><Relationship Type="http://schemas.openxmlformats.org/officeDocument/2006/relationships/slide" Target="/ppt/slides/slide6.xml" Id="R6554c7a9d046406e" /><Relationship Type="http://schemas.openxmlformats.org/officeDocument/2006/relationships/slide" Target="/ppt/slides/slide7.xml" Id="Rcac3df4b1fec4e79" /><Relationship Type="http://schemas.openxmlformats.org/officeDocument/2006/relationships/slide" Target="/ppt/slides/slide8.xml" Id="R00d84e3d6bd142ca" /><Relationship Type="http://schemas.openxmlformats.org/officeDocument/2006/relationships/slide" Target="/ppt/slides/slide9.xml" Id="R9c53e31c17dc44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fbecf837a744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cbcdbe5b82437b" /><Relationship Type="http://schemas.openxmlformats.org/officeDocument/2006/relationships/notesMaster" Target="/ppt/notesMasters/notesMaster1.xml" Id="R13a7636838084f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b1f31159b24b90" /><Relationship Type="http://schemas.openxmlformats.org/officeDocument/2006/relationships/notesMaster" Target="/ppt/notesMasters/notesMaster1.xml" Id="R169026badbd046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b08fee11a64cf1" /><Relationship Type="http://schemas.openxmlformats.org/officeDocument/2006/relationships/notesMaster" Target="/ppt/notesMasters/notesMaster1.xml" Id="Rbe6823ae910e45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f7a1f974764790" /><Relationship Type="http://schemas.openxmlformats.org/officeDocument/2006/relationships/notesMaster" Target="/ppt/notesMasters/notesMaster1.xml" Id="Ra0e3e2dd402e46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94ebc13b8e4279" /><Relationship Type="http://schemas.openxmlformats.org/officeDocument/2006/relationships/notesMaster" Target="/ppt/notesMasters/notesMaster1.xml" Id="R99dec2626c474c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cb4a0995c54be9" /><Relationship Type="http://schemas.openxmlformats.org/officeDocument/2006/relationships/notesMaster" Target="/ppt/notesMasters/notesMaster1.xml" Id="R27f97ef6853241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c21758d01e49fd" /><Relationship Type="http://schemas.openxmlformats.org/officeDocument/2006/relationships/notesMaster" Target="/ppt/notesMasters/notesMaster1.xml" Id="R77fd5f193d8b48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b51f3170424d49" /><Relationship Type="http://schemas.openxmlformats.org/officeDocument/2006/relationships/notesMaster" Target="/ppt/notesMasters/notesMaster1.xml" Id="Rf91d0fcf2d4547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b029e2aa8c4a9a" /><Relationship Type="http://schemas.openxmlformats.org/officeDocument/2006/relationships/notesMaster" Target="/ppt/notesMasters/notesMaster1.xml" Id="R08ba92f3deeb49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adaptive mechanism, not implemented/validated. After inputs are ready, more remaining reconstruction time allows a larger full-resolution region; less time calls for a smaller region. The half-resolution base still covers the full image. Region sizes in this schematic are illustrative, not quantitative. Current implementation covers a fixed-center FOV sweep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Mechanism: half-resolution base + padded full-resolution ROI + feather overlay. Region percentages are spatial coverage of a 960x540 image: 80x46=0.7098765%, 160x90=2.7777778%, 320x180=11.1111111%, 480x270=25%, 640x360=44.4444444%. The base samples at 50% width and 50% height, giving 25% as many pixels (480x270), while covering the entire image. Region coverage and sampling resolution are different quantities.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Measured timing excludes decoding. Slides 6 and 7 add one fixed 2 ms decoding budget per frame to measured means; derived budget totals are not measured end-to-end latency. No joint RGB, depth and flow decoding measurement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Arithmetic means of all 5340 timing samples in each level/timing/mode group, computed by compute_means.py into mean_timings.json. No sample trimming. Full baseline measured separately per level. Fast resample enabled. Each value covers all 1068 supported frames. Adds a fixed 2 ms decode budget once per frame. Speedup is (2 + mean(full resident))/(2 + mean(FOV resident)) at the same region level. This is a derived budget, not measured end-to-end timing or measured joint RGB/depth/flow decoding. See results/fov_decode_budget_2ms_20261029/README.md and summary.csv. Region labels are image-area coverage, not sampling resolution.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Original uint8-overflow PSNR preserved. Stereo delta is derived only if left eye remains unchanged and per-eye PSNR dB is averaged. Timing is never divided by two. Latency adds a fixed 2 ms per-frame decode budget once, not measured decoding or end-to-end latency. Source: results/fov_decode_budget_2ms_20261029/summary.csv.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results/numba_xavier_20261029/mode7_15w/result.json, environment.txt, run.log. Arithmetic means from mean_timings.json of 100 timing samples per method, four workloads, frame39 only. No confidence intervals. Numba0.58.1/Python3.8/CUDA11.4. Original source-function calls include allocations/transfers/debug copies and show warmup drift; not directly comparable to resident timing.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future work; no measured jitter trace or deadline-miss reduction exists in the current experiment. Slides 6–7 add a fixed 2 ms decode budget to local reconstruction means. Other timing values are local reconstruction measurements. None are measured end-to-end VR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31a0813584b7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45d3859b2642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ab50ce96fe48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b919cb6bdd46c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2c71e2d6114f7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4cc240bdbc40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0202D6-66F6-446A-9D19-4E28AA2EC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C432F84-1FC5-4B96-A410-BC3B9B0E206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3D13FC-3C23-4525-876A-47EF871F7F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1CFF03-C619-4C1E-BC91-D83BF42F16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09EA446-6FE5-47E1-8D9B-46839CC87E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4F5C477-EAE6-49C1-9526-C577320F58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28896D-C596-4C41-8018-748795CEA3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8BF08F-8B5D-4F07-957A-E843150559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828EA7A-5B8D-4D50-9B22-B9DD3F1CE2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E5A9C51-DE3B-4A6D-A420-5D239AD90F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93b2cfd0d149a6" /><Relationship Type="http://schemas.openxmlformats.org/officeDocument/2006/relationships/slideLayout" Target="/ppt/slideLayouts/slideLayout1.xml" Id="R0f52c718a43b452e" /><Relationship Type="http://schemas.openxmlformats.org/officeDocument/2006/relationships/slideLayout" Target="/ppt/slideLayouts/slideLayout2.xml" Id="R780d896a238949f1" /><Relationship Type="http://schemas.openxmlformats.org/officeDocument/2006/relationships/slideLayout" Target="/ppt/slideLayouts/slideLayout3.xml" Id="Rdf272a2667af43fc" /><Relationship Type="http://schemas.openxmlformats.org/officeDocument/2006/relationships/slideLayout" Target="/ppt/slideLayouts/slideLayout4.xml" Id="Rd21685694f5f471f" /><Relationship Type="http://schemas.openxmlformats.org/officeDocument/2006/relationships/slideLayout" Target="/ppt/slideLayouts/slideLayout5.xml" Id="R3e3037fcb7af4d5e" /><Relationship Type="http://schemas.openxmlformats.org/officeDocument/2006/relationships/slideLayout" Target="/ppt/slideLayouts/slideLayout6.xml" Id="R879fc5647b6c4a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52c718a43b452e"/>
    <p:sldLayoutId xmlns:r="http://schemas.openxmlformats.org/officeDocument/2006/relationships" id="2147483650" r:id="R780d896a238949f1"/>
    <p:sldLayoutId xmlns:r="http://schemas.openxmlformats.org/officeDocument/2006/relationships" id="2147483651" r:id="Rdf272a2667af43fc"/>
    <p:sldLayoutId xmlns:r="http://schemas.openxmlformats.org/officeDocument/2006/relationships" id="2147483652" r:id="Rd21685694f5f471f"/>
    <p:sldLayoutId xmlns:r="http://schemas.openxmlformats.org/officeDocument/2006/relationships" id="2147483653" r:id="R3e3037fcb7af4d5e"/>
    <p:sldLayoutId xmlns:r="http://schemas.openxmlformats.org/officeDocument/2006/relationships" id="2147483654" r:id="R879fc5647b6c4a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b1dfad7bff43ce" /><Relationship Type="http://schemas.openxmlformats.org/officeDocument/2006/relationships/notesSlide" Target="/ppt/notesSlides/notesSlide1.xml" Id="Ra4a8009c8a8947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828ea8848f456a" /><Relationship Type="http://schemas.openxmlformats.org/officeDocument/2006/relationships/notesSlide" Target="/ppt/notesSlides/notesSlide2.xml" Id="Rd20d5bf4f0e347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d27bd14a2546fa" /><Relationship Type="http://schemas.openxmlformats.org/officeDocument/2006/relationships/notesSlide" Target="/ppt/notesSlides/notesSlide3.xml" Id="R32658e73d5f44c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b47e697ce040df" /><Relationship Type="http://schemas.openxmlformats.org/officeDocument/2006/relationships/notesSlide" Target="/ppt/notesSlides/notesSlide4.xml" Id="Rf02a8ef5c7c741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a18aa4adbc4dad" /><Relationship Type="http://schemas.openxmlformats.org/officeDocument/2006/relationships/notesSlide" Target="/ppt/notesSlides/notesSlide5.xml" Id="R69d9a7e602964b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f49cb12ef7476c" /><Relationship Type="http://schemas.openxmlformats.org/officeDocument/2006/relationships/chart" Target="/ppt/slides/charts/chart1.xml" Id="R34dd640846da483d" /><Relationship Type="http://schemas.openxmlformats.org/officeDocument/2006/relationships/notesSlide" Target="/ppt/notesSlides/notesSlide6.xml" Id="R105adf2dd7c74d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944864b9794fac" /><Relationship Type="http://schemas.openxmlformats.org/officeDocument/2006/relationships/notesSlide" Target="/ppt/notesSlides/notesSlide7.xml" Id="R47e2241da8834f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723afcdc754851" /><Relationship Type="http://schemas.openxmlformats.org/officeDocument/2006/relationships/notesSlide" Target="/ppt/notesSlides/notesSlide8.xml" Id="R035a3711780a4b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2adb2e41094eab" /><Relationship Type="http://schemas.openxmlformats.org/officeDocument/2006/relationships/notesSlide" Target="/ppt/notesSlides/notesSlide9.xml" Id="R6483f518f19f49d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FOV resident + decode</c:v>
          </c:tx>
          <c:spPr>
            <a:solidFill xmlns:a="http://schemas.openxmlformats.org/drawingml/2006/main">
              <a:srgbClr val="086B93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0.7%</c:v>
                </c:pt>
                <c:pt idx="1">
                  <c:v>2.8%</c:v>
                </c:pt>
                <c:pt idx="2">
                  <c:v>11.1%</c:v>
                </c:pt>
                <c:pt idx="3">
                  <c:v>25.0%</c:v>
                </c:pt>
                <c:pt idx="4">
                  <c:v>44.4%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6.562</c:v>
                </c:pt>
                <c:pt idx="1">
                  <c:v>6.77</c:v>
                </c:pt>
                <c:pt idx="2">
                  <c:v>7.998</c:v>
                </c:pt>
                <c:pt idx="3">
                  <c:v>9.772</c:v>
                </c:pt>
                <c:pt idx="4">
                  <c:v>12.425</c:v>
                </c:pt>
              </c:numCache>
            </c:numRef>
          </c:val>
        </c:ser>
        <c:ser>
          <c:idx val="1"/>
          <c:order val="1"/>
          <c:tx>
            <c:v>FOV stream + decode</c:v>
          </c:tx>
          <c:spPr>
            <a:solidFill xmlns:a="http://schemas.openxmlformats.org/drawingml/2006/main">
              <a:srgbClr val="D17B28"/>
            </a:solidFill>
          </c:spPr>
          <c:invertIfNegative val="0"/>
          <c:cat>
            <c:strRef>
              <c:f>'Chart Data'!$C$2:$C$6</c:f>
              <c:strCache>
                <c:ptCount val="5"/>
                <c:pt idx="0">
                  <c:v>0.7%</c:v>
                </c:pt>
                <c:pt idx="1">
                  <c:v>2.8%</c:v>
                </c:pt>
                <c:pt idx="2">
                  <c:v>11.1%</c:v>
                </c:pt>
                <c:pt idx="3">
                  <c:v>25.0%</c:v>
                </c:pt>
                <c:pt idx="4">
                  <c:v>44.4%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8.364</c:v>
                </c:pt>
                <c:pt idx="1">
                  <c:v>8.728</c:v>
                </c:pt>
                <c:pt idx="2">
                  <c:v>9.839</c:v>
                </c:pt>
                <c:pt idx="3">
                  <c:v>11.655</c:v>
                </c:pt>
                <c:pt idx="4">
                  <c:v>14.193</c:v>
                </c:pt>
              </c:numCache>
            </c:numRef>
          </c:val>
        </c:ser>
        <c:ser>
          <c:idx val="2"/>
          <c:order val="2"/>
          <c:tx>
            <c:v>Full resident + decode</c:v>
          </c:tx>
          <c:spPr>
            <a:solidFill xmlns:a="http://schemas.openxmlformats.org/drawingml/2006/main">
              <a:srgbClr val="536675"/>
            </a:solidFill>
          </c:spPr>
          <c:invertIfNegative val="0"/>
          <c:cat>
            <c:strRef>
              <c:f>'Chart Data'!$E$2:$E$6</c:f>
              <c:strCache>
                <c:ptCount val="5"/>
                <c:pt idx="0">
                  <c:v>0.7%</c:v>
                </c:pt>
                <c:pt idx="1">
                  <c:v>2.8%</c:v>
                </c:pt>
                <c:pt idx="2">
                  <c:v>11.1%</c:v>
                </c:pt>
                <c:pt idx="3">
                  <c:v>25.0%</c:v>
                </c:pt>
                <c:pt idx="4">
                  <c:v>44.4%</c:v>
                </c:pt>
              </c:strCache>
            </c:strRef>
          </c:cat>
          <c:val>
            <c:numRef>
              <c:f>'Chart Data'!$F$2:$F$6</c:f>
              <c:numCache>
                <c:formatCode>General</c:formatCode>
                <c:ptCount val="5"/>
                <c:pt idx="0">
                  <c:v>13.187</c:v>
                </c:pt>
                <c:pt idx="1">
                  <c:v>13.022</c:v>
                </c:pt>
                <c:pt idx="2">
                  <c:v>13.144</c:v>
                </c:pt>
                <c:pt idx="3">
                  <c:v>13.042</c:v>
                </c:pt>
                <c:pt idx="4">
                  <c:v>13.087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Decode + recon mean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546043-8B75-4006-84B6-2AAC0D4C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6487C-3836-4563-81E7-18E12B20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D9607B-E435-4003-9DFE-836F1C8D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2F1CE-49CA-4EB8-B7F6-513CA4F6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3159806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30386B-2046-4D8F-A0B0-9EAF80D7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8C776-7A13-4079-9C04-E786025E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6CA10E-ECBD-4533-9842-7B140995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12A60-3C3E-4585-991B-C51FE9EE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9F982-C601-4C1E-A5BC-29358583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42D2F7-F26A-41DD-8E6F-FDB25479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927D3C-E5D5-47E6-BF18-9784502F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798B8-5E4B-403A-9455-300AFF33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37855-E08E-4BA8-B42D-33A275F3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B3EB67-8D1D-4BEC-AA6E-ECF77D0B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AB262C-431D-4BF7-B47A-BED8F0B2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1A749D-1D20-47E7-9F9B-470D3960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E396C1-AB0B-488D-B2D2-0EA5E986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17926B-E3B2-4B07-97F4-B46D1DED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C6A87-90D3-4F98-8BE0-1A63560E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D914A-7D6A-4810-9566-38FD4B9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3E719F-AC2F-400E-A0B4-7D60E48D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E87DA5-E0E3-4E52-B3BA-F45FF355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DE50BD-1DC6-4770-A398-BDA3A6A1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97BB50-7EA4-4CFD-B66A-863B283E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A14051-3DFE-4E62-8ADA-6D449342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9B8C25-12A9-48B4-88E4-6F763B12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1C01D2-3DCF-4273-89DC-8958C60D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01AA13-3984-42F1-A4B4-793C2AE9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663E82-2AD8-4F0B-982E-4BDD7C4C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FCBA04-7CF1-4042-BD0C-AECA5FFF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B65EE6-34FB-4589-AE8F-B22BE8BA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7C06A9-3E3D-43C3-9F3C-5E7B83C4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5981826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09851-4663-45F8-8DC5-9285BC4B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Adapt the full-resolution region to available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BE06E5-EF4E-46BA-8EEE-6D49561F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E09036-ED0C-458B-A586-72A8F461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72B12-94A9-482B-9052-8D5300C0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More 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66F9A-58E2-495E-BBFC-3E88F434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133350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22581-728F-438B-A140-C491EBEF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714500"/>
            <a:ext cx="61912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72B803-FC46-4E31-A950-318E3898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36195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FBC34-0D68-4C1E-9B5E-C644523C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33750"/>
            <a:ext cx="5286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Larger full-resolution region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31DF7-8F03-466C-AD4B-9AA56EFE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Less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EA1C6-22F3-49CC-910D-C3411376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91025"/>
            <a:ext cx="133350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5CA3C3-9B4D-47EB-BB30-14B6D33E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857625"/>
            <a:ext cx="61912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13839-4267-4375-8D42-F6BE0D1A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305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B44F1-35B5-49E9-A247-1E2A2A09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476875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Smaller full-resolution region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3A980C-C791-4C25-AA0E-E8396037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Proposed adaptation. Fixed-center levels are measured;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16896628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0AEB41-87B8-462C-987C-E2211B1A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48853-7BBA-45D0-9E80-F90A08DE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2742EC-52E2-4870-97FC-1DBD8F71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EAE896-0A09-4C7B-87DE-D9F8FDBA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D4A3A-9041-4CF4-BBEF-131E8CA4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8FAAB-AD43-40E7-8D23-1547FDA1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Base sampling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50% W × 50% H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(25% of pixels)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C5FA0-2A4D-4C1E-96FF-01086775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Base covers the whole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6A66F-BE09-4796-8314-D5E9354B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E30CE-47AA-4059-81C0-650A8E8F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ADF54-99C5-4D0B-BAD4-5157236A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37F4C-EC8D-4994-B2A2-0E30C9C4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5BAB75-22C1-4854-86EF-1B065874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B3D01-8DB3-4972-94B8-B6DAE0C8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53A71-907B-4F6A-9F07-8326617A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F524B3-C296-4DF0-8C8C-2D8C304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003087-D654-4554-A6AD-0546A57B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9CCD30-D48D-4E0D-A5A6-BDB55F8B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960 × 540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1C413-1306-4ACD-A3F6-EBB8479D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Full-resolution region: 0.7%, 2.8%, 11.1%, 25.0%, 44.4% of image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400971-A8AD-4690-8ADE-5E658A9C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Region % means image-area coverage; base sampling is separate. Fixed center, 3 px halo; no eye tracking.</a:t>
            </a:r>
          </a:p>
        </p:txBody>
      </p:sp>
    </p:spTree>
    <p:extLst>
      <p:ext uri="{BB962C8B-B14F-4D97-AF65-F5344CB8AC3E}">
        <p14:creationId xmlns:p14="http://schemas.microsoft.com/office/powerpoint/2010/main" val="7505791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93253-589B-4A99-BB74-4927A6F2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Coverage and measurement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322D7-1BB8-4566-961E-2B44BCC8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5A624-7AA7-4BB2-B1BC-DCBFD5A9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F48B1-A15A-4301-8366-B4362D945F53}"/>
              </a:ext>
            </a:extLst>
          </p:cNvPr>
          <p:cNvGraphicFramePr/>
          <p:nvPr/>
        </p:nvGraphicFramePr>
        <p:xfrm>
          <a:off xmlns:a="http://schemas.openxmlformats.org/drawingml/2006/main" x="609600" y="1590675"/>
          <a:ext xmlns:a="http://schemas.openxmlformats.org/drawingml/2006/main" cx="6286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1333500"/>
                <a:gridCol w="2667000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Forward sequence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Frames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frame IDs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 mm / 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7–299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 mm / 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387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7–779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 mm / 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7–299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 mm / 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387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7–779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859824-037B-458E-9743-931BBC63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3830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6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1068 frames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6CFA04-864E-4989-AD8B-F9214823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3810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Xavier 15W Desktop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CUDA 11.4, unlocked clocks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3 warmups + 5 timed runs/frame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One quality output/config/frame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6A439-6874-40AD-AE5B-893F2459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108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Resident: GPU-resident inputs, reconstruction, upsampling, and blending</a:t>
            </a:r>
          </a:p>
          <a:p xmlns:a="http://schemas.openxmlformats.org/drawingml/2006/main">
            <a:r>
              <a:rPr sz="18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Stream: also includes input upload and output download</a:t>
            </a:r>
          </a:p>
          <a:p xmlns:a="http://schemas.openxmlformats.org/drawingml/2006/main">
            <a:r>
              <a:rPr sz="18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Slides 6–7 add a fixed 2 ms/frame decode budget; not measured end-to-end.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EBE73C-E127-46FA-A13D-8FF497D6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Excludes backward scenes, even frames, and unsupported tail frames. Timing excludes I/O, allocation, network, decoding, and display.</a:t>
            </a:r>
          </a:p>
        </p:txBody>
      </p:sp>
    </p:spTree>
    <p:extLst>
      <p:ext uri="{BB962C8B-B14F-4D97-AF65-F5344CB8AC3E}">
        <p14:creationId xmlns:p14="http://schemas.microsoft.com/office/powerpoint/2010/main" val="9961842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16465-5DFD-43FD-956D-AC3E27B7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Decode budget + reconstruction across FOV levels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23C7B-1B1A-4C4B-8BA2-AE338F10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55288-C5BD-4756-A0E9-326AA8AD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A734A4D1-0F26-4149-B21C-D59BCB964061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7715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dd640846da483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CB0E8-0CA3-4E7A-BB44-7A0CAF47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240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2.8% region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68E92-924B-476D-A8E1-BC0FC270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193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6.770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0F7CB-83C9-4C3B-853F-3A10B3F3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051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decode + resident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A0787-17AF-4B40-8C71-1787783B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1.92×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F9CED-3C51-4A88-B080-EBED15F2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19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full + decode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273A1-9CC8-4371-84B0-D3CCD518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06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Fixed decode budget: 2 ms/frame + measured reconstruction; stream also includes copies.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B419C-F7DA-422F-A8D9-5A5BE585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Derived budget, not measured end-to-end. Fast resampling enabled; gains also include upsampling changes. No optimal-baseline claim.</a:t>
            </a:r>
          </a:p>
        </p:txBody>
      </p:sp>
    </p:spTree>
    <p:extLst>
      <p:ext uri="{BB962C8B-B14F-4D97-AF65-F5344CB8AC3E}">
        <p14:creationId xmlns:p14="http://schemas.microsoft.com/office/powerpoint/2010/main" val="17817059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482416-2AF0-4E75-B599-E070C53F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Quality–latency trade-off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40D622-621A-4EC6-A1A4-F6DB096B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61C32-3A6F-45FF-8BC0-D7E3AAA0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51B9C5-D091-4C6C-8D97-8EC47B5578F9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619375"/>
                <a:gridCol w="2724150"/>
                <a:gridCol w="3105150"/>
              </a:tblGrid>
              <a:tr h="5349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(% of image)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Decode + recon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ΔPSNR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mean ΔPSNR*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0.7%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6.562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-0.1727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2.8%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6.770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-0.1668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-0.0834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11.1%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7.998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-0.1462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-0.0731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25.0%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9.772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-0.1200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-0.0600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44.4%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12.425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-0.0430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9713E-FC1D-47ED-9640-BFEA7335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* Unchanged left eye, mean per-eye PSNR in dB: stereo difference = right-eye difference /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74D0D0-EB24-4086-B320-03D2D299B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ΔPSNR = FOV − full, using original overflow PSNR. Standard PSNR can show a different trend.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4EA699-9380-4A47-92D1-775281A9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Fixed 2 ms decode budget + resident reconstruction. Stereo values derived; non-atomic writes remain. No SSIM/LPIPS.</a:t>
            </a:r>
          </a:p>
        </p:txBody>
      </p:sp>
    </p:spTree>
    <p:extLst>
      <p:ext uri="{BB962C8B-B14F-4D97-AF65-F5344CB8AC3E}">
        <p14:creationId xmlns:p14="http://schemas.microsoft.com/office/powerpoint/2010/main" val="11938765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E6F62-EBB3-43F0-8ED6-EB48F289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Numba runs on Xavier: a small-sample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8C08C-CA05-41E5-9EB3-E1BFBCC8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1250B-1562-4CBB-8C75-3A073FA5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C22D5-FAC4-4342-B681-3BE7E85E3D51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2667000"/>
                <a:gridCol w="2819400"/>
                <a:gridCol w="2819400"/>
              </a:tblGrid>
              <a:tr h="5429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Sequence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Full (ms)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2.8%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11.1%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15_300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14.661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8.924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10.304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15_800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14.433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10.282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35_300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14.537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10.323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35_800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14.567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8.959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10.372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3266B-49D1-4C63-BC99-ACB18153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15W. Frame 39 per sequence, 100 repeats. Resident reconstruction means; no decode.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40971-D6F5-443A-AB1C-386A2EC4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Numba 0.58.1 + Python 3.8: real GPU JIT and execution passed.</a:t>
            </a:r>
          </a:p>
          <a:p xmlns:a="http://schemas.openxmlformats.org/drawingml/2006/main">
            <a:r>
              <a:rPr sz="187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Its upsampler differs from optimized CUDA C++; this is not a language-only comparison.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8E2B2-2B20-496F-B676-7BA9B68A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Original generate_right also runs with allocation/transfer and startup drift. See the companion deck for 30W.</a:t>
            </a:r>
          </a:p>
        </p:txBody>
      </p:sp>
    </p:spTree>
    <p:extLst>
      <p:ext uri="{BB962C8B-B14F-4D97-AF65-F5344CB8AC3E}">
        <p14:creationId xmlns:p14="http://schemas.microsoft.com/office/powerpoint/2010/main" val="20207302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93C514-7CBA-4265-B300-6875A267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Next: measure deadline behavior under jitter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4560FE-5FB7-4883-81E9-A2C27E12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A00CF-18B1-4FC9-A101-58948D0A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AFF7F-992D-480B-A104-3845F52F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2E728-EC90-458C-AD3E-D989F5BD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049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Record the actual per-frame budget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D95DB8-BBE9-4165-9113-3C62B6DA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Log arrival, decode completion, and display deadline. Reserve display time and a margin.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99FB1-47FC-4FC7-A9F2-AB8BA75A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A894BE-42A4-49CA-8AE3-E2ED1ECB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03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Implement budget-based ROI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44DF22-CEB3-421A-81CD-0A598E99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Build a percentile-based profile. Define a fallback when no level fits the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61D53-8033-407F-9BB8-644F90E7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CD40C-C76D-4057-8D52-D84F77AA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957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Compare fixed and adaptive policies on the same 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34FAC6-4219-4EE4-A0AD-955CB789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Report deadline-miss rate, tail latency, and quality. Repeat runs to check stability.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1A27A-C832-4BD0-81C5-07988DF9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Measured: fixed-center quality–latency levels. Adaptive scheduling and benefits under jitter still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1201806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2026-10-30T03:53:37.8300000Z</dcterms:created>
  <dcterms:modified xsi:type="dcterms:W3CDTF">2026-10-30T03:53:37.8300000Z</dcterms:modified>
</coreProperties>
</file>