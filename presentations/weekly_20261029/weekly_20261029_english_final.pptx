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c9caee7f94841" /><Relationship Type="http://schemas.openxmlformats.org/officeDocument/2006/relationships/extended-properties" Target="/docProps/app.xml" Id="R2c1ab774113744e3" /><Relationship Type="http://schemas.openxmlformats.org/officeDocument/2006/relationships/officeDocument" Target="/ppt/presentation.xml" Id="Ra69b6e107564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843f01ba941b1"/>
  </p:sldMasterIdLst>
  <p:notesMasterIdLst>
    <p:notesMasterId xmlns:r="http://schemas.openxmlformats.org/officeDocument/2006/relationships" r:id="Rc856f750f0f04893"/>
  </p:notesMasterIdLst>
  <p:sldIdLst>
    <p:sldId xmlns:r="http://schemas.openxmlformats.org/officeDocument/2006/relationships" id="256" r:id="R123cab274e67496c"/>
    <p:sldId xmlns:r="http://schemas.openxmlformats.org/officeDocument/2006/relationships" id="257" r:id="Rfe61f2beb0a14048"/>
    <p:sldId xmlns:r="http://schemas.openxmlformats.org/officeDocument/2006/relationships" id="258" r:id="R6ffc911ed1e9403c"/>
    <p:sldId xmlns:r="http://schemas.openxmlformats.org/officeDocument/2006/relationships" id="259" r:id="Rcc2c9da573d24c9d"/>
    <p:sldId xmlns:r="http://schemas.openxmlformats.org/officeDocument/2006/relationships" id="260" r:id="R92ff495921b6451f"/>
    <p:sldId xmlns:r="http://schemas.openxmlformats.org/officeDocument/2006/relationships" id="261" r:id="Rd736ca64e6794b2b"/>
    <p:sldId xmlns:r="http://schemas.openxmlformats.org/officeDocument/2006/relationships" id="262" r:id="R689367b79af54dab"/>
    <p:sldId xmlns:r="http://schemas.openxmlformats.org/officeDocument/2006/relationships" id="263" r:id="R27441670c4c543b8"/>
    <p:sldId xmlns:r="http://schemas.openxmlformats.org/officeDocument/2006/relationships" id="264" r:id="Rdf3daf8d7eea4e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936eafebf942de" /><Relationship Type="http://schemas.openxmlformats.org/officeDocument/2006/relationships/slideMaster" Target="/ppt/slideMasters/slideMaster1.xml" Id="R09c843f01ba941b1" /><Relationship Type="http://schemas.openxmlformats.org/officeDocument/2006/relationships/notesMaster" Target="/ppt/notesMasters/notesMaster1.xml" Id="Rc856f750f0f04893" /><Relationship Type="http://schemas.openxmlformats.org/officeDocument/2006/relationships/presProps" Target="/ppt/presProps.xml" Id="R573bb18a49314ed7" /><Relationship Type="http://schemas.openxmlformats.org/officeDocument/2006/relationships/tableStyles" Target="/ppt/tableStyles.xml" Id="Rb4e87fe8987e40aa" /><Relationship Type="http://schemas.openxmlformats.org/officeDocument/2006/relationships/slide" Target="/ppt/slides/slide1.xml" Id="R123cab274e67496c" /><Relationship Type="http://schemas.openxmlformats.org/officeDocument/2006/relationships/slide" Target="/ppt/slides/slide2.xml" Id="Rfe61f2beb0a14048" /><Relationship Type="http://schemas.openxmlformats.org/officeDocument/2006/relationships/slide" Target="/ppt/slides/slide3.xml" Id="R6ffc911ed1e9403c" /><Relationship Type="http://schemas.openxmlformats.org/officeDocument/2006/relationships/slide" Target="/ppt/slides/slide4.xml" Id="Rcc2c9da573d24c9d" /><Relationship Type="http://schemas.openxmlformats.org/officeDocument/2006/relationships/slide" Target="/ppt/slides/slide5.xml" Id="R92ff495921b6451f" /><Relationship Type="http://schemas.openxmlformats.org/officeDocument/2006/relationships/slide" Target="/ppt/slides/slide6.xml" Id="Rd736ca64e6794b2b" /><Relationship Type="http://schemas.openxmlformats.org/officeDocument/2006/relationships/slide" Target="/ppt/slides/slide7.xml" Id="R689367b79af54dab" /><Relationship Type="http://schemas.openxmlformats.org/officeDocument/2006/relationships/slide" Target="/ppt/slides/slide8.xml" Id="R27441670c4c543b8" /><Relationship Type="http://schemas.openxmlformats.org/officeDocument/2006/relationships/slide" Target="/ppt/slides/slide9.xml" Id="Rdf3daf8d7eea4e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958fd1d7f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bf0f6bd6e425b" /><Relationship Type="http://schemas.openxmlformats.org/officeDocument/2006/relationships/notesMaster" Target="/ppt/notesMasters/notesMaster1.xml" Id="R227c7120dfa9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18ddce85214dd4" /><Relationship Type="http://schemas.openxmlformats.org/officeDocument/2006/relationships/notesMaster" Target="/ppt/notesMasters/notesMaster1.xml" Id="R1cfbfcd542af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3ba5d272634518" /><Relationship Type="http://schemas.openxmlformats.org/officeDocument/2006/relationships/notesMaster" Target="/ppt/notesMasters/notesMaster1.xml" Id="R3a6da24d8dad46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1e34b25434a12" /><Relationship Type="http://schemas.openxmlformats.org/officeDocument/2006/relationships/notesMaster" Target="/ppt/notesMasters/notesMaster1.xml" Id="R0c91531e5cd545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48d3a6a1cc40ee" /><Relationship Type="http://schemas.openxmlformats.org/officeDocument/2006/relationships/notesMaster" Target="/ppt/notesMasters/notesMaster1.xml" Id="Rc3c09efa9a434c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dc9c5c5a1b41aa" /><Relationship Type="http://schemas.openxmlformats.org/officeDocument/2006/relationships/notesMaster" Target="/ppt/notesMasters/notesMaster1.xml" Id="Raa2cd869be174d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dc7dd213db4b71" /><Relationship Type="http://schemas.openxmlformats.org/officeDocument/2006/relationships/notesMaster" Target="/ppt/notesMasters/notesMaster1.xml" Id="Ra0793a28f10143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4378f19bc9409a" /><Relationship Type="http://schemas.openxmlformats.org/officeDocument/2006/relationships/notesMaster" Target="/ppt/notesMasters/notesMaster1.xml" Id="R1a9ee066ee5447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7abbd63f8f49dc" /><Relationship Type="http://schemas.openxmlformats.org/officeDocument/2006/relationships/notesMaster" Target="/ppt/notesMasters/notesMaster1.xml" Id="Rb8d0a29f5676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Weekly update. This deck distinguishes the proposed deadline scheduler from the implemented fixed-center FOV sweep. No measured network jitter or deadline-miss improvement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Schematic only, not measured data. 90 FPS gives a frame period of 1000/90=11.11 ms. Frame period is not an established end-to-end deadline. The bars illustrate arrival/decode variability relative to a chosen display deadline.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adaptive mechanism, not implemented/validated. After inputs are ready, more remaining reconstruction time allows a larger full-resolution region; less time calls for a smaller region. The half-resolution base still covers the full image. Region sizes in this schematic are illustrative, not quantitative. Current implementation covers a fixed-center FOV sweep and latency profiles.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results/fov_levels_xavier_full_20261027/README.md; overview.csv; summary.csv. Commit 0f1506c. Date 2026-10-27. Raw evidence: evidence.tar.gz. Mechanism: half-resolution base + padded full-resolution ROI + feather overlay. Region percentages are spatial coverage of a 960x540 image: 80x46=0.7098765%, 160x90=2.7777778%, 320x180=11.1111111%, 480x270=25%, 640x360=44.4444444%. The base samples at 50% width and 50% height, giving 25% as many pixels (480x270), while covering the entire image. Region coverage and sampling resolution are different quantities.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results/fov_levels_xavier_full_20261027/README.md; overview.csv; summary.csv. Commit 0f1506c. Date 2026-10-27. Raw evidence: evidence.tar.gz.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results/fov_levels_xavier_full_20261027/README.md; overview.csv; summary.csv. Commit 0f1506c. Date 2026-10-27. Raw evidence: evidence.tar.gz. Arithmetic means of all 5340 timing samples in each level/timing/mode group, computed by compute_means.py into mean_timings.json. No sample trimming. Full baseline measured separately per level. Fast resample enabled. Each value covers all 1068 supported frames. Speedup is mean(full resident)/mean(FOV resident) at the same region level. Region labels are image-area coverage, not sampling resolution.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results/fov_levels_xavier_full_20261027/README.md; overview.csv; summary.csv. Commit 0f1506c. Date 2026-10-27. Raw evidence: evidence.tar.gz. Original uint8-overflow PSNR preserved. Stereo delta is derived only if left eye remains unchanged and per-eye PSNR dB is averaged. Timing is never divided by two.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results/numba_xavier_20261029/mode7_15w/result.json, environment.txt, run.log. Arithmetic means from mean_timings.json of 100 timing samples per method, four workloads, frame39 only. No confidence intervals. Numba0.58.1/Python3.8/CUDA11.4. Original source-function calls include allocations/transfers/debug copies and show warmup drift; not directly comparable to resident timing.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future work; no measured jitter trace or deadline-miss reduction exists in the current experiment. All values on earlier slides are local reconstruction measurements, not end-to-end VR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3481b2f3c42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dcf33e91b4d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a177633d04d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644aface74b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f5b69da9445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7296039ff4c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A63AD5-3777-4FC1-8337-60A53ACA8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3E3716-2EC3-4BD8-A0A7-6957CBBD83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76FEFE-0513-46F3-B756-112FD06A4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0EE840-23F6-42AA-B962-0ED5D25AB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7ACA96-7AAB-4C58-9E2A-CA7B7A97E7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B04557-F37A-4A68-9B85-700F266BB8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02A5BE-8798-44DA-9D8D-5B1F162861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09C1B5-CF67-4B71-B890-0ADBADD75B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412BC9-CD2D-4B57-9A16-7CBDEBF10F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3DF24C-31D7-44AB-954F-446AD85312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057ad515df4cad" /><Relationship Type="http://schemas.openxmlformats.org/officeDocument/2006/relationships/slideLayout" Target="/ppt/slideLayouts/slideLayout1.xml" Id="R14a75297092c4a59" /><Relationship Type="http://schemas.openxmlformats.org/officeDocument/2006/relationships/slideLayout" Target="/ppt/slideLayouts/slideLayout2.xml" Id="R17e1092499094ff7" /><Relationship Type="http://schemas.openxmlformats.org/officeDocument/2006/relationships/slideLayout" Target="/ppt/slideLayouts/slideLayout3.xml" Id="R3b734a060c344908" /><Relationship Type="http://schemas.openxmlformats.org/officeDocument/2006/relationships/slideLayout" Target="/ppt/slideLayouts/slideLayout4.xml" Id="R336a01e1e53c4755" /><Relationship Type="http://schemas.openxmlformats.org/officeDocument/2006/relationships/slideLayout" Target="/ppt/slideLayouts/slideLayout5.xml" Id="R06c8d27b7e9a4545" /><Relationship Type="http://schemas.openxmlformats.org/officeDocument/2006/relationships/slideLayout" Target="/ppt/slideLayouts/slideLayout6.xml" Id="R16905c455c0f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a75297092c4a59"/>
    <p:sldLayoutId xmlns:r="http://schemas.openxmlformats.org/officeDocument/2006/relationships" id="2147483650" r:id="R17e1092499094ff7"/>
    <p:sldLayoutId xmlns:r="http://schemas.openxmlformats.org/officeDocument/2006/relationships" id="2147483651" r:id="R3b734a060c344908"/>
    <p:sldLayoutId xmlns:r="http://schemas.openxmlformats.org/officeDocument/2006/relationships" id="2147483652" r:id="R336a01e1e53c4755"/>
    <p:sldLayoutId xmlns:r="http://schemas.openxmlformats.org/officeDocument/2006/relationships" id="2147483653" r:id="R06c8d27b7e9a4545"/>
    <p:sldLayoutId xmlns:r="http://schemas.openxmlformats.org/officeDocument/2006/relationships" id="2147483654" r:id="R16905c455c0f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c9c7ace7e4d7e" /><Relationship Type="http://schemas.openxmlformats.org/officeDocument/2006/relationships/notesSlide" Target="/ppt/notesSlides/notesSlide1.xml" Id="R6b7d8634950849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321b257d14086" /><Relationship Type="http://schemas.openxmlformats.org/officeDocument/2006/relationships/notesSlide" Target="/ppt/notesSlides/notesSlide2.xml" Id="Rf15ff79ef133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169e201b84be1" /><Relationship Type="http://schemas.openxmlformats.org/officeDocument/2006/relationships/notesSlide" Target="/ppt/notesSlides/notesSlide3.xml" Id="Rb1c63a68892a4b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d0649f409410b" /><Relationship Type="http://schemas.openxmlformats.org/officeDocument/2006/relationships/notesSlide" Target="/ppt/notesSlides/notesSlide4.xml" Id="Rf031cb92c55640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f2d143acd4cfc" /><Relationship Type="http://schemas.openxmlformats.org/officeDocument/2006/relationships/notesSlide" Target="/ppt/notesSlides/notesSlide5.xml" Id="Rdd66e40bc3134d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46824cda94482" /><Relationship Type="http://schemas.openxmlformats.org/officeDocument/2006/relationships/chart" Target="/ppt/slides/charts/chart1.xml" Id="R6fe50d0e34524fae" /><Relationship Type="http://schemas.openxmlformats.org/officeDocument/2006/relationships/notesSlide" Target="/ppt/notesSlides/notesSlide6.xml" Id="R433def7a786b46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6e747399a41ea" /><Relationship Type="http://schemas.openxmlformats.org/officeDocument/2006/relationships/notesSlide" Target="/ppt/notesSlides/notesSlide7.xml" Id="Re9df54dfcc4c41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c45fe8080417c" /><Relationship Type="http://schemas.openxmlformats.org/officeDocument/2006/relationships/notesSlide" Target="/ppt/notesSlides/notesSlide8.xml" Id="Rcc6ccbe4bcce4e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2a35653924dc4" /><Relationship Type="http://schemas.openxmlformats.org/officeDocument/2006/relationships/notesSlide" Target="/ppt/notesSlides/notesSlide9.xml" Id="R45fdc65865634e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FOV resident</c:v>
          </c:tx>
          <c:spPr>
            <a:solidFill xmlns:a="http://schemas.openxmlformats.org/drawingml/2006/main">
              <a:srgbClr val="086B93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0.7%</c:v>
                </c:pt>
                <c:pt idx="1">
                  <c:v>2.8%</c:v>
                </c:pt>
                <c:pt idx="2">
                  <c:v>11.1%</c:v>
                </c:pt>
                <c:pt idx="3">
                  <c:v>25.0%</c:v>
                </c:pt>
                <c:pt idx="4">
                  <c:v>44.4%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4.562</c:v>
                </c:pt>
                <c:pt idx="1">
                  <c:v>4.77</c:v>
                </c:pt>
                <c:pt idx="2">
                  <c:v>5.998</c:v>
                </c:pt>
                <c:pt idx="3">
                  <c:v>7.772</c:v>
                </c:pt>
                <c:pt idx="4">
                  <c:v>10.425</c:v>
                </c:pt>
              </c:numCache>
            </c:numRef>
          </c:val>
        </c:ser>
        <c:ser>
          <c:idx val="1"/>
          <c:order val="1"/>
          <c:tx>
            <c:v>FOV stream</c:v>
          </c:tx>
          <c:spPr>
            <a:solidFill xmlns:a="http://schemas.openxmlformats.org/drawingml/2006/main">
              <a:srgbClr val="D17B28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0.7%</c:v>
                </c:pt>
                <c:pt idx="1">
                  <c:v>2.8%</c:v>
                </c:pt>
                <c:pt idx="2">
                  <c:v>11.1%</c:v>
                </c:pt>
                <c:pt idx="3">
                  <c:v>25.0%</c:v>
                </c:pt>
                <c:pt idx="4">
                  <c:v>44.4%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6.364</c:v>
                </c:pt>
                <c:pt idx="1">
                  <c:v>6.728</c:v>
                </c:pt>
                <c:pt idx="2">
                  <c:v>7.839</c:v>
                </c:pt>
                <c:pt idx="3">
                  <c:v>9.655</c:v>
                </c:pt>
                <c:pt idx="4">
                  <c:v>12.193</c:v>
                </c:pt>
              </c:numCache>
            </c:numRef>
          </c:val>
        </c:ser>
        <c:ser>
          <c:idx val="2"/>
          <c:order val="2"/>
          <c:tx>
            <c:v>Full resident</c:v>
          </c:tx>
          <c:spPr>
            <a:solidFill xmlns:a="http://schemas.openxmlformats.org/drawingml/2006/main">
              <a:srgbClr val="536675"/>
            </a:solidFill>
          </c:spPr>
          <c:invertIfNegative val="0"/>
          <c:cat>
            <c:strRef>
              <c:f>'Chart Data'!$E$2:$E$6</c:f>
              <c:strCache>
                <c:ptCount val="5"/>
                <c:pt idx="0">
                  <c:v>0.7%</c:v>
                </c:pt>
                <c:pt idx="1">
                  <c:v>2.8%</c:v>
                </c:pt>
                <c:pt idx="2">
                  <c:v>11.1%</c:v>
                </c:pt>
                <c:pt idx="3">
                  <c:v>25.0%</c:v>
                </c:pt>
                <c:pt idx="4">
                  <c:v>44.4%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11.187</c:v>
                </c:pt>
                <c:pt idx="1">
                  <c:v>11.022</c:v>
                </c:pt>
                <c:pt idx="2">
                  <c:v>11.144</c:v>
                </c:pt>
                <c:pt idx="3">
                  <c:v>11.042</c:v>
                </c:pt>
                <c:pt idx="4">
                  <c:v>11.087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Mean latency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3C21E-6624-42DF-AEB2-718C3465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46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Deadline-aware</a:t>
            </a:r>
          </a:p>
          <a:p xmlns:a="http://schemas.openxmlformats.org/drawingml/2006/main">
            <a:r>
              <a:rPr sz="46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Foveated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29BAD-BEA0-4E61-8C5F-AD18BFF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325" b="0">
                <a:solidFill>
                  <a:srgbClr val="086B93"/>
                </a:solidFill>
                <a:latin typeface="Arial"/>
                <a:ea typeface="Arial"/>
                <a:cs typeface="Arial"/>
              </a:rPr>
              <a:t>Research weekly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A931A-CA88-4832-AA76-4C28C063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Network jitter, reconstruction design, and Xavier measurements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680A6-40DF-46D1-A20E-732F3A60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2026-10-29</a:t>
            </a:r>
          </a:p>
        </p:txBody>
      </p:sp>
    </p:spTree>
    <p:extLst>
      <p:ext uri="{BB962C8B-B14F-4D97-AF65-F5344CB8AC3E}">
        <p14:creationId xmlns:p14="http://schemas.microsoft.com/office/powerpoint/2010/main" val="2146358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342A68-7BEA-4C73-B1FC-90195014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Jitter reduces the reconstruction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C2060-EF3F-428E-BE8F-29ABCC80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C1250-86A7-42FD-A74C-318B1A6D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ADCC3-40B7-4C42-8468-07442D4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Later input readiness leaves less time before the display deadline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77F94-29ED-400B-A453-11CC813D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Early arrival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C3095-4850-437E-AFC6-E6A4748B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5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0645E-4270-438E-93E4-E751DA76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550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90E43-5B34-4E07-B60B-279E7956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D9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39C88-B470-4ED6-A748-2D8F318F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52700"/>
            <a:ext cx="607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A1317-F091-430B-917A-EE574FF9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8B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5462C-2ED9-4DE6-AC5D-93E24F1F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Typical arrival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00C90-1CB1-4AE2-A610-6AC1DA6D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5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C72FD-F894-4C3A-B7A7-B75C28D0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DF968-FD55-4FDB-860E-2F2DF91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D9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69646-205F-42B9-B516-37C9328C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426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310D2-FCA6-4C9D-8921-0F925F45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6B9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8D3BC-513B-47F7-85A6-1C13AC7B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Late arrival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F1033-B061-4284-BCE4-63F2F796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815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5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7D32E-E5BB-4108-85FB-05D87F53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68B25-A12D-4352-A6F1-80A3991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D9"/>
          </a:solidFill>
          <a:ln xmlns:a="http://schemas.openxmlformats.org/drawingml/2006/main" w="14288">
            <a:solidFill>
              <a:srgbClr val="D17B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5C5EA-BEAC-41CF-B2AE-F0B4C25C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5770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D17B28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1CF7F-D6BC-4FB3-8615-147F5469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17B2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4E83C-893A-445E-B8D8-2A9D6FE3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171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17B2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206A2-0750-4E0F-BAC1-0D1213BF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95475"/>
            <a:ext cx="1952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D17B28"/>
                </a:solidFill>
                <a:latin typeface="Arial"/>
                <a:ea typeface="Arial"/>
                <a:cs typeface="Arial"/>
              </a:rPr>
              <a:t>Deadline 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119EE-F3DC-4E1F-A900-EE9700DA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339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D17B28"/>
                </a:solidFill>
                <a:latin typeface="Arial"/>
                <a:ea typeface="Arial"/>
                <a:cs typeface="Arial"/>
              </a:rPr>
              <a:t>Display reserve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34E2D-E57D-451C-92C4-E2F5C0B2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00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Transfer + decode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AAC4B-E05D-4095-9239-04E8459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006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B = D − t_ready − T_display − margin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3D29C-B7B0-40AA-BBCA-3C41F91A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Schematic, not a measured jitter trace. A 90 FPS frame period is 11.11 ms, not a validated end-to-end deadline.</a:t>
            </a:r>
          </a:p>
        </p:txBody>
      </p:sp>
    </p:spTree>
    <p:extLst>
      <p:ext uri="{BB962C8B-B14F-4D97-AF65-F5344CB8AC3E}">
        <p14:creationId xmlns:p14="http://schemas.microsoft.com/office/powerpoint/2010/main" val="652198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A02D4-34CA-46C8-A78A-8714A0C1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Adapt the full-resolution region to available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0FC7C-ACFA-4C5C-A296-A52C2403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98372-ACD3-468C-9EDD-9A8BAD37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87F60-C43A-467F-B748-ACC026F6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92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More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9613-A731-4B8D-9B50-ADB54B5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1333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6B93"/>
          </a:solidFill>
          <a:ln xmlns:a="http://schemas.openxmlformats.org/drawingml/2006/main" w="0">
            <a:solidFill>
              <a:srgbClr val="086B9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D5C41-6B5B-49AB-B907-3D9A0CE7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CF46F-630C-475B-BC6C-2F1EE72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6F205-F6B7-462E-9E8C-49C77D73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Larger full-resolution 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AD5F4-5434-4B9A-9AFC-6B654BDC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925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Less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4B8E9-9C49-4CD2-A02F-BA4E0DF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91025"/>
            <a:ext cx="1333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B83"/>
          </a:solidFill>
          <a:ln xmlns:a="http://schemas.openxmlformats.org/drawingml/2006/main" w="0">
            <a:solidFill>
              <a:srgbClr val="148B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4C94-09FA-4032-9EEF-220A698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0A1AA-BA52-4672-9797-E663104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1BF6B-83E0-4BFF-A9A8-0A4E2867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7687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Smaller full-resolution 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4A4A3-42E4-4062-8234-5D55D14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Proposed adaptation. Fixed-center levels are measured; scheduling and deadline-miss reduction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888056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3977B-D709-4BB7-B690-C6AA2804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Half-resolution base with a full-resolution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1E7DD-429E-4595-A175-1D92A7D4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04B26-C801-4B49-B780-B412D8B1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3B088-F150-44D7-9FFA-297703C8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Shared image, disparity, and optical-flow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CBAB2-F4FE-4BE3-8F11-781FF626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42BCE-956C-4B58-9DFE-6CDAF15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Base sampling</a:t>
            </a:r>
          </a:p>
          <a:p xmlns:a="http://schemas.openxmlformats.org/drawingml/2006/main">
            <a:r>
              <a:rPr sz="19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50% W × 50% H</a:t>
            </a:r>
          </a:p>
          <a:p xmlns:a="http://schemas.openxmlformats.org/drawingml/2006/main">
            <a:r>
              <a:rPr sz="19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(25% of pixels)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B6DC3-5BDC-499E-91F8-EC19C26E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Base covers the whole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93F99-69B0-4F7C-AA4F-569378E5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F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7AD6D-A84E-40EF-8AD0-C497546B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104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BEA43-FA69-4DB1-B667-C01F717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051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ROI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57F85-3489-4E8F-8304-2C2159F5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241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B3402-331A-4020-AE34-8819C95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576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Full resolution within the ROI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CEFC9-21B8-4208-A9AF-20CF7AF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67050"/>
            <a:ext cx="571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8B83"/>
          </a:solidFill>
          <a:ln xmlns:a="http://schemas.openxmlformats.org/drawingml/2006/main" w="0">
            <a:solidFill>
              <a:srgbClr val="148B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E98C2-B5F4-4E91-B177-E726B3EE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14288">
            <a:solidFill>
              <a:srgbClr val="086B9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39C24-2DE8-4502-AD50-48DD9BAF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95600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8B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7CC5E-6893-4592-9B7C-38CD4C3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Upsample + blend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1CCFC-48D6-465B-A7B2-4736DF38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5775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960 × 540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1ECC3-C297-47C9-81FA-99412AE9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Full-resolution region: 0.7%, 2.8%, 11.1%, 25.0%, 44.4% of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E9F28-9CFD-4106-A208-54E6F7FA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Region % means image-area coverage; base sampling is separate. Fixed center, 3 px halo; no eye tracking.</a:t>
            </a:r>
          </a:p>
        </p:txBody>
      </p:sp>
    </p:spTree>
    <p:extLst>
      <p:ext uri="{BB962C8B-B14F-4D97-AF65-F5344CB8AC3E}">
        <p14:creationId xmlns:p14="http://schemas.microsoft.com/office/powerpoint/2010/main" val="277694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369A1-ECEE-4D3E-81EE-9E2C4DBF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Coverage and measurement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ED659-73F1-4E5B-9F05-0CAFE76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2563F-29A2-46F5-A7FD-3A4F973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A96FF-5A92-40CB-BD71-AF3CECD93A1E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6286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333500"/>
                <a:gridCol w="266700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Forward sequence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Frames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Right-eye frame IDs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15 mm / 300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Odd frames 7–299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15 mm / 800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387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Odd frames 7–779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35 mm / 300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Odd frames 7–299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35 mm / 800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387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Odd frames 7–779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78BFE-937B-483B-87BA-574634A7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383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1068 frames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C8BF2-569A-4393-A4CA-BBE9F904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3810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Xavier 15W Desktop</a:t>
            </a:r>
          </a:p>
          <a:p xmlns:a="http://schemas.openxmlformats.org/drawingml/2006/main">
            <a:r>
              <a:rPr sz="19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CUDA 11.4, unlocked clocks</a:t>
            </a:r>
          </a:p>
          <a:p xmlns:a="http://schemas.openxmlformats.org/drawingml/2006/main">
            <a:r>
              <a:rPr sz="19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3 warmups + 5 timed runs/frame</a:t>
            </a:r>
          </a:p>
          <a:p xmlns:a="http://schemas.openxmlformats.org/drawingml/2006/main">
            <a:r>
              <a:rPr sz="1950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One quality output/config/frame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FA3FD-1334-4A04-BB97-B37E0DF4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Resident: GPU-resident inputs, reconstruction, upsampling, and blending</a:t>
            </a:r>
          </a:p>
          <a:p xmlns:a="http://schemas.openxmlformats.org/drawingml/2006/main">
            <a:r>
              <a:rPr sz="2025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Stream: also includes input upload and output download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0017C-5FE8-4DE1-915A-24D2238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Excludes backward scenes, even frames, and unsupported tail frames. Timing excludes I/O, allocation, network, decoding, and display.</a:t>
            </a:r>
          </a:p>
        </p:txBody>
      </p:sp>
    </p:spTree>
    <p:extLst>
      <p:ext uri="{BB962C8B-B14F-4D97-AF65-F5344CB8AC3E}">
        <p14:creationId xmlns:p14="http://schemas.microsoft.com/office/powerpoint/2010/main" val="131127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B4BFB-34C4-4B90-8181-C53A36F6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Smaller regions reduce mean reconstruction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72761-80DE-40EC-A22D-ABA5ED33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0BEBD-FF4F-48E6-8B3F-9B6A3DA5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33B910-C7B2-4659-9753-207749475AEB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715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e50d0e34524fa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F4255-94A1-4AFC-AA83-3CEE682E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2.8% region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3FF1E-0086-4129-B500-3C2A1CF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4.770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98CA0-2DE1-4979-9864-3F9F4F5D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051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resident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5F184-05A2-4D7B-ABE0-18E177EF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48B83"/>
                </a:solidFill>
                <a:latin typeface="Arial"/>
                <a:ea typeface="Arial"/>
                <a:cs typeface="Arial"/>
              </a:rPr>
              <a:t>2.31×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B1E9E-B94F-4E86-8203-7D61A743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versus measured full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916F6-F2B9-42F8-8E6D-4859535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Fast resampling enabled. Cross-implementation gains also include upsampling changes, not only FOV. No claim of an optimal full baseline.</a:t>
            </a:r>
          </a:p>
        </p:txBody>
      </p:sp>
    </p:spTree>
    <p:extLst>
      <p:ext uri="{BB962C8B-B14F-4D97-AF65-F5344CB8AC3E}">
        <p14:creationId xmlns:p14="http://schemas.microsoft.com/office/powerpoint/2010/main" val="724990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DEB03-94C3-4F85-A8BD-F22D459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Quality–latency trade-off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EB489-62CA-4624-9ED2-338E2E06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368B3-E133-41D2-A1AA-128ADCB2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90900-5DE1-41F3-B3D3-3E359679A66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619375"/>
                <a:gridCol w="2724150"/>
                <a:gridCol w="3105150"/>
              </a:tblGrid>
              <a:tr h="5349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Region (% of image)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latency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Right-eye ΔPSNR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Stereo mean ΔPSNR*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0.7%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4.562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-0.1727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-0.0864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2.8%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4.770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-0.1668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-0.0834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11.1%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5.998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-0.1462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-0.0731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25.0%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7.772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-0.1200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-0.0600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44.4%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10.425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-0.0861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-0.0430 dB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05E40-E6A0-429B-B055-7F5AFE18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* Unchanged left eye, mean per-eye PSNR in dB: stereo difference = right-eye difference /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3F9B4-C175-4DB3-91DB-DA77957E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ΔPSNR = FOV − full, using original overflow PSNR. Standard PSNR can show a different trend.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16766-BD64-4B78-AA06-850E8AE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Stereo values are derived; latency is not halved. Non-atomic writes remain. SSIM/LPIPS are not measured.</a:t>
            </a:r>
          </a:p>
        </p:txBody>
      </p:sp>
    </p:spTree>
    <p:extLst>
      <p:ext uri="{BB962C8B-B14F-4D97-AF65-F5344CB8AC3E}">
        <p14:creationId xmlns:p14="http://schemas.microsoft.com/office/powerpoint/2010/main" val="1884823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CFD4F-196D-4187-B4E1-37CE9FB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Numba runs on Xavier: a small-sample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C12A9-5F94-4132-8AE3-2A64471F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C0584-468D-4BEB-A1CD-FA673399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6A5E1-5966-422B-826E-618720D26433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819400"/>
                <a:gridCol w="2819400"/>
              </a:tblGrid>
              <a:tr h="5429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Sequence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Full (ms)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Region 2.8%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Region 11.1%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T w="9525">
                      <a:solidFill>
                        <a:srgbClr val="D7DFE5"/>
                      </a:solidFill>
                      <a:prstDash val="solid"/>
                    </a:lnT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152D4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15_300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14.661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8.924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10.304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15_800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14.433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8.910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10.282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35_300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14.537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8.911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10.323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35_800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E5"/>
                      </a:solidFill>
                      <a:prstDash val="solid"/>
                    </a:lnL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14.567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8.959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D43"/>
                          </a:solidFill>
                          <a:latin typeface="Arial"/>
                          <a:ea typeface="Arial"/>
                          <a:cs typeface="Arial"/>
                        </a:rPr>
                        <a:t>10.372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E5"/>
                      </a:solidFill>
                      <a:prstDash val="solid"/>
                    </a:lnR>
                    <a:lnB w="9525">
                      <a:solidFill>
                        <a:srgbClr val="D7DFE5"/>
                      </a:solidFill>
                      <a:prstDash val="solid"/>
                    </a:lnB>
                    <a:solidFill>
                      <a:srgbClr val="EA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18091-5726-434A-9740-62A41D7B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15W. Frame 39 per sequence, 100 repeats. Preallocated resident-path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02475-2710-4259-AA04-8A5C74A2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Numba 0.58.1 + Python 3.8: real GPU JIT and execution passed.</a:t>
            </a:r>
          </a:p>
          <a:p xmlns:a="http://schemas.openxmlformats.org/drawingml/2006/main">
            <a:r>
              <a:rPr sz="1875" b="0">
                <a:solidFill>
                  <a:srgbClr val="152D43"/>
                </a:solidFill>
                <a:latin typeface="Arial"/>
                <a:ea typeface="Arial"/>
                <a:cs typeface="Arial"/>
              </a:rPr>
              <a:t>Its upsampler differs from optimized CUDA C++; this is not a language-only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C63B8-D0AA-4A9B-B137-A61348C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Original generate_right also runs with allocation/transfer and startup drift. See the companion deck for 30W.</a:t>
            </a:r>
          </a:p>
        </p:txBody>
      </p:sp>
    </p:spTree>
    <p:extLst>
      <p:ext uri="{BB962C8B-B14F-4D97-AF65-F5344CB8AC3E}">
        <p14:creationId xmlns:p14="http://schemas.microsoft.com/office/powerpoint/2010/main" val="360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68A00-B345-43AA-A2D5-A51C63E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Next: measure deadline behavior under jitter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725BE-6B20-4D8F-AE6F-E788F362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01C89-F0AC-48B0-9A2B-D868556E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0F6C8-EDC2-44EE-B052-128992A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73E9B-4789-4A5E-8E25-7A04C27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049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Record the actual per-frame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12434-C80A-4BED-AE3B-EABEBC9F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47900"/>
            <a:ext cx="995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Log arrival, decode completion, and display deadline. Reserve display time and a margin.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49649-CF60-4732-A9D2-3B9454CA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EB2CB-D45B-49B2-907E-47D03D3A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Implement budget-based ROI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17360-475E-4994-B6AF-C744956E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995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Build a percentile-based profile. Define a fallback when no level fits the budget.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0689C-66D6-4568-B695-B0EE61A7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86B9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3CB6E-847C-485F-A785-912CC74E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52D43"/>
                </a:solidFill>
                <a:latin typeface="Arial"/>
                <a:ea typeface="Arial"/>
                <a:cs typeface="Arial"/>
              </a:rPr>
              <a:t>Compare fixed and adaptive policies on the same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48619-09B9-4A6C-B7FB-675940E1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995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Report deadline-miss rate, tail latency, and quality. Repeat runs to check stability.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48F9E-45D3-4C03-8D80-0EBC3FD9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Measured: fixed-center quality–latency levels. Adaptive scheduling and benefits under jitter still require validation.</a:t>
            </a:r>
          </a:p>
        </p:txBody>
      </p:sp>
    </p:spTree>
    <p:extLst>
      <p:ext uri="{BB962C8B-B14F-4D97-AF65-F5344CB8AC3E}">
        <p14:creationId xmlns:p14="http://schemas.microsoft.com/office/powerpoint/2010/main" val="957824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2026-10-30T02:56:37.3870000Z</dcterms:created>
  <dcterms:modified xsi:type="dcterms:W3CDTF">2026-10-30T02:56:37.3880000Z</dcterms:modified>
</coreProperties>
</file>