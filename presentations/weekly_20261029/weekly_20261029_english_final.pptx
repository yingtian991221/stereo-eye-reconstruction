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48b2e85a0a046dd" /><Relationship Type="http://schemas.openxmlformats.org/officeDocument/2006/relationships/extended-properties" Target="/docProps/app.xml" Id="Ra6ddb16099f848b3" /><Relationship Type="http://schemas.openxmlformats.org/officeDocument/2006/relationships/officeDocument" Target="/ppt/presentation.xml" Id="R2c90c2d18d9e406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690a31be8c84dd3"/>
  </p:sldMasterIdLst>
  <p:notesMasterIdLst>
    <p:notesMasterId xmlns:r="http://schemas.openxmlformats.org/officeDocument/2006/relationships" r:id="R0efe101220a64ac0"/>
  </p:notesMasterIdLst>
  <p:sldIdLst>
    <p:sldId xmlns:r="http://schemas.openxmlformats.org/officeDocument/2006/relationships" id="256" r:id="Rb55fbf17bc4b4755"/>
    <p:sldId xmlns:r="http://schemas.openxmlformats.org/officeDocument/2006/relationships" id="257" r:id="Rdda749aa707d4ae3"/>
    <p:sldId xmlns:r="http://schemas.openxmlformats.org/officeDocument/2006/relationships" id="258" r:id="R1beee0aa97bf4345"/>
    <p:sldId xmlns:r="http://schemas.openxmlformats.org/officeDocument/2006/relationships" id="259" r:id="Rc05d8a1316674e31"/>
    <p:sldId xmlns:r="http://schemas.openxmlformats.org/officeDocument/2006/relationships" id="260" r:id="R432243fde55d4be6"/>
    <p:sldId xmlns:r="http://schemas.openxmlformats.org/officeDocument/2006/relationships" id="261" r:id="Rae603fbc004e49f0"/>
    <p:sldId xmlns:r="http://schemas.openxmlformats.org/officeDocument/2006/relationships" id="262" r:id="R4f5df459e4a74de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49ad51d5b4b4778" /><Relationship Type="http://schemas.openxmlformats.org/officeDocument/2006/relationships/slideMaster" Target="/ppt/slideMasters/slideMaster1.xml" Id="Rf690a31be8c84dd3" /><Relationship Type="http://schemas.openxmlformats.org/officeDocument/2006/relationships/notesMaster" Target="/ppt/notesMasters/notesMaster1.xml" Id="R0efe101220a64ac0" /><Relationship Type="http://schemas.openxmlformats.org/officeDocument/2006/relationships/presProps" Target="/ppt/presProps.xml" Id="R684d1449cd9643c4" /><Relationship Type="http://schemas.openxmlformats.org/officeDocument/2006/relationships/tableStyles" Target="/ppt/tableStyles.xml" Id="R3e1c986ff79c4954" /><Relationship Type="http://schemas.openxmlformats.org/officeDocument/2006/relationships/slide" Target="/ppt/slides/slide1.xml" Id="Rb55fbf17bc4b4755" /><Relationship Type="http://schemas.openxmlformats.org/officeDocument/2006/relationships/slide" Target="/ppt/slides/slide2.xml" Id="Rdda749aa707d4ae3" /><Relationship Type="http://schemas.openxmlformats.org/officeDocument/2006/relationships/slide" Target="/ppt/slides/slide3.xml" Id="R1beee0aa97bf4345" /><Relationship Type="http://schemas.openxmlformats.org/officeDocument/2006/relationships/slide" Target="/ppt/slides/slide4.xml" Id="Rc05d8a1316674e31" /><Relationship Type="http://schemas.openxmlformats.org/officeDocument/2006/relationships/slide" Target="/ppt/slides/slide5.xml" Id="R432243fde55d4be6" /><Relationship Type="http://schemas.openxmlformats.org/officeDocument/2006/relationships/slide" Target="/ppt/slides/slide6.xml" Id="Rae603fbc004e49f0" /><Relationship Type="http://schemas.openxmlformats.org/officeDocument/2006/relationships/slide" Target="/ppt/slides/slide7.xml" Id="R4f5df459e4a74de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5fcfed1e8b6418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ee97ee63971437b" /><Relationship Type="http://schemas.openxmlformats.org/officeDocument/2006/relationships/notesMaster" Target="/ppt/notesMasters/notesMaster1.xml" Id="R4d211a851921416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ba1a16fa1154d65" /><Relationship Type="http://schemas.openxmlformats.org/officeDocument/2006/relationships/notesMaster" Target="/ppt/notesMasters/notesMaster1.xml" Id="R9f2cb65347134fe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7935c0f182041cd" /><Relationship Type="http://schemas.openxmlformats.org/officeDocument/2006/relationships/notesMaster" Target="/ppt/notesMasters/notesMaster1.xml" Id="R380227cd78fe425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3f597b8592445d3" /><Relationship Type="http://schemas.openxmlformats.org/officeDocument/2006/relationships/notesMaster" Target="/ppt/notesMasters/notesMaster1.xml" Id="Ra4c1b73b547d4d7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f0d23193874942" /><Relationship Type="http://schemas.openxmlformats.org/officeDocument/2006/relationships/notesMaster" Target="/ppt/notesMasters/notesMaster1.xml" Id="R94044ce0793a4ab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785fe3ba66b49d0" /><Relationship Type="http://schemas.openxmlformats.org/officeDocument/2006/relationships/notesMaster" Target="/ppt/notesMasters/notesMaster1.xml" Id="Ree596726d8b7477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22844083fae4a9b" /><Relationship Type="http://schemas.openxmlformats.org/officeDocument/2006/relationships/notesMaster" Target="/ppt/notesMasters/notesMaster1.xml" Id="R2b2bda8ba0a9479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Weekly update. This deck distinguishes the proposed deadline scheduler from the implemented fixed-center FOV sweep. No measured network jitter or deadline-miss improvement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Schematic only, not measured data. 90 FPS gives a frame period of 1000/90=11.11 ms. Frame period is not an established end-to-end deadline. The bars illustrate arrival/decode variability relative to a chosen display deadline.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adaptive mechanism, not implemented/validated. After inputs are ready, more remaining reconstruction time allows a larger full-resolution region; less time calls for a smaller region. The half-resolution base still covers the full image. Region sizes in this schematic are illustrative, not quantitative. Current implementation covers a fixed-center FOV sweep and latency profiles.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results/fov_only_clear_partial_20261030/presentation_results.json. Partial saved results at Xavier 30W: timing uses 500 common frames with 5 repetitions (2500 samples/level); quality uses 672 common frames. Timing and quality have different coverage. Mechanism: half-resolution base + padded full-resolution ROI + feather overlay. The full output is 960x540 (1.0x). Region scale is ROI width divided by full-image width: 96x54 =&gt; 0.1x, 240x135 =&gt; 0.25x, 480x270 =&gt; 0.5x, 672x378 =&gt; 0.7x. Width and height both follow these scales. ROI extent scale is not sampling resolution: pixels within the ROI remain full-resolution. The base samples at 0.5x width and 0.5x height (480x270) while covering the entire image.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results/fov_only_clear_partial_20261030/presentation_results.json. Partial saved results at Xavier 30W: timing uses 500 common frames with 5 repetitions (2500 samples/level); quality uses 672 common frames. Timing and quality have different coverage. Arithmetic means of all 2500 recorded resident whole-pipeline GPU timings per configuration, not wall time. Full uses the paired baseline from the 0.25x configuration. Fixed decode budget is 2 ms once per frame, not measured joint RGB/depth/flow decoding or measured end-to-end timing. No input/output copies, network or display.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results/fov_only_clear_partial_20261030/presentation_results.json. Partial saved results at Xavier 30W: timing uses 500 common frames with 5 repetitions (2500 samples/level); quality uses 672 common frames. Timing and quality have different coverage. Original uint8-overflow PSNR preserved. Stereo delta is derived only if left eye remains unchanged and per-eye PSNR dB is averaged. Timing uses 500 common frames; quality uses 672 common frames. These are partial saved results, not a complete dataset run. Timing is never divided by two. Latency adds a fixed 2 ms per-frame decode budget once, not measured decoding or end-to-end latency. Source: results/fov_only_clear_partial_20261030/presentation_results.json.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future work; no measured jitter trace or deadline-miss reduction exists in the current experiment. Slides 5–6 add a fixed 2 ms decode budget to local reconstruction means. Other timing values are local reconstruction measurements. None are measured end-to-end VR results.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b0adb34ece47b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37cf78322f482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d6a0e93b20484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a7d88c355d499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c8ff1a652e409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8a56d6c99b41c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BED6099-54D8-4A41-B6D9-0C0DAB523D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4D6C2DF-49FA-424B-B556-85EC672EAD1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402D87B-56C8-4565-933B-558ECA55D9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1BB576B-61FA-4986-ACA1-CB7285BB1D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42305A6-4251-4CA5-9C32-D82C31F2031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5B95822-C253-40C2-BB5C-968A69644A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E4E8BDA-09B6-4366-84EC-837692FE27D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CB2563A-63E5-4A5A-A2C0-F138C175753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9646206-AAE7-4D3B-AD6E-B1303BDA7E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B2EB64C-4E8E-4732-ADDB-B7FCAF3939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5443a01cb3946d4" /><Relationship Type="http://schemas.openxmlformats.org/officeDocument/2006/relationships/slideLayout" Target="/ppt/slideLayouts/slideLayout1.xml" Id="Rab63bf626c5f4ea7" /><Relationship Type="http://schemas.openxmlformats.org/officeDocument/2006/relationships/slideLayout" Target="/ppt/slideLayouts/slideLayout2.xml" Id="Rd0b2073e0358466b" /><Relationship Type="http://schemas.openxmlformats.org/officeDocument/2006/relationships/slideLayout" Target="/ppt/slideLayouts/slideLayout3.xml" Id="R4a79d6a073c24217" /><Relationship Type="http://schemas.openxmlformats.org/officeDocument/2006/relationships/slideLayout" Target="/ppt/slideLayouts/slideLayout4.xml" Id="R3307555d1e174865" /><Relationship Type="http://schemas.openxmlformats.org/officeDocument/2006/relationships/slideLayout" Target="/ppt/slideLayouts/slideLayout5.xml" Id="R9931caf5b37541fd" /><Relationship Type="http://schemas.openxmlformats.org/officeDocument/2006/relationships/slideLayout" Target="/ppt/slideLayouts/slideLayout6.xml" Id="R5918525f58964a9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b63bf626c5f4ea7"/>
    <p:sldLayoutId xmlns:r="http://schemas.openxmlformats.org/officeDocument/2006/relationships" id="2147483650" r:id="Rd0b2073e0358466b"/>
    <p:sldLayoutId xmlns:r="http://schemas.openxmlformats.org/officeDocument/2006/relationships" id="2147483651" r:id="R4a79d6a073c24217"/>
    <p:sldLayoutId xmlns:r="http://schemas.openxmlformats.org/officeDocument/2006/relationships" id="2147483652" r:id="R3307555d1e174865"/>
    <p:sldLayoutId xmlns:r="http://schemas.openxmlformats.org/officeDocument/2006/relationships" id="2147483653" r:id="R9931caf5b37541fd"/>
    <p:sldLayoutId xmlns:r="http://schemas.openxmlformats.org/officeDocument/2006/relationships" id="2147483654" r:id="R5918525f58964a9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8a6d0d8bfb4013" /><Relationship Type="http://schemas.openxmlformats.org/officeDocument/2006/relationships/notesSlide" Target="/ppt/notesSlides/notesSlide1.xml" Id="R7fff675930ae491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aeddaec3f74d71" /><Relationship Type="http://schemas.openxmlformats.org/officeDocument/2006/relationships/notesSlide" Target="/ppt/notesSlides/notesSlide2.xml" Id="R65bfb3a9044f415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dd271a384f4e0e" /><Relationship Type="http://schemas.openxmlformats.org/officeDocument/2006/relationships/notesSlide" Target="/ppt/notesSlides/notesSlide3.xml" Id="R7d2724b3baf2494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b8c3fcfece48ce" /><Relationship Type="http://schemas.openxmlformats.org/officeDocument/2006/relationships/notesSlide" Target="/ppt/notesSlides/notesSlide4.xml" Id="R03f21945639c4b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74d95f53a64a77" /><Relationship Type="http://schemas.openxmlformats.org/officeDocument/2006/relationships/chart" Target="/ppt/slides/charts/chart1.xml" Id="Rdb300c96411e4f99" /><Relationship Type="http://schemas.openxmlformats.org/officeDocument/2006/relationships/notesSlide" Target="/ppt/notesSlides/notesSlide5.xml" Id="Rd140683386334cc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f1b7b8d6ec4e1f" /><Relationship Type="http://schemas.openxmlformats.org/officeDocument/2006/relationships/notesSlide" Target="/ppt/notesSlides/notesSlide6.xml" Id="R3735d68000b84d7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2ae93a1f1a4b25" /><Relationship Type="http://schemas.openxmlformats.org/officeDocument/2006/relationships/notesSlide" Target="/ppt/notesSlides/notesSlide7.xml" Id="R145abb7b6b4644e6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stacked"/>
        <c:varyColors val="0"/>
        <c:ser>
          <c:idx val="0"/>
          <c:order val="0"/>
          <c:tx>
            <c:v>Measured reconstruction</c:v>
          </c:tx>
          <c:spPr>
            <a:solidFill xmlns:a="http://schemas.openxmlformats.org/drawingml/2006/main">
              <a:srgbClr val="086B93"/>
            </a:solidFill>
          </c:spPr>
          <c:invertIfNegative val="0"/>
          <c:cat>
            <c:strRef>
              <c:f>'Chart Data'!$A$2:$A$6</c:f>
              <c:strCache>
                <c:ptCount val="5"/>
                <c:pt idx="0">
                  <c:v>Full baseline</c:v>
                </c:pt>
                <c:pt idx="1">
                  <c:v>0.1×</c:v>
                </c:pt>
                <c:pt idx="2">
                  <c:v>0.25×</c:v>
                </c:pt>
                <c:pt idx="3">
                  <c:v>0.5×</c:v>
                </c:pt>
                <c:pt idx="4">
                  <c:v>0.7×</c:v>
                </c:pt>
              </c:strCache>
            </c:str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8.658</c:v>
                </c:pt>
                <c:pt idx="1">
                  <c:v>2.46</c:v>
                </c:pt>
                <c:pt idx="2">
                  <c:v>2.89</c:v>
                </c:pt>
                <c:pt idx="3">
                  <c:v>4.461</c:v>
                </c:pt>
                <c:pt idx="4">
                  <c:v>5.429</c:v>
                </c:pt>
              </c:numCache>
            </c:numRef>
          </c:val>
        </c:ser>
        <c:ser>
          <c:idx val="1"/>
          <c:order val="1"/>
          <c:tx>
            <c:v>Fixed decode budget (2 ms)</c:v>
          </c:tx>
          <c:spPr>
            <a:solidFill xmlns:a="http://schemas.openxmlformats.org/drawingml/2006/main">
              <a:srgbClr val="D17B28"/>
            </a:solidFill>
          </c:spPr>
          <c:invertIfNegative val="0"/>
          <c:cat>
            <c:strRef>
              <c:f>'Chart Data'!$C$2:$C$6</c:f>
              <c:strCache>
                <c:ptCount val="5"/>
                <c:pt idx="0">
                  <c:v>Full baseline</c:v>
                </c:pt>
                <c:pt idx="1">
                  <c:v>0.1×</c:v>
                </c:pt>
                <c:pt idx="2">
                  <c:v>0.25×</c:v>
                </c:pt>
                <c:pt idx="3">
                  <c:v>0.5×</c:v>
                </c:pt>
                <c:pt idx="4">
                  <c:v>0.7×</c:v>
                </c:pt>
              </c:strCache>
            </c:strRef>
          </c:cat>
          <c:val>
            <c:numRef>
              <c:f>'Chart Data'!$D$2:$D$6</c:f>
              <c:numCache>
                <c:formatCode>General</c:formatCode>
                <c:ptCount val="5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7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FE5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latin typeface="Arial"/>
                    <a:ea typeface="Arial"/>
                    <a:cs typeface="Arial"/>
                  </a:rPr>
                  <a:t>Decode + GPU reconstruction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5C383B-8883-4CC4-9778-52A0356AA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46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Deadline-aware</a:t>
            </a:r>
          </a:p>
          <a:p xmlns:a="http://schemas.openxmlformats.org/drawingml/2006/main">
            <a:r>
              <a:rPr sz="46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Foveated Reconstruction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2D5957-F3BB-467F-80A3-A6C7F909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956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325" b="0">
                <a:solidFill>
                  <a:srgbClr val="086B93"/>
                </a:solidFill>
                <a:latin typeface="Arial"/>
                <a:ea typeface="Arial"/>
                <a:cs typeface="Arial"/>
              </a:rPr>
              <a:t>Research weekly update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5D118A-D065-4E5F-B3E7-BA1F06C8C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672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Network jitter, reconstruction design, and Xavier measurements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29FA77-3595-4954-8CC5-E3D7EC4A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48350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2026-10-29</a:t>
            </a:r>
          </a:p>
        </p:txBody>
      </p:sp>
    </p:spTree>
    <p:extLst>
      <p:ext uri="{BB962C8B-B14F-4D97-AF65-F5344CB8AC3E}">
        <p14:creationId xmlns:p14="http://schemas.microsoft.com/office/powerpoint/2010/main" val="18247759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8C6D03-520B-484D-8291-16F6D497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Jitter reduces the reconstruction budget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09784-615F-43C1-8D8F-D87FDEA8C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52A649-BEE5-4850-A8E3-55514947A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901D4B-8FAB-4E61-852A-354A6767B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Later input readiness leaves less time before the display deadline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556DA3-B797-4D0E-96C6-DEB3812F3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241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Early arrival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8BB3DB-2BB7-4363-B27B-DE210A6A6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65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D22FB7-AEE4-4416-9B82-C0974E94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76500"/>
            <a:ext cx="5505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CF3332-31FF-4FF2-83F2-7C80C4D34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4765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611382-083B-4D6E-ABEA-F93D53AB4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552700"/>
            <a:ext cx="6076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F81205-4AAA-4F24-B720-61C2F3EB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241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8B8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4A66A1-A9AE-49E0-B4F5-E5A3EBB6E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766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Typical arrival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2AF6CF-46EC-4954-AE67-EE626120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29000"/>
            <a:ext cx="390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189D85-ECA7-439A-AF44-E98BE809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29000"/>
            <a:ext cx="36957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CECB34-8F52-4DBA-9444-C951AC664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4290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3F6680-4E68-4E25-BBCD-BBF9CDCDB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505200"/>
            <a:ext cx="4267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2BA399-3648-4824-8533-9499EF6D5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766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86B93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9AA00F-5804-43DF-AE3E-F9B17AE47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291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Late arrival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0FA276-642F-4A6D-B4F0-A214E104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3815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CA7281-D8A2-44AE-BEC3-1944E536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381500"/>
            <a:ext cx="1695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2A71F-A7FB-4225-B424-C4E82662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3815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7E52A8-C4FA-4648-908F-FF179414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57700"/>
            <a:ext cx="2266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D17B28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17ED18-7786-4BE1-9173-2C880DD43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2291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17B2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F405B7-11CB-4F27-AA79-2A55E529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171700"/>
            <a:ext cx="0" cy="2895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17B2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737E20-C832-489E-87F2-07282CA77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895475"/>
            <a:ext cx="1952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D17B28"/>
                </a:solidFill>
                <a:latin typeface="Arial"/>
                <a:ea typeface="Arial"/>
                <a:cs typeface="Arial"/>
              </a:rPr>
              <a:t>Deadline 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313B33-1F2E-4173-958D-772890444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13397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D17B28"/>
                </a:solidFill>
                <a:latin typeface="Arial"/>
                <a:ea typeface="Arial"/>
                <a:cs typeface="Arial"/>
              </a:rPr>
              <a:t>Display reserve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91E890-C5A4-4070-B33C-50BBE9B9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400675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Transfer + decode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6D31EE-4A03-46DF-BCB8-267B97D67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400675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 = D − t_ready − T_display − margin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C81B7B-0BCF-491E-BA6D-39B87B25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Schematic, not a measured jitter trace. A 90 FPS frame period is 11.11 ms, not a validated end-to-end deadline.</a:t>
            </a:r>
          </a:p>
        </p:txBody>
      </p:sp>
    </p:spTree>
    <p:extLst>
      <p:ext uri="{BB962C8B-B14F-4D97-AF65-F5344CB8AC3E}">
        <p14:creationId xmlns:p14="http://schemas.microsoft.com/office/powerpoint/2010/main" val="9113711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442926-FEEE-4CD9-A10E-2E8230054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Adapt the full-resolution region to available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C080DF-8082-4DF3-8FF6-F4A0498DE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64A39F-0D39-41B0-B78C-ED919601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95C2B3-6EB7-4AF3-B020-916AC4D0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More time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7766EF-29A6-4C07-AFD8-4AFBA8F2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05075"/>
            <a:ext cx="1381125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6B93"/>
          </a:solidFill>
          <a:ln xmlns:a="http://schemas.openxmlformats.org/drawingml/2006/main" w="0">
            <a:solidFill>
              <a:srgbClr val="086B93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02A97E-5938-4BF6-B085-415C9F69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14475"/>
            <a:ext cx="3429000" cy="1928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1CF9B3-A297-4BE3-84BC-D9264F17A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803797"/>
            <a:ext cx="2400300" cy="135016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444D25-8F91-4E82-82F0-141580EC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765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Larger full-resolution region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4AB15E-1BB8-49E4-8577-AE85A9B56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Less 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83A3A7-BCF7-473F-A924-91C6F975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676775"/>
            <a:ext cx="1381125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8B83"/>
          </a:solidFill>
          <a:ln xmlns:a="http://schemas.openxmlformats.org/drawingml/2006/main" w="0">
            <a:solidFill>
              <a:srgbClr val="148B8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CFBBA9-DBFE-42AD-AA0A-6AE3925D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57625"/>
            <a:ext cx="3429000" cy="1928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603292-B926-42EB-BE1E-358AD485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532709"/>
            <a:ext cx="1028700" cy="5786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795D38-D46D-488B-B5F7-D8573864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482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Smaller full-resolution region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A0009C-FD2F-45DA-BD36-0B4594D58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Proposed adaptation. Fixed-center levels are measured; scheduling and deadline-miss reduction remain unverified.</a:t>
            </a:r>
          </a:p>
        </p:txBody>
      </p:sp>
    </p:spTree>
    <p:extLst>
      <p:ext uri="{BB962C8B-B14F-4D97-AF65-F5344CB8AC3E}">
        <p14:creationId xmlns:p14="http://schemas.microsoft.com/office/powerpoint/2010/main" val="8095500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9A1191-4D3C-434C-8D25-DB73511B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Half-resolution base with a full-resolution center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48398F-B907-4BC8-970A-D56390EC2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A469ED-3284-4389-9E9A-E071E488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59B0EC-DEA3-4DF7-A473-972E44AA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Shared image, disparity, and optical-flow inputs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947818-DAAC-4E10-87B3-A2C1470A6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6BAD6E-BD84-4E6E-A8B6-E1D8839CC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0"/>
            <a:ext cx="266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9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Base sampling</a:t>
            </a:r>
          </a:p>
          <a:p xmlns:a="http://schemas.openxmlformats.org/drawingml/2006/main">
            <a:r>
              <a:rPr sz="19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0.5× width</a:t>
            </a:r>
          </a:p>
          <a:p xmlns:a="http://schemas.openxmlformats.org/drawingml/2006/main">
            <a:r>
              <a:rPr sz="19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0.5× height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53C864-2805-450F-8074-F65027EDE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57675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Base covers the whole image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89BFB9-0293-4CE6-A55A-B49C9E45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36220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6B22B3-6C9F-4243-B3A4-D7D38FF4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895600"/>
            <a:ext cx="1047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69F922-4E16-46D1-8BA8-49316709B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105150"/>
            <a:ext cx="142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ROI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36E927-8F24-4B00-9227-29880609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924175"/>
            <a:ext cx="428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CFC489-2058-471A-B4E7-0DA986EB9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257675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Full resolution within the ROI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81B444-154D-4DBB-BAA6-E0DEB944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67050"/>
            <a:ext cx="5715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8B83"/>
          </a:solidFill>
          <a:ln xmlns:a="http://schemas.openxmlformats.org/drawingml/2006/main" w="0">
            <a:solidFill>
              <a:srgbClr val="148B8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C3375A-1306-464B-8F5F-25189D593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362200"/>
            <a:ext cx="2857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E096AD-98E3-4BF7-A0B3-135984D44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895600"/>
            <a:ext cx="857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69E07D-8861-45C4-8477-10CDCADBF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005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Upsample + blend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EC7D23-E1AD-4C60-BF02-9D0991797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857750"/>
            <a:ext cx="2714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9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1.0×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314204-048F-4E66-B598-A74FAC496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Full-resolution region width: 0.1×, 0.25×, 0.5×, 0.7×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C2E3C3-FB5E-4FB1-B306-D9E8517D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Region scale = region width / image width. Sampling inside the region stays at full resolution.</a:t>
            </a:r>
          </a:p>
        </p:txBody>
      </p:sp>
    </p:spTree>
    <p:extLst>
      <p:ext uri="{BB962C8B-B14F-4D97-AF65-F5344CB8AC3E}">
        <p14:creationId xmlns:p14="http://schemas.microsoft.com/office/powerpoint/2010/main" val="15287953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A7ABF9-2AD1-47CD-9CAB-C9CE10581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30W CUDA C++: decode budget + reconstruction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9ECFBB-92C2-48E8-9B84-ED0D29630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612117-4188-458D-AB79-7137E10A5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AA574F3A-6FF9-4372-A48F-250DA3FEDCDA}"/>
              </a:ext>
            </a:extLst>
          </p:cNvPr>
          <p:cNvGraphicFramePr/>
          <p:nvPr/>
        </p:nvGraphicFramePr>
        <p:xfrm>
          <a:off xmlns:a="http://schemas.openxmlformats.org/drawingml/2006/main" x="609600" y="1828800"/>
          <a:ext xmlns:a="http://schemas.openxmlformats.org/drawingml/2006/main" cx="7715250" cy="37528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b300c96411e4f99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2AA022-DDDC-411E-ADBB-0EA5AE7F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06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Sampled timing at 30W; mean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B12F02-1E9D-454D-90FC-4122BC982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28825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6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0.25× region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D493FE-5893-4AF8-80B1-EBA8A58D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95575"/>
            <a:ext cx="285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3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4.890 ms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60D510-FB88-4302-80FA-F103418C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3528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decode + reconstruction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4B689A-EC6C-4462-8B9A-6A93C35B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19550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450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2.18×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C14D4A-AFE3-42C0-8B14-B7B09830F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672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versus Full + decode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725BF8-3A7A-4797-B3F0-ECD7D0FAF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Timing: 500 frames. Fixed 2 ms decode budget + measured reconstruction; not measured end-to-end.</a:t>
            </a:r>
          </a:p>
        </p:txBody>
      </p:sp>
    </p:spTree>
    <p:extLst>
      <p:ext uri="{BB962C8B-B14F-4D97-AF65-F5344CB8AC3E}">
        <p14:creationId xmlns:p14="http://schemas.microsoft.com/office/powerpoint/2010/main" val="10113852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CFC477-6F35-4ED5-A7D6-D01B1B2C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Quality and timing across region sizes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4195D6-956B-4022-B8FF-EFAD6B57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DC7ADE-99E4-4099-8DB9-F1AC5E69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6F19FD-188F-4757-9FA6-213822D9F1A8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2099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3714750"/>
                <a:gridCol w="4019550"/>
              </a:tblGrid>
              <a:tr h="64198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Region width scale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Decode + recon mean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Stereo PSNR loss (dB)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</a:tr>
              <a:tr h="64198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0.1×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4.460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0.0979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198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0.25×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4.890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0.0904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  <a:tr h="64198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0.5×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6.461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0.0712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198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0.7×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7.429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0.0481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7942ED-0D28-4DC7-AB72-F95EC1BF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Loss versus Full. Derived assuming unchanged left eye and mean per-eye PSNR in dB.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77EBE6-E15A-4EAA-A2BF-9ADF1EE8D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PSNR uses the original evaluation protocol.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C46B50-141F-4DB7-9812-526CCA6F1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Timing: 500 frames. Quality: 672 frames. Fixed decode budget: 2 ms.</a:t>
            </a:r>
          </a:p>
        </p:txBody>
      </p:sp>
    </p:spTree>
    <p:extLst>
      <p:ext uri="{BB962C8B-B14F-4D97-AF65-F5344CB8AC3E}">
        <p14:creationId xmlns:p14="http://schemas.microsoft.com/office/powerpoint/2010/main" val="69085660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CE9A48-1D6E-4A83-9CA1-8CFE4001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Next: measure deadline behavior under jitter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66C3A2-BB63-4190-B0FA-9FA817E0A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304B32-2D64-4CBA-8EDC-36675DF42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4A34E0-79F6-4E96-B5BF-794DB4C2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049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35A1F5-991A-4360-89DD-23A7EBDC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04975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Record the actual per-frame budget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FEC6B9-CCA3-4EB7-B161-5D6AEEA42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47900"/>
            <a:ext cx="995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Log arrival, decode completion, and display deadline. Reserve display time and a margin.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24A686-9EEC-4FAC-BB2C-EBD8850C1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003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A565A7-980A-48D4-9D35-431B15588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00375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Implement budget-based ROI selection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268D79-0BF4-489D-B449-E059BC77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43300"/>
            <a:ext cx="995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Build a percentile-based profile. Define a fallback when no level fits the budget.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5D6491-AFD1-4196-8FDB-A4F72CE74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957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52B160-2CA6-4869-A7FF-FB96C3267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95775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Compare fixed and adaptive policies on the same trace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51B4C8-AB44-4ECB-BE8A-9A1F98961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38700"/>
            <a:ext cx="995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Report deadline-miss rate, tail latency, and quality. Repeat runs to check stability.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04C9E1-CBC9-4C84-881E-2AB654BF5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Measured: fixed-center quality–latency levels. Adaptive scheduling and benefits under jitter still require validation.</a:t>
            </a:r>
          </a:p>
        </p:txBody>
      </p:sp>
    </p:spTree>
    <p:extLst>
      <p:ext uri="{BB962C8B-B14F-4D97-AF65-F5344CB8AC3E}">
        <p14:creationId xmlns:p14="http://schemas.microsoft.com/office/powerpoint/2010/main" val="3264084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2026-10-30T07:11:53.6150000Z</dcterms:created>
  <dcterms:modified xsi:type="dcterms:W3CDTF">2026-10-30T07:11:53.6150000Z</dcterms:modified>
</coreProperties>
</file>