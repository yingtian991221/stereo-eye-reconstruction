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1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8556b08516c46e8" /><Relationship Type="http://schemas.openxmlformats.org/officeDocument/2006/relationships/extended-properties" Target="/docProps/app.xml" Id="R571c77f5ff304886" /><Relationship Type="http://schemas.openxmlformats.org/officeDocument/2006/relationships/officeDocument" Target="/ppt/presentation.xml" Id="Ra909f0172bf04f3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8ee618e2280419d"/>
  </p:sldMasterIdLst>
  <p:notesMasterIdLst>
    <p:notesMasterId xmlns:r="http://schemas.openxmlformats.org/officeDocument/2006/relationships" r:id="Rda22ccb23be94a4d"/>
  </p:notesMasterIdLst>
  <p:sldIdLst>
    <p:sldId xmlns:r="http://schemas.openxmlformats.org/officeDocument/2006/relationships" id="256" r:id="Re9e29533bc574e0d"/>
    <p:sldId xmlns:r="http://schemas.openxmlformats.org/officeDocument/2006/relationships" id="257" r:id="R3465666631ad44b1"/>
    <p:sldId xmlns:r="http://schemas.openxmlformats.org/officeDocument/2006/relationships" id="258" r:id="Ra355d07bf40b43e7"/>
    <p:sldId xmlns:r="http://schemas.openxmlformats.org/officeDocument/2006/relationships" id="259" r:id="R977e2b604f144301"/>
    <p:sldId xmlns:r="http://schemas.openxmlformats.org/officeDocument/2006/relationships" id="260" r:id="R1ac3b8a4a790423a"/>
    <p:sldId xmlns:r="http://schemas.openxmlformats.org/officeDocument/2006/relationships" id="261" r:id="R992fdb30862b4d8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05a9eec006e4cd0" /><Relationship Type="http://schemas.openxmlformats.org/officeDocument/2006/relationships/slideMaster" Target="/ppt/slideMasters/slideMaster1.xml" Id="Rb8ee618e2280419d" /><Relationship Type="http://schemas.openxmlformats.org/officeDocument/2006/relationships/notesMaster" Target="/ppt/notesMasters/notesMaster1.xml" Id="Rda22ccb23be94a4d" /><Relationship Type="http://schemas.openxmlformats.org/officeDocument/2006/relationships/presProps" Target="/ppt/presProps.xml" Id="R8a212d356754442c" /><Relationship Type="http://schemas.openxmlformats.org/officeDocument/2006/relationships/tableStyles" Target="/ppt/tableStyles.xml" Id="Re91c72570fb24e55" /><Relationship Type="http://schemas.openxmlformats.org/officeDocument/2006/relationships/slide" Target="/ppt/slides/slide1.xml" Id="Re9e29533bc574e0d" /><Relationship Type="http://schemas.openxmlformats.org/officeDocument/2006/relationships/slide" Target="/ppt/slides/slide2.xml" Id="R3465666631ad44b1" /><Relationship Type="http://schemas.openxmlformats.org/officeDocument/2006/relationships/slide" Target="/ppt/slides/slide3.xml" Id="Ra355d07bf40b43e7" /><Relationship Type="http://schemas.openxmlformats.org/officeDocument/2006/relationships/slide" Target="/ppt/slides/slide4.xml" Id="R977e2b604f144301" /><Relationship Type="http://schemas.openxmlformats.org/officeDocument/2006/relationships/slide" Target="/ppt/slides/slide5.xml" Id="R1ac3b8a4a790423a" /><Relationship Type="http://schemas.openxmlformats.org/officeDocument/2006/relationships/slide" Target="/ppt/slides/slide6.xml" Id="R992fdb30862b4d8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0c934479cd64ea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f311eadf8d247ae" /><Relationship Type="http://schemas.openxmlformats.org/officeDocument/2006/relationships/notesMaster" Target="/ppt/notesMasters/notesMaster1.xml" Id="R80a8e7e2b581493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9790047691f4d16" /><Relationship Type="http://schemas.openxmlformats.org/officeDocument/2006/relationships/notesMaster" Target="/ppt/notesMasters/notesMaster1.xml" Id="Re553ba3d94894f4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c872623bc864dd8" /><Relationship Type="http://schemas.openxmlformats.org/officeDocument/2006/relationships/notesMaster" Target="/ppt/notesMasters/notesMaster1.xml" Id="R6eb473111fa44dc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ac30176f3b44858" /><Relationship Type="http://schemas.openxmlformats.org/officeDocument/2006/relationships/notesMaster" Target="/ppt/notesMasters/notesMaster1.xml" Id="R4a696ae96a834d2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c046ad4f39749c9" /><Relationship Type="http://schemas.openxmlformats.org/officeDocument/2006/relationships/notesMaster" Target="/ppt/notesMasters/notesMaster1.xml" Id="Ra31e7faaa0fd4ec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6fa53f44a0049c1" /><Relationship Type="http://schemas.openxmlformats.org/officeDocument/2006/relationships/notesMaster" Target="/ppt/notesMasters/notesMaster1.xml" Id="R464bcdff6671412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Weekly update. This deck distinguishes the proposed deadline scheduler from the implemented fixed-center FOV sweep. No measured network jitter or deadline-miss improvement is claimed.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Schematic only, not measured data. 90 FPS gives a frame period of 1000/90=11.11 ms. Frame period is not an established end-to-end deadline. The bars illustrate arrival/decode variability relative to a chosen display deadline.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Proposed adaptive mechanism, not implemented/validated. After inputs are ready, more remaining reconstruction time allows a larger full-resolution region; less time calls for a smaller region. The half-resolution base still covers the full image. Region sizes in this schematic are illustrative, not quantitative. Current implementation covers a fixed-center FOV sweep and latency profiles.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results/fov_only_clear_partial_20261030/presentation_results.json. Partial saved results at Xavier 30W: timing uses 500 common frames with 5 repetitions (2500 samples/level); quality uses 672 common frames. Timing and quality have different coverage. Mechanism: half-resolution base + padded full-resolution ROI + feather overlay. The full output is 960x540 (1.0x). Region scale is ROI width divided by full-image width: 96x54 =&gt; 0.1x, 240x135 =&gt; 0.25x, 480x270 =&gt; 0.5x, 672x378 =&gt; 0.7x. Width and height both follow these scales. ROI extent scale is not sampling resolution: pixels within the ROI remain full-resolution. The base samples at 0.5x width and 0.5x height (480x270) while covering the entire image.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results/fov_only_clear_partial_20261030/presentation_results.json. Partial saved results at Xavier 30W: timing uses 500 common frames with 5 repetitions (2500 samples/level); quality uses 672 common frames. Timing and quality have different coverage. Arithmetic means of all 2500 recorded resident whole-pipeline GPU timings per configuration, not wall time. Full uses the paired baseline from the 0.25x configuration. Fixed decode budget is 2 ms once per frame, not measured joint RGB/depth/flow decoding or measured end-to-end timing. No input/output copies, network or display.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results/fov_only_clear_partial_20261030/presentation_results.json. Partial saved results at Xavier 30W: timing uses 500 common frames with 5 repetitions (2500 samples/level); quality uses 672 common frames. Timing and quality have different coverage. Original uint8-overflow PSNR preserved. Stereo delta is derived only if left eye remains unchanged and per-eye PSNR dB is averaged. Timing uses 500 common frames; quality uses 672 common frames. These are partial saved results, not a complete dataset run. Timing is never divided by two. Latency adds a fixed 2 ms per-frame decode budget once, not measured decoding or end-to-end latency. Source: results/fov_only_clear_partial_20261030/presentation_results.json.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4ba1e671d1b4e37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5932ee9cee04428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eb8900a06864275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5fe2f933de54096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fd34747c54f4c13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6190f795079445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3234756-93B2-4767-BD9E-6FE043BAA4A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2B7C7DB0-7FE5-4C1A-84FA-B310BE0A2D0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6BF5B1A7-A1DD-4060-93DB-5462016A043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8A9D8BD-F94B-4C3F-90E0-DB8F8F880CC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61A3BF5D-794A-4D71-B347-C1EFA211B5B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01295B9E-34E2-42CB-8D70-A937B4621CA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F13F9569-5947-4E96-AB27-00D7764DFD1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F9669E77-B412-4389-8D3C-157FC39229C7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82F4E557-A2F6-43FA-ACCD-193DB380270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D717FDAF-33B2-4285-8459-817894D5C5A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91f97f9e0744756" /><Relationship Type="http://schemas.openxmlformats.org/officeDocument/2006/relationships/slideLayout" Target="/ppt/slideLayouts/slideLayout1.xml" Id="R16002300ce5b4659" /><Relationship Type="http://schemas.openxmlformats.org/officeDocument/2006/relationships/slideLayout" Target="/ppt/slideLayouts/slideLayout2.xml" Id="R0a2842ee06b3486f" /><Relationship Type="http://schemas.openxmlformats.org/officeDocument/2006/relationships/slideLayout" Target="/ppt/slideLayouts/slideLayout3.xml" Id="Re8ecabde7c684619" /><Relationship Type="http://schemas.openxmlformats.org/officeDocument/2006/relationships/slideLayout" Target="/ppt/slideLayouts/slideLayout4.xml" Id="Rc7df62f4c1a14a01" /><Relationship Type="http://schemas.openxmlformats.org/officeDocument/2006/relationships/slideLayout" Target="/ppt/slideLayouts/slideLayout5.xml" Id="R7b9edccbee2a4f4f" /><Relationship Type="http://schemas.openxmlformats.org/officeDocument/2006/relationships/slideLayout" Target="/ppt/slideLayouts/slideLayout6.xml" Id="R123bd17866d24ec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6002300ce5b4659"/>
    <p:sldLayoutId xmlns:r="http://schemas.openxmlformats.org/officeDocument/2006/relationships" id="2147483650" r:id="R0a2842ee06b3486f"/>
    <p:sldLayoutId xmlns:r="http://schemas.openxmlformats.org/officeDocument/2006/relationships" id="2147483651" r:id="Re8ecabde7c684619"/>
    <p:sldLayoutId xmlns:r="http://schemas.openxmlformats.org/officeDocument/2006/relationships" id="2147483652" r:id="Rc7df62f4c1a14a01"/>
    <p:sldLayoutId xmlns:r="http://schemas.openxmlformats.org/officeDocument/2006/relationships" id="2147483653" r:id="R7b9edccbee2a4f4f"/>
    <p:sldLayoutId xmlns:r="http://schemas.openxmlformats.org/officeDocument/2006/relationships" id="2147483654" r:id="R123bd17866d24ec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1946a93d76547ef" /><Relationship Type="http://schemas.openxmlformats.org/officeDocument/2006/relationships/notesSlide" Target="/ppt/notesSlides/notesSlide1.xml" Id="R45a19ea6a3264c2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d35fd7629324659" /><Relationship Type="http://schemas.openxmlformats.org/officeDocument/2006/relationships/notesSlide" Target="/ppt/notesSlides/notesSlide2.xml" Id="R2d42bab30dcf498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7d7351f05fa48a6" /><Relationship Type="http://schemas.openxmlformats.org/officeDocument/2006/relationships/notesSlide" Target="/ppt/notesSlides/notesSlide3.xml" Id="R4a77fe3b6a69449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cc6dc727dc94215" /><Relationship Type="http://schemas.openxmlformats.org/officeDocument/2006/relationships/notesSlide" Target="/ppt/notesSlides/notesSlide4.xml" Id="Ra12fe7adfdf04a7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e867c65d116464d" /><Relationship Type="http://schemas.openxmlformats.org/officeDocument/2006/relationships/chart" Target="/ppt/slides/charts/chart1.xml" Id="Rbb89b224dab84d2b" /><Relationship Type="http://schemas.openxmlformats.org/officeDocument/2006/relationships/notesSlide" Target="/ppt/notesSlides/notesSlide5.xml" Id="R0548b236a6214e7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b729ced54464ce3" /><Relationship Type="http://schemas.openxmlformats.org/officeDocument/2006/relationships/notesSlide" Target="/ppt/notesSlides/notesSlide6.xml" Id="Rc66b781d1c3e4f66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stacked"/>
        <c:varyColors val="0"/>
        <c:ser>
          <c:idx val="0"/>
          <c:order val="0"/>
          <c:tx>
            <c:v>Measured reconstruction</c:v>
          </c:tx>
          <c:spPr>
            <a:solidFill xmlns:a="http://schemas.openxmlformats.org/drawingml/2006/main">
              <a:srgbClr val="086B93"/>
            </a:solidFill>
          </c:spPr>
          <c:invertIfNegative val="0"/>
          <c:cat>
            <c:strRef>
              <c:f>'Chart Data'!$A$2:$A$6</c:f>
              <c:strCache>
                <c:ptCount val="5"/>
                <c:pt idx="0">
                  <c:v>Full baseline</c:v>
                </c:pt>
                <c:pt idx="1">
                  <c:v>0.1×</c:v>
                </c:pt>
                <c:pt idx="2">
                  <c:v>0.25×</c:v>
                </c:pt>
                <c:pt idx="3">
                  <c:v>0.5×</c:v>
                </c:pt>
                <c:pt idx="4">
                  <c:v>0.7×</c:v>
                </c:pt>
              </c:strCache>
            </c:strRef>
          </c:cat>
          <c:val>
            <c:numRef>
              <c:f>'Chart Data'!$B$2:$B$6</c:f>
              <c:numCache>
                <c:formatCode>General</c:formatCode>
                <c:ptCount val="5"/>
                <c:pt idx="0">
                  <c:v>8.658</c:v>
                </c:pt>
                <c:pt idx="1">
                  <c:v>2.46</c:v>
                </c:pt>
                <c:pt idx="2">
                  <c:v>2.89</c:v>
                </c:pt>
                <c:pt idx="3">
                  <c:v>4.461</c:v>
                </c:pt>
                <c:pt idx="4">
                  <c:v>5.429</c:v>
                </c:pt>
              </c:numCache>
            </c:numRef>
          </c:val>
        </c:ser>
        <c:ser>
          <c:idx val="1"/>
          <c:order val="1"/>
          <c:tx>
            <c:v>Fixed decode budget (2 ms)</c:v>
          </c:tx>
          <c:spPr>
            <a:solidFill xmlns:a="http://schemas.openxmlformats.org/drawingml/2006/main">
              <a:srgbClr val="D17B28"/>
            </a:solidFill>
          </c:spPr>
          <c:invertIfNegative val="0"/>
          <c:cat>
            <c:strRef>
              <c:f>'Chart Data'!$C$2:$C$6</c:f>
              <c:strCache>
                <c:ptCount val="5"/>
                <c:pt idx="0">
                  <c:v>Full baseline</c:v>
                </c:pt>
                <c:pt idx="1">
                  <c:v>0.1×</c:v>
                </c:pt>
                <c:pt idx="2">
                  <c:v>0.25×</c:v>
                </c:pt>
                <c:pt idx="3">
                  <c:v>0.5×</c:v>
                </c:pt>
                <c:pt idx="4">
                  <c:v>0.7×</c:v>
                </c:pt>
              </c:strCache>
            </c:strRef>
          </c:cat>
          <c:val>
            <c:numRef>
              <c:f>'Chart Data'!$D$2:$D$6</c:f>
              <c:numCache>
                <c:formatCode>General</c:formatCode>
                <c:ptCount val="5"/>
                <c:pt idx="0">
                  <c:v>2</c:v>
                </c:pt>
                <c:pt idx="1">
                  <c:v>2</c:v>
                </c:pt>
                <c:pt idx="2">
                  <c:v>2</c:v>
                </c:pt>
                <c:pt idx="3">
                  <c:v>2</c:v>
                </c:pt>
                <c:pt idx="4">
                  <c:v>2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"/>
                  <a:ea typeface="Arial"/>
                  <a:cs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7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  <c:max val="12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7DFE5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650">
                    <a:latin typeface="Arial"/>
                    <a:ea typeface="Arial"/>
                    <a:cs typeface="Arial"/>
                  </a:rPr>
                  <a:t>Decode + GPU reconstruction (ms)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650">
                  <a:latin typeface="Arial"/>
                  <a:ea typeface="Arial"/>
                  <a:cs typeface="Arial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  <c:majorUnit val="2"/>
      </c:valAx>
      <c:spPr>
        <a:solidFill xmlns:a="http://schemas.openxmlformats.org/drawingml/2006/main">
          <a:srgbClr val="FFFFFF"/>
        </a:solidFill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500">
              <a:latin typeface="Arial"/>
              <a:ea typeface="Arial"/>
              <a:cs typeface="Arial"/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2C21DE0-C2D5-4E99-A7FC-DD58F7208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104775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4650" b="1">
                <a:solidFill>
                  <a:srgbClr val="152D43"/>
                </a:solidFill>
                <a:latin typeface="Arial"/>
                <a:ea typeface="Arial"/>
                <a:cs typeface="Arial"/>
              </a:rPr>
              <a:t>Deadline-aware</a:t>
            </a:r>
          </a:p>
          <a:p xmlns:a="http://schemas.openxmlformats.org/drawingml/2006/main">
            <a:r>
              <a:rPr sz="4650" b="1">
                <a:solidFill>
                  <a:srgbClr val="152D43"/>
                </a:solidFill>
                <a:latin typeface="Arial"/>
                <a:ea typeface="Arial"/>
                <a:cs typeface="Arial"/>
              </a:rPr>
              <a:t>Foveated Reconstruction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00786EF-8129-42BB-9E54-756B61F9F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95650"/>
            <a:ext cx="10668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325" b="0">
                <a:solidFill>
                  <a:srgbClr val="086B93"/>
                </a:solidFill>
                <a:latin typeface="Arial"/>
                <a:ea typeface="Arial"/>
                <a:cs typeface="Arial"/>
              </a:rPr>
              <a:t>Research weekly update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2BA005F-9B12-4F39-899A-B3FC9FDB0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67200"/>
            <a:ext cx="1047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175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Network jitter, reconstruction design, and Xavier measurements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D7105AF-A883-437F-A1C9-5C0BB395A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848350"/>
            <a:ext cx="9525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875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2026-10-29</a:t>
            </a:r>
          </a:p>
        </p:txBody>
      </p:sp>
    </p:spTree>
    <p:extLst>
      <p:ext uri="{BB962C8B-B14F-4D97-AF65-F5344CB8AC3E}">
        <p14:creationId xmlns:p14="http://schemas.microsoft.com/office/powerpoint/2010/main" val="109853898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FBB8466-B763-4095-929E-2110711D5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0612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3150" b="1">
                <a:solidFill>
                  <a:srgbClr val="152D43"/>
                </a:solidFill>
                <a:latin typeface="Arial"/>
                <a:ea typeface="Arial"/>
                <a:cs typeface="Arial"/>
              </a:rPr>
              <a:t>Jitter reduces the reconstruction budget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DF0594E-BCEE-45FA-90D0-65DB9922F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FE5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BD96097-BEED-4AA8-AB97-CCD01B759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429375"/>
            <a:ext cx="28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275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FCC34B-658F-41F2-80BD-693F7B121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57325"/>
            <a:ext cx="10858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250" b="0">
                <a:solidFill>
                  <a:srgbClr val="152D43"/>
                </a:solidFill>
                <a:latin typeface="Arial"/>
                <a:ea typeface="Arial"/>
                <a:cs typeface="Arial"/>
              </a:rPr>
              <a:t>Later input readiness leaves less time before the display deadline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68B8280-C528-4043-9CF4-C42124736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524125"/>
            <a:ext cx="1714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100" b="0">
                <a:solidFill>
                  <a:srgbClr val="152D43"/>
                </a:solidFill>
                <a:latin typeface="Arial"/>
                <a:ea typeface="Arial"/>
                <a:cs typeface="Arial"/>
              </a:rPr>
              <a:t>Early arrival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B8E362-C37D-489A-B848-8A714A1AB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2476500"/>
            <a:ext cx="2095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FE5"/>
          </a:solidFill>
          <a:ln xmlns:a="http://schemas.openxmlformats.org/drawingml/2006/main" w="14288">
            <a:solidFill>
              <a:srgbClr val="D7DFE5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8376151-6249-4AD0-9D86-8A5B13752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476500"/>
            <a:ext cx="55054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6"/>
          </a:solidFill>
          <a:ln xmlns:a="http://schemas.openxmlformats.org/drawingml/2006/main" w="14288">
            <a:solidFill>
              <a:srgbClr val="148B83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C63768D-6689-48BD-976F-6B9614735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2476500"/>
            <a:ext cx="762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EDD9"/>
          </a:solidFill>
          <a:ln xmlns:a="http://schemas.openxmlformats.org/drawingml/2006/main" w="14288">
            <a:solidFill>
              <a:srgbClr val="D17B28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9296E59-35FD-49C3-808B-E449FC571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2552700"/>
            <a:ext cx="60769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725" b="1">
                <a:solidFill>
                  <a:srgbClr val="148B83"/>
                </a:solidFill>
                <a:latin typeface="Arial"/>
                <a:ea typeface="Arial"/>
                <a:cs typeface="Arial"/>
              </a:rPr>
              <a:t>Budget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A70735C-EF3A-4AFB-8A6A-692D34A50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324100"/>
            <a:ext cx="0" cy="704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48B83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C82C2C5-88E6-4DD8-AE30-22359B426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476625"/>
            <a:ext cx="1714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100" b="0">
                <a:solidFill>
                  <a:srgbClr val="152D43"/>
                </a:solidFill>
                <a:latin typeface="Arial"/>
                <a:ea typeface="Arial"/>
                <a:cs typeface="Arial"/>
              </a:rPr>
              <a:t>Typical arrival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B62DD2D-F8AA-46B7-8B44-0C0019917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3429000"/>
            <a:ext cx="3905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FE5"/>
          </a:solidFill>
          <a:ln xmlns:a="http://schemas.openxmlformats.org/drawingml/2006/main" w="14288">
            <a:solidFill>
              <a:srgbClr val="D7DFE5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A0D1E13-9417-4312-B12E-8F2B3C95F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429000"/>
            <a:ext cx="36957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6"/>
          </a:solidFill>
          <a:ln xmlns:a="http://schemas.openxmlformats.org/drawingml/2006/main" w="14288">
            <a:solidFill>
              <a:srgbClr val="086B93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E0D474F-ACC9-43C9-BA2C-19DC0FDC7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3429000"/>
            <a:ext cx="762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EDD9"/>
          </a:solidFill>
          <a:ln xmlns:a="http://schemas.openxmlformats.org/drawingml/2006/main" w="14288">
            <a:solidFill>
              <a:srgbClr val="D17B28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EAA5F99-EF8B-4E9B-9823-22CDDD338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3505200"/>
            <a:ext cx="42672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725" b="1">
                <a:solidFill>
                  <a:srgbClr val="086B93"/>
                </a:solidFill>
                <a:latin typeface="Arial"/>
                <a:ea typeface="Arial"/>
                <a:cs typeface="Arial"/>
              </a:rPr>
              <a:t>Budget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645844A-76C1-4C85-B3D1-170492D5E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276600"/>
            <a:ext cx="0" cy="704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86B93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5CFC73F-D638-4BA5-AB65-507ED9F67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429125"/>
            <a:ext cx="1714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100" b="0">
                <a:solidFill>
                  <a:srgbClr val="152D43"/>
                </a:solidFill>
                <a:latin typeface="Arial"/>
                <a:ea typeface="Arial"/>
                <a:cs typeface="Arial"/>
              </a:rPr>
              <a:t>Late arrival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000227C-D5A2-42BD-AE89-95DD4274E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4381500"/>
            <a:ext cx="5905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FE5"/>
          </a:solidFill>
          <a:ln xmlns:a="http://schemas.openxmlformats.org/drawingml/2006/main" w="14288">
            <a:solidFill>
              <a:srgbClr val="D7DFE5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1106D4D-2B33-4F8D-ACF0-049A589C3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4381500"/>
            <a:ext cx="16954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6"/>
          </a:solidFill>
          <a:ln xmlns:a="http://schemas.openxmlformats.org/drawingml/2006/main" w="14288">
            <a:solidFill>
              <a:srgbClr val="D17B28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029756C-B5FB-4423-B584-56D4E3C18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4381500"/>
            <a:ext cx="762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EDD9"/>
          </a:solidFill>
          <a:ln xmlns:a="http://schemas.openxmlformats.org/drawingml/2006/main" w="14288">
            <a:solidFill>
              <a:srgbClr val="D17B28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301AAEC-808B-4C12-BC05-E4DD8DA5A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4457700"/>
            <a:ext cx="22669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725" b="1">
                <a:solidFill>
                  <a:srgbClr val="D17B28"/>
                </a:solidFill>
                <a:latin typeface="Arial"/>
                <a:ea typeface="Arial"/>
                <a:cs typeface="Arial"/>
              </a:rPr>
              <a:t>Budget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71C5611-CA0F-4AB9-A613-699BB41D6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4229100"/>
            <a:ext cx="0" cy="704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17B28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0B2AC55-731A-4EE8-B7F3-1547F23B9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171700"/>
            <a:ext cx="0" cy="28956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17B28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8D4E822-649A-4385-8511-24081CA94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1895475"/>
            <a:ext cx="19526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875" b="1">
                <a:solidFill>
                  <a:srgbClr val="D17B28"/>
                </a:solidFill>
                <a:latin typeface="Arial"/>
                <a:ea typeface="Arial"/>
                <a:cs typeface="Arial"/>
              </a:rPr>
              <a:t>Deadline D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7994790-776E-4FA4-AEC2-05F30E31A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8875" y="5133975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500" b="0">
                <a:solidFill>
                  <a:srgbClr val="D17B28"/>
                </a:solidFill>
                <a:latin typeface="Arial"/>
                <a:ea typeface="Arial"/>
                <a:cs typeface="Arial"/>
              </a:rPr>
              <a:t>Display reserve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40E4468-9646-4CB0-9BFF-5D5653A36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5400675"/>
            <a:ext cx="2857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875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Transfer + decode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63CC81E-8CA4-47FF-B7E6-A02E8DD29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400675"/>
            <a:ext cx="5810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100" b="1">
                <a:solidFill>
                  <a:srgbClr val="086B93"/>
                </a:solidFill>
                <a:latin typeface="Arial"/>
                <a:ea typeface="Arial"/>
                <a:cs typeface="Arial"/>
              </a:rPr>
              <a:t>B = D − t_ready − T_display − margin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5239EAB-5A00-4352-A76C-5A265E61B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24550"/>
            <a:ext cx="10715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500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Schematic, not a measured jitter trace. A 90 FPS frame period is 11.11 ms, not a validated end-to-end deadline.</a:t>
            </a:r>
          </a:p>
        </p:txBody>
      </p:sp>
    </p:spTree>
    <p:extLst>
      <p:ext uri="{BB962C8B-B14F-4D97-AF65-F5344CB8AC3E}">
        <p14:creationId xmlns:p14="http://schemas.microsoft.com/office/powerpoint/2010/main" val="115568229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878295E-DB95-4D55-A389-A0F9C00E7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0612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3150" b="1">
                <a:solidFill>
                  <a:srgbClr val="152D43"/>
                </a:solidFill>
                <a:latin typeface="Arial"/>
                <a:ea typeface="Arial"/>
                <a:cs typeface="Arial"/>
              </a:rPr>
              <a:t>Adapt the full-resolution region to available time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9461C63-FDEE-40F3-8D70-AC4918BD6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FE5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9C76645-FDF3-4C9E-9CD3-99E920AAB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429375"/>
            <a:ext cx="28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275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31EF084-FD37-4737-BAB2-AED8DD232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33625"/>
            <a:ext cx="285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925" b="1">
                <a:solidFill>
                  <a:srgbClr val="086B93"/>
                </a:solidFill>
                <a:latin typeface="Arial"/>
                <a:ea typeface="Arial"/>
                <a:cs typeface="Arial"/>
              </a:rPr>
              <a:t>More time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FBEE27C-1A43-4D47-8A3F-F97E0A3C8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505075"/>
            <a:ext cx="1381125" cy="23812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86B93"/>
          </a:solidFill>
          <a:ln xmlns:a="http://schemas.openxmlformats.org/drawingml/2006/main" w="0">
            <a:solidFill>
              <a:srgbClr val="086B93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F675E3-7B3D-4177-B820-C18435B3B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514475"/>
            <a:ext cx="3429000" cy="19288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6"/>
          </a:solidFill>
          <a:ln xmlns:a="http://schemas.openxmlformats.org/drawingml/2006/main" w="14288">
            <a:solidFill>
              <a:srgbClr val="D7DFE5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C9F815D-ABBD-4086-9FA4-E8F70EE43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1803797"/>
            <a:ext cx="2400300" cy="135016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86B93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3530DC6-E99B-4929-B933-30E8B39BD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076575"/>
            <a:ext cx="5048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100" b="1">
                <a:solidFill>
                  <a:srgbClr val="086B93"/>
                </a:solidFill>
                <a:latin typeface="Arial"/>
                <a:ea typeface="Arial"/>
                <a:cs typeface="Arial"/>
              </a:rPr>
              <a:t>Larger full-resolution region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E7CB34B-F045-485A-B32E-C7E610CA0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05325"/>
            <a:ext cx="285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925" b="1">
                <a:solidFill>
                  <a:srgbClr val="148B83"/>
                </a:solidFill>
                <a:latin typeface="Arial"/>
                <a:ea typeface="Arial"/>
                <a:cs typeface="Arial"/>
              </a:rPr>
              <a:t>Less time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B40E75F-A567-47DE-BFA1-74072F5E3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676775"/>
            <a:ext cx="1381125" cy="23812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48B83"/>
          </a:solidFill>
          <a:ln xmlns:a="http://schemas.openxmlformats.org/drawingml/2006/main" w="0">
            <a:solidFill>
              <a:srgbClr val="148B83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3F252BF-8583-4C19-A594-083E2554A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857625"/>
            <a:ext cx="3429000" cy="19288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6"/>
          </a:solidFill>
          <a:ln xmlns:a="http://schemas.openxmlformats.org/drawingml/2006/main" w="14288">
            <a:solidFill>
              <a:srgbClr val="D7DFE5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1D6B880-C5A3-49C0-B38B-1A5783DFC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532709"/>
            <a:ext cx="1028700" cy="5786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48B83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B34CC6D-2487-40C7-9DD0-CE75D97CC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248275"/>
            <a:ext cx="5048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100" b="1">
                <a:solidFill>
                  <a:srgbClr val="148B83"/>
                </a:solidFill>
                <a:latin typeface="Arial"/>
                <a:ea typeface="Arial"/>
                <a:cs typeface="Arial"/>
              </a:rPr>
              <a:t>Smaller full-resolution region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46F8DD6-6881-459F-BE06-E39690137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24550"/>
            <a:ext cx="10715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500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Proposed adaptation. Fixed-center levels are measured; scheduling and deadline-miss reduction remain unverified.</a:t>
            </a:r>
          </a:p>
        </p:txBody>
      </p:sp>
    </p:spTree>
    <p:extLst>
      <p:ext uri="{BB962C8B-B14F-4D97-AF65-F5344CB8AC3E}">
        <p14:creationId xmlns:p14="http://schemas.microsoft.com/office/powerpoint/2010/main" val="196460694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18D5017-C450-43C6-998B-36596429D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0612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3150" b="1">
                <a:solidFill>
                  <a:srgbClr val="152D43"/>
                </a:solidFill>
                <a:latin typeface="Arial"/>
                <a:ea typeface="Arial"/>
                <a:cs typeface="Arial"/>
              </a:rPr>
              <a:t>Half-resolution base with a full-resolution center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A65AB68-FC6D-46E4-B5FB-A7D9AC37A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FE5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0EB2D15-8789-4811-8A50-94225A5CB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429375"/>
            <a:ext cx="28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275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6E15977-1FC9-4936-9E93-A4204536D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38275"/>
            <a:ext cx="10477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250" b="0">
                <a:solidFill>
                  <a:srgbClr val="152D43"/>
                </a:solidFill>
                <a:latin typeface="Arial"/>
                <a:ea typeface="Arial"/>
                <a:cs typeface="Arial"/>
              </a:rPr>
              <a:t>Shared image, disparity, and optical-flow inputs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2EF43E-9979-42FD-9D87-04EB57AD7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362200"/>
            <a:ext cx="304800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6"/>
          </a:solidFill>
          <a:ln xmlns:a="http://schemas.openxmlformats.org/drawingml/2006/main" w="14288">
            <a:solidFill>
              <a:srgbClr val="086B93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9EB57AE-752C-4AB6-B790-5A85A421A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667000"/>
            <a:ext cx="2667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950" b="1">
                <a:solidFill>
                  <a:srgbClr val="086B93"/>
                </a:solidFill>
                <a:latin typeface="Arial"/>
                <a:ea typeface="Arial"/>
                <a:cs typeface="Arial"/>
              </a:rPr>
              <a:t>Base sampling</a:t>
            </a:r>
          </a:p>
          <a:p xmlns:a="http://schemas.openxmlformats.org/drawingml/2006/main">
            <a:r>
              <a:rPr sz="1950" b="1">
                <a:solidFill>
                  <a:srgbClr val="086B93"/>
                </a:solidFill>
                <a:latin typeface="Arial"/>
                <a:ea typeface="Arial"/>
                <a:cs typeface="Arial"/>
              </a:rPr>
              <a:t>0.5× width</a:t>
            </a:r>
          </a:p>
          <a:p xmlns:a="http://schemas.openxmlformats.org/drawingml/2006/main">
            <a:r>
              <a:rPr sz="1950" b="1">
                <a:solidFill>
                  <a:srgbClr val="086B93"/>
                </a:solidFill>
                <a:latin typeface="Arial"/>
                <a:ea typeface="Arial"/>
                <a:cs typeface="Arial"/>
              </a:rPr>
              <a:t>0.5× height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69D9580-EFD3-4179-8D84-BC0EA92FA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257675"/>
            <a:ext cx="3524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875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Base covers the whole image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2D48B5A-B2DC-44DE-9916-BA4B01C7D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362200"/>
            <a:ext cx="304800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7DFE5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55E4FD5-2468-4ACC-A4FB-434287070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2895600"/>
            <a:ext cx="10477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6"/>
          </a:solidFill>
          <a:ln xmlns:a="http://schemas.openxmlformats.org/drawingml/2006/main" w="14288">
            <a:solidFill>
              <a:srgbClr val="148B83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25A3B03-36E7-4523-83A9-3910A1F48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3105150"/>
            <a:ext cx="1428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800" b="1">
                <a:solidFill>
                  <a:srgbClr val="148B83"/>
                </a:solidFill>
                <a:latin typeface="Arial"/>
                <a:ea typeface="Arial"/>
                <a:cs typeface="Arial"/>
              </a:rPr>
              <a:t>ROI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2C88053-665A-4550-9B0B-725F4FA18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924175"/>
            <a:ext cx="4286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3150" b="1">
                <a:solidFill>
                  <a:srgbClr val="086B93"/>
                </a:solidFill>
                <a:latin typeface="Arial"/>
                <a:ea typeface="Arial"/>
                <a:cs typeface="Arial"/>
              </a:rPr>
              <a:t>+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7B0E7EB-1B94-4383-AB51-B04622FF2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4257675"/>
            <a:ext cx="3524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875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Full resolution within the ROI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2E71B4D-5AC2-4BEB-B334-FC94ED013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067050"/>
            <a:ext cx="57150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48B83"/>
          </a:solidFill>
          <a:ln xmlns:a="http://schemas.openxmlformats.org/drawingml/2006/main" w="0">
            <a:solidFill>
              <a:srgbClr val="148B83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71BC81C-E880-4B41-BB15-50AF89B5E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362200"/>
            <a:ext cx="285750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6"/>
          </a:solidFill>
          <a:ln xmlns:a="http://schemas.openxmlformats.org/drawingml/2006/main" w="14288">
            <a:solidFill>
              <a:srgbClr val="086B93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A9AE341-0959-4AE4-BF5A-E25C0C0C6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2895600"/>
            <a:ext cx="8572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48B8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538E1C6-98B5-4BB3-83F8-226527D23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400550"/>
            <a:ext cx="2762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100" b="1">
                <a:solidFill>
                  <a:srgbClr val="086B93"/>
                </a:solidFill>
                <a:latin typeface="Arial"/>
                <a:ea typeface="Arial"/>
                <a:cs typeface="Arial"/>
              </a:rPr>
              <a:t>Upsample + blend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9FA5B29-7CA4-40D0-AB8E-154E7B7BF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2075" y="4857750"/>
            <a:ext cx="27146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950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1.0× output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EEA9DA3-B42A-4F8B-9275-CEDA759A0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57800"/>
            <a:ext cx="10858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175" b="1">
                <a:solidFill>
                  <a:srgbClr val="152D43"/>
                </a:solidFill>
                <a:latin typeface="Arial"/>
                <a:ea typeface="Arial"/>
                <a:cs typeface="Arial"/>
              </a:rPr>
              <a:t>Full-resolution region width: 0.1×, 0.25×, 0.5×, 0.7×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5271499-F614-4B83-B68F-31DACDF78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24550"/>
            <a:ext cx="10715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500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Region scale = region width / image width. Sampling inside the region stays at full resolution.</a:t>
            </a:r>
          </a:p>
        </p:txBody>
      </p:sp>
    </p:spTree>
    <p:extLst>
      <p:ext uri="{BB962C8B-B14F-4D97-AF65-F5344CB8AC3E}">
        <p14:creationId xmlns:p14="http://schemas.microsoft.com/office/powerpoint/2010/main" val="160720124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4FD0BD3-6996-4639-8A1D-EB5A76675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0612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3150" b="1">
                <a:solidFill>
                  <a:srgbClr val="152D43"/>
                </a:solidFill>
                <a:latin typeface="Arial"/>
                <a:ea typeface="Arial"/>
                <a:cs typeface="Arial"/>
              </a:rPr>
              <a:t>30W CUDA C++: decode budget + reconstruction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A3C9BAE-0470-4426-9EE5-9976A7FD5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FE5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61FEC70-0253-4305-991C-CF81F5081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429375"/>
            <a:ext cx="28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275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graphicFrame>
        <p:nvGraphicFramePr>
          <p:cNvPr id="4" name="Chart">
            <a:extLst xmlns:a="http://schemas.openxmlformats.org/drawingml/2006/main">
              <a:ext uri="{FF2B5EF4-FFF2-40B4-BE49-F238E27FC236}">
                <a16:creationId xmlns:a16="http://schemas.microsoft.com/office/drawing/2014/main" id="{FC6B9114-AFFD-4524-BD48-23076938FBA8}"/>
              </a:ext>
            </a:extLst>
          </p:cNvPr>
          <p:cNvGraphicFramePr/>
          <p:nvPr/>
        </p:nvGraphicFramePr>
        <p:xfrm>
          <a:off xmlns:a="http://schemas.openxmlformats.org/drawingml/2006/main" x="609600" y="1828800"/>
          <a:ext xmlns:a="http://schemas.openxmlformats.org/drawingml/2006/main" cx="7715250" cy="37528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b89b224dab84d2b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C3467F5-23A2-4F84-BDED-2FED58166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061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875" b="1">
                <a:solidFill>
                  <a:srgbClr val="086B93"/>
                </a:solidFill>
                <a:latin typeface="Arial"/>
                <a:ea typeface="Arial"/>
                <a:cs typeface="Arial"/>
              </a:rPr>
              <a:t>Sampled timing at 30W; mean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B0F6BAA-DCF8-4B8F-9FB7-D7C240FA1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028825"/>
            <a:ext cx="2667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625" b="1">
                <a:solidFill>
                  <a:srgbClr val="086B93"/>
                </a:solidFill>
                <a:latin typeface="Arial"/>
                <a:ea typeface="Arial"/>
                <a:cs typeface="Arial"/>
              </a:rPr>
              <a:t>0.25× region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09DDAA4-71F3-4A95-9FDB-AABCCAEB3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695575"/>
            <a:ext cx="2857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3375" b="1">
                <a:solidFill>
                  <a:srgbClr val="152D43"/>
                </a:solidFill>
                <a:latin typeface="Arial"/>
                <a:ea typeface="Arial"/>
                <a:cs typeface="Arial"/>
              </a:rPr>
              <a:t>4.890 ms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C4BB3D4-D7A5-45C8-B9A8-D4ECC61BE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3352800"/>
            <a:ext cx="2952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725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decode + reconstruction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96602B1-4208-4B1D-8FAB-F6B968D70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019550"/>
            <a:ext cx="266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3450" b="1">
                <a:solidFill>
                  <a:srgbClr val="148B83"/>
                </a:solidFill>
                <a:latin typeface="Arial"/>
                <a:ea typeface="Arial"/>
                <a:cs typeface="Arial"/>
              </a:rPr>
              <a:t>2.18×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92915DC-2DD3-4445-BE5D-DBA91A437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667250"/>
            <a:ext cx="2667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875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versus Full + decode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1CBAD2F-220B-4AEC-B4C6-DCB18FB43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24550"/>
            <a:ext cx="10715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500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Timing: 500 frames. Fixed 2 ms decode budget + measured reconstruction; not measured end-to-end.</a:t>
            </a:r>
          </a:p>
        </p:txBody>
      </p:sp>
    </p:spTree>
    <p:extLst>
      <p:ext uri="{BB962C8B-B14F-4D97-AF65-F5344CB8AC3E}">
        <p14:creationId xmlns:p14="http://schemas.microsoft.com/office/powerpoint/2010/main" val="173115689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8BFE412-7F47-4F91-BF73-5100F7A5D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0612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3150" b="1">
                <a:solidFill>
                  <a:srgbClr val="152D43"/>
                </a:solidFill>
                <a:latin typeface="Arial"/>
                <a:ea typeface="Arial"/>
                <a:cs typeface="Arial"/>
              </a:rPr>
              <a:t>Quality and timing across region sizes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8B9B8F0-1276-4BB2-A12B-0B727B876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FE5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976E25F-9C52-46F9-91A6-57FE23A29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429375"/>
            <a:ext cx="28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275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16DEF2C-66CE-4915-8C2B-29379EB1676B}"/>
              </a:ext>
            </a:extLst>
          </p:cNvPr>
          <p:cNvGraphicFramePr/>
          <p:nvPr/>
        </p:nvGraphicFramePr>
        <p:xfrm>
          <a:off xmlns:a="http://schemas.openxmlformats.org/drawingml/2006/main" x="609600" y="1619250"/>
          <a:ext xmlns:a="http://schemas.openxmlformats.org/drawingml/2006/main" cx="10972800" cy="32099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238500"/>
                <a:gridCol w="3714750"/>
                <a:gridCol w="4019550"/>
              </a:tblGrid>
              <a:tr h="534988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Region width scale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7DFE5"/>
                      </a:solidFill>
                      <a:prstDash val="solid"/>
                    </a:lnL>
                    <a:lnR w="9525">
                      <a:solidFill>
                        <a:srgbClr val="D7DFE5"/>
                      </a:solidFill>
                      <a:prstDash val="solid"/>
                    </a:lnR>
                    <a:lnT w="9525">
                      <a:solidFill>
                        <a:srgbClr val="D7DFE5"/>
                      </a:solidFill>
                      <a:prstDash val="solid"/>
                    </a:lnT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152D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Decode + recon mean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T w="9525">
                      <a:solidFill>
                        <a:srgbClr val="D7DFE5"/>
                      </a:solidFill>
                      <a:prstDash val="solid"/>
                    </a:lnT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152D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Stereo PSNR loss (dB)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T w="9525">
                      <a:solidFill>
                        <a:srgbClr val="D7DFE5"/>
                      </a:solidFill>
                      <a:prstDash val="solid"/>
                    </a:lnT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152D43"/>
                    </a:solidFill>
                  </a:tcPr>
                </a:tc>
              </a:tr>
              <a:tr h="534988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0.1×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7DFE5"/>
                      </a:solidFill>
                      <a:prstDash val="solid"/>
                    </a:lnL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4.460 ms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0.0979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4988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0.25×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7DFE5"/>
                      </a:solidFill>
                      <a:prstDash val="solid"/>
                    </a:lnL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E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4.890 ms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E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0.0904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EAF3F6"/>
                    </a:solidFill>
                  </a:tcPr>
                </a:tc>
              </a:tr>
              <a:tr h="534988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0.5×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7DFE5"/>
                      </a:solidFill>
                      <a:prstDash val="solid"/>
                    </a:lnL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6.461 ms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0.0712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4988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0.7×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7DFE5"/>
                      </a:solidFill>
                      <a:prstDash val="solid"/>
                    </a:lnL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E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7.429 ms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E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0.0481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EAF3F6"/>
                    </a:solidFill>
                  </a:tcPr>
                </a:tc>
              </a:tr>
              <a:tr h="534988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Full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7DFE5"/>
                      </a:solidFill>
                      <a:prstDash val="solid"/>
                    </a:lnL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10.658 ms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0.0000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C7AB6D2-FE42-4739-B92E-B2086815A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14925"/>
            <a:ext cx="10953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875" b="1">
                <a:solidFill>
                  <a:srgbClr val="086B93"/>
                </a:solidFill>
                <a:latin typeface="Arial"/>
                <a:ea typeface="Arial"/>
                <a:cs typeface="Arial"/>
              </a:rPr>
              <a:t>Loss versus Full. Derived assuming unchanged left eye and mean per-eye PSNR in dB.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C3B9F4-CDB0-469C-8D12-3869C6A04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34025"/>
            <a:ext cx="10953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725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PSNR uses the original evaluation protocol.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92A9CD6-A9B9-489A-9EFB-6630EEC71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24550"/>
            <a:ext cx="10715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500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Timing: 500 frames. Quality: 672 frames. Fixed decode budget: 2 ms.</a:t>
            </a:r>
          </a:p>
        </p:txBody>
      </p:sp>
    </p:spTree>
    <p:extLst>
      <p:ext uri="{BB962C8B-B14F-4D97-AF65-F5344CB8AC3E}">
        <p14:creationId xmlns:p14="http://schemas.microsoft.com/office/powerpoint/2010/main" val="176971357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2026-10-30T07:15:11.2020000Z</dcterms:created>
  <dcterms:modified xsi:type="dcterms:W3CDTF">2026-10-30T07:15:11.2030000Z</dcterms:modified>
</coreProperties>
</file>