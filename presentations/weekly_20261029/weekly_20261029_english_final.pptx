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09fea4b92c94559" /><Relationship Type="http://schemas.openxmlformats.org/officeDocument/2006/relationships/extended-properties" Target="/docProps/app.xml" Id="R816818a788cb4544" /><Relationship Type="http://schemas.openxmlformats.org/officeDocument/2006/relationships/officeDocument" Target="/ppt/presentation.xml" Id="R97afab65cb5d478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e04743f05634287"/>
  </p:sldMasterIdLst>
  <p:notesMasterIdLst>
    <p:notesMasterId xmlns:r="http://schemas.openxmlformats.org/officeDocument/2006/relationships" r:id="Ra5e764182cd94e59"/>
  </p:notesMasterIdLst>
  <p:sldIdLst>
    <p:sldId xmlns:r="http://schemas.openxmlformats.org/officeDocument/2006/relationships" id="256" r:id="R1f2cdba2a4c94bed"/>
    <p:sldId xmlns:r="http://schemas.openxmlformats.org/officeDocument/2006/relationships" id="257" r:id="R9c6bda0486414b4f"/>
    <p:sldId xmlns:r="http://schemas.openxmlformats.org/officeDocument/2006/relationships" id="258" r:id="R3151545a97c746c0"/>
    <p:sldId xmlns:r="http://schemas.openxmlformats.org/officeDocument/2006/relationships" id="259" r:id="R0e4d269612f2468e"/>
    <p:sldId xmlns:r="http://schemas.openxmlformats.org/officeDocument/2006/relationships" id="260" r:id="R121bc53f6ac2467e"/>
    <p:sldId xmlns:r="http://schemas.openxmlformats.org/officeDocument/2006/relationships" id="261" r:id="R129d804fc12246fa"/>
    <p:sldId xmlns:r="http://schemas.openxmlformats.org/officeDocument/2006/relationships" id="262" r:id="Ra1486ee1166c49a4"/>
    <p:sldId xmlns:r="http://schemas.openxmlformats.org/officeDocument/2006/relationships" id="263" r:id="R85eb96487cad461c"/>
    <p:sldId xmlns:r="http://schemas.openxmlformats.org/officeDocument/2006/relationships" id="264" r:id="R6884cbf967094c1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ae3a43accd24b89" /><Relationship Type="http://schemas.openxmlformats.org/officeDocument/2006/relationships/slideMaster" Target="/ppt/slideMasters/slideMaster1.xml" Id="R1e04743f05634287" /><Relationship Type="http://schemas.openxmlformats.org/officeDocument/2006/relationships/notesMaster" Target="/ppt/notesMasters/notesMaster1.xml" Id="Ra5e764182cd94e59" /><Relationship Type="http://schemas.openxmlformats.org/officeDocument/2006/relationships/presProps" Target="/ppt/presProps.xml" Id="Rd4e63dc6e60c44f0" /><Relationship Type="http://schemas.openxmlformats.org/officeDocument/2006/relationships/tableStyles" Target="/ppt/tableStyles.xml" Id="Ra8f07001d2324a28" /><Relationship Type="http://schemas.openxmlformats.org/officeDocument/2006/relationships/slide" Target="/ppt/slides/slide1.xml" Id="R1f2cdba2a4c94bed" /><Relationship Type="http://schemas.openxmlformats.org/officeDocument/2006/relationships/slide" Target="/ppt/slides/slide2.xml" Id="R9c6bda0486414b4f" /><Relationship Type="http://schemas.openxmlformats.org/officeDocument/2006/relationships/slide" Target="/ppt/slides/slide3.xml" Id="R3151545a97c746c0" /><Relationship Type="http://schemas.openxmlformats.org/officeDocument/2006/relationships/slide" Target="/ppt/slides/slide4.xml" Id="R0e4d269612f2468e" /><Relationship Type="http://schemas.openxmlformats.org/officeDocument/2006/relationships/slide" Target="/ppt/slides/slide5.xml" Id="R121bc53f6ac2467e" /><Relationship Type="http://schemas.openxmlformats.org/officeDocument/2006/relationships/slide" Target="/ppt/slides/slide6.xml" Id="R129d804fc12246fa" /><Relationship Type="http://schemas.openxmlformats.org/officeDocument/2006/relationships/slide" Target="/ppt/slides/slide7.xml" Id="Ra1486ee1166c49a4" /><Relationship Type="http://schemas.openxmlformats.org/officeDocument/2006/relationships/slide" Target="/ppt/slides/slide8.xml" Id="R85eb96487cad461c" /><Relationship Type="http://schemas.openxmlformats.org/officeDocument/2006/relationships/slide" Target="/ppt/slides/slide9.xml" Id="R6884cbf967094c1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d8d70a56b7e4ef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852d1be3ca94cb4" /><Relationship Type="http://schemas.openxmlformats.org/officeDocument/2006/relationships/notesMaster" Target="/ppt/notesMasters/notesMaster1.xml" Id="Rb09bfc1db6214f8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e47413d83e043eb" /><Relationship Type="http://schemas.openxmlformats.org/officeDocument/2006/relationships/notesMaster" Target="/ppt/notesMasters/notesMaster1.xml" Id="R7cdad39f0df541e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4dc9b915a1347a6" /><Relationship Type="http://schemas.openxmlformats.org/officeDocument/2006/relationships/notesMaster" Target="/ppt/notesMasters/notesMaster1.xml" Id="R83b223e54dd34c5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02b496925d8463e" /><Relationship Type="http://schemas.openxmlformats.org/officeDocument/2006/relationships/notesMaster" Target="/ppt/notesMasters/notesMaster1.xml" Id="R5c10029c2edd4b2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4fb2eecbf184573" /><Relationship Type="http://schemas.openxmlformats.org/officeDocument/2006/relationships/notesMaster" Target="/ppt/notesMasters/notesMaster1.xml" Id="R3bb75ff7e4044f7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40f3ada7dd8417e" /><Relationship Type="http://schemas.openxmlformats.org/officeDocument/2006/relationships/notesMaster" Target="/ppt/notesMasters/notesMaster1.xml" Id="R4154b358f96941d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9a39f20e7fc46a9" /><Relationship Type="http://schemas.openxmlformats.org/officeDocument/2006/relationships/notesMaster" Target="/ppt/notesMasters/notesMaster1.xml" Id="Rfb3e518e1fa94a9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40ffef9fc734fec" /><Relationship Type="http://schemas.openxmlformats.org/officeDocument/2006/relationships/notesMaster" Target="/ppt/notesMasters/notesMaster1.xml" Id="Rf6a1713bc1a546e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43878b2af484bf2" /><Relationship Type="http://schemas.openxmlformats.org/officeDocument/2006/relationships/notesMaster" Target="/ppt/notesMasters/notesMaster1.xml" Id="R9a83dc57a3f6465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Weekly update. This deck distinguishes the proposed deadline scheduler from the implemented fixed-center FOV sweep. No measured network jitter or deadline-miss improvement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Schematic only, not measured data. 90 FPS gives a frame period of 1000/90=11.11 ms. Frame period is not an established end-to-end deadline. The bars illustrate arrival/decode variability relative to a chosen display deadline.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scheduler, not implemented/validated. t_ready denotes decoded reconstruction inputs ready. T_display and safety margin must be measured/reserved. Current implementation covers fixed-center ROI reconstruction and latency profiles.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results/fov_levels_xavier_full_20261027/README.md; overview.csv; summary.csv. Commit 0f1506c. Date 2026-10-27. Raw evidence: evidence.tar.gz. Mechanism reflects current half base + padded full-resolution ROI + feather overlay. ROI dimensions are pixels, not angles.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results/fov_levels_xavier_full_20261027/README.md; overview.csv; summary.csv. Commit 0f1506c. Date 2026-10-27. Raw evidence: evidence.tar.gz.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results/fov_levels_xavier_full_20261027/README.md; overview.csv; summary.csv. Commit 0f1506c. Date 2026-10-27. Raw evidence: evidence.tar.gz. Chart uses pooled timing medians. Full baseline is separately measured per level. Fast resample enabled. Each series value corresponds to all 1068 supported frames.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results/fov_levels_xavier_full_20261027/README.md; overview.csv; summary.csv. Commit 0f1506c. Date 2026-10-27. Raw evidence: evidence.tar.gz. Original uint8-overflow PSNR preserved. Stereo delta is derived only if left eye remains unchanged and per-eye PSNR dB is averaged. Timing is never divided by two.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results/numba_xavier_20261029/mode7_15w/result.json, environment.txt, run.log. Four workloads, frame39 only, 100 timing samples per method, Numba0.58.1/Python3.8/CUDA11.4. Original source-function calls include allocations/transfers/debug copies and show warmup drift; not directly comparable to resident timing.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future work; no measured jitter trace or deadline-miss reduction exists in the current experiment. All values on earlier slides are local reconstruction measurements, not end-to-end VR results.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1a0452050149b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6a969b1ca444c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d6af8f6c6a42b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55acdfa5c040e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6d69d77d25474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82b55c4ef94e7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87A274B-23C3-4683-9493-F1B431FC22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643C067-CDDA-4922-9468-01CCE9ED2FA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6F6807B-926B-47DB-935C-3B53043231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05EFF7F-276E-40FE-A46D-4265930CEB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16A17C9-6BCE-4E84-8A75-164359C62D4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01D4EFF-1F68-42BF-B480-C6EAA62420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57A78BF-8637-4A5F-9A0F-34F3D8EA9DC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75E4833-4A9E-4A72-B22A-EDE6C0EAA8D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9FD2F19-D1F7-402C-836F-2370F0B2EA5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AE028CA-6EA0-4F99-BCB4-1FA5806F204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42e854a4b384ecd" /><Relationship Type="http://schemas.openxmlformats.org/officeDocument/2006/relationships/slideLayout" Target="/ppt/slideLayouts/slideLayout1.xml" Id="R6c94b5861b5e4029" /><Relationship Type="http://schemas.openxmlformats.org/officeDocument/2006/relationships/slideLayout" Target="/ppt/slideLayouts/slideLayout2.xml" Id="R489a32629c6e45ca" /><Relationship Type="http://schemas.openxmlformats.org/officeDocument/2006/relationships/slideLayout" Target="/ppt/slideLayouts/slideLayout3.xml" Id="Rd9e7f01cd4264adf" /><Relationship Type="http://schemas.openxmlformats.org/officeDocument/2006/relationships/slideLayout" Target="/ppt/slideLayouts/slideLayout4.xml" Id="Rdd470765e3304876" /><Relationship Type="http://schemas.openxmlformats.org/officeDocument/2006/relationships/slideLayout" Target="/ppt/slideLayouts/slideLayout5.xml" Id="R3d3d2ead46f6434f" /><Relationship Type="http://schemas.openxmlformats.org/officeDocument/2006/relationships/slideLayout" Target="/ppt/slideLayouts/slideLayout6.xml" Id="R8ccb95f084bb422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c94b5861b5e4029"/>
    <p:sldLayoutId xmlns:r="http://schemas.openxmlformats.org/officeDocument/2006/relationships" id="2147483650" r:id="R489a32629c6e45ca"/>
    <p:sldLayoutId xmlns:r="http://schemas.openxmlformats.org/officeDocument/2006/relationships" id="2147483651" r:id="Rd9e7f01cd4264adf"/>
    <p:sldLayoutId xmlns:r="http://schemas.openxmlformats.org/officeDocument/2006/relationships" id="2147483652" r:id="Rdd470765e3304876"/>
    <p:sldLayoutId xmlns:r="http://schemas.openxmlformats.org/officeDocument/2006/relationships" id="2147483653" r:id="R3d3d2ead46f6434f"/>
    <p:sldLayoutId xmlns:r="http://schemas.openxmlformats.org/officeDocument/2006/relationships" id="2147483654" r:id="R8ccb95f084bb422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b497ea25da4ad0" /><Relationship Type="http://schemas.openxmlformats.org/officeDocument/2006/relationships/notesSlide" Target="/ppt/notesSlides/notesSlide1.xml" Id="Rad77c5e4a66f4dd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223f0602344720" /><Relationship Type="http://schemas.openxmlformats.org/officeDocument/2006/relationships/notesSlide" Target="/ppt/notesSlides/notesSlide2.xml" Id="Ra367abdcb3714cb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e1943a018cd428b" /><Relationship Type="http://schemas.openxmlformats.org/officeDocument/2006/relationships/notesSlide" Target="/ppt/notesSlides/notesSlide3.xml" Id="R850d8fd1316c4ac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fb8c64369b44681" /><Relationship Type="http://schemas.openxmlformats.org/officeDocument/2006/relationships/notesSlide" Target="/ppt/notesSlides/notesSlide4.xml" Id="Rc5820c03e670455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a5bf5bddedb4867" /><Relationship Type="http://schemas.openxmlformats.org/officeDocument/2006/relationships/notesSlide" Target="/ppt/notesSlides/notesSlide5.xml" Id="Rbb586808cc3b4ce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8370cba9c1c44b7" /><Relationship Type="http://schemas.openxmlformats.org/officeDocument/2006/relationships/chart" Target="/ppt/slides/charts/chart1.xml" Id="Rfe44980139134222" /><Relationship Type="http://schemas.openxmlformats.org/officeDocument/2006/relationships/notesSlide" Target="/ppt/notesSlides/notesSlide6.xml" Id="Rf858af75bc7249a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7c0b19288f4788" /><Relationship Type="http://schemas.openxmlformats.org/officeDocument/2006/relationships/notesSlide" Target="/ppt/notesSlides/notesSlide7.xml" Id="R0f6eabbd34ee496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d880fd0481410a" /><Relationship Type="http://schemas.openxmlformats.org/officeDocument/2006/relationships/notesSlide" Target="/ppt/notesSlides/notesSlide8.xml" Id="R86493c0efe7044d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f683ccf4d04b11" /><Relationship Type="http://schemas.openxmlformats.org/officeDocument/2006/relationships/notesSlide" Target="/ppt/notesSlides/notesSlide9.xml" Id="R6a1d84ada9f6450a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FOV resident</c:v>
          </c:tx>
          <c:spPr>
            <a:solidFill xmlns:a="http://schemas.openxmlformats.org/drawingml/2006/main">
              <a:srgbClr val="086B93"/>
            </a:solidFill>
          </c:spPr>
          <c:marker>
            <c:symbol val="none"/>
          </c:marker>
          <c:cat>
            <c:strRef>
              <c:f>'Chart Data'!$A$2:$A$6</c:f>
              <c:strCache>
                <c:ptCount val="5"/>
                <c:pt idx="0">
                  <c:v>80×46</c:v>
                </c:pt>
                <c:pt idx="1">
                  <c:v>160×90</c:v>
                </c:pt>
                <c:pt idx="2">
                  <c:v>320×180</c:v>
                </c:pt>
                <c:pt idx="3">
                  <c:v>480×270</c:v>
                </c:pt>
                <c:pt idx="4">
                  <c:v>640×360</c:v>
                </c:pt>
              </c:strCache>
            </c:strRef>
          </c:cat>
          <c:val>
            <c:numRef>
              <c:f>'Chart Data'!$B$2:$B$6</c:f>
              <c:numCache>
                <c:formatCode>General</c:formatCode>
                <c:ptCount val="5"/>
                <c:pt idx="0">
                  <c:v>4.367</c:v>
                </c:pt>
                <c:pt idx="1">
                  <c:v>4.637</c:v>
                </c:pt>
                <c:pt idx="2">
                  <c:v>5.788</c:v>
                </c:pt>
                <c:pt idx="3">
                  <c:v>7.582</c:v>
                </c:pt>
                <c:pt idx="4">
                  <c:v>10.142</c:v>
                </c:pt>
              </c:numCache>
            </c:numRef>
          </c:val>
        </c:ser>
        <c:ser>
          <c:idx val="1"/>
          <c:order val="1"/>
          <c:tx>
            <c:v>FOV stream</c:v>
          </c:tx>
          <c:spPr>
            <a:solidFill xmlns:a="http://schemas.openxmlformats.org/drawingml/2006/main">
              <a:srgbClr val="D17B28"/>
            </a:solidFill>
          </c:spPr>
          <c:marker>
            <c:symbol val="none"/>
          </c:marker>
          <c:cat>
            <c:strRef>
              <c:f>'Chart Data'!$C$2:$C$6</c:f>
              <c:strCache>
                <c:ptCount val="5"/>
                <c:pt idx="0">
                  <c:v>80×46</c:v>
                </c:pt>
                <c:pt idx="1">
                  <c:v>160×90</c:v>
                </c:pt>
                <c:pt idx="2">
                  <c:v>320×180</c:v>
                </c:pt>
                <c:pt idx="3">
                  <c:v>480×270</c:v>
                </c:pt>
                <c:pt idx="4">
                  <c:v>640×360</c:v>
                </c:pt>
              </c:strCache>
            </c:strRef>
          </c:cat>
          <c:val>
            <c:numRef>
              <c:f>'Chart Data'!$D$2:$D$6</c:f>
              <c:numCache>
                <c:formatCode>General</c:formatCode>
                <c:ptCount val="5"/>
                <c:pt idx="0">
                  <c:v>6.285</c:v>
                </c:pt>
                <c:pt idx="1">
                  <c:v>6.557</c:v>
                </c:pt>
                <c:pt idx="2">
                  <c:v>7.717</c:v>
                </c:pt>
                <c:pt idx="3">
                  <c:v>9.519</c:v>
                </c:pt>
                <c:pt idx="4">
                  <c:v>12.09</c:v>
                </c:pt>
              </c:numCache>
            </c:numRef>
          </c:val>
        </c:ser>
        <c:ser>
          <c:idx val="2"/>
          <c:order val="2"/>
          <c:tx>
            <c:v>Full resident</c:v>
          </c:tx>
          <c:spPr>
            <a:solidFill xmlns:a="http://schemas.openxmlformats.org/drawingml/2006/main">
              <a:srgbClr val="536675"/>
            </a:solidFill>
          </c:spPr>
          <c:marker>
            <c:symbol val="none"/>
          </c:marker>
          <c:cat>
            <c:strRef>
              <c:f>'Chart Data'!$E$2:$E$6</c:f>
              <c:strCache>
                <c:ptCount val="5"/>
                <c:pt idx="0">
                  <c:v>80×46</c:v>
                </c:pt>
                <c:pt idx="1">
                  <c:v>160×90</c:v>
                </c:pt>
                <c:pt idx="2">
                  <c:v>320×180</c:v>
                </c:pt>
                <c:pt idx="3">
                  <c:v>480×270</c:v>
                </c:pt>
                <c:pt idx="4">
                  <c:v>640×360</c:v>
                </c:pt>
              </c:strCache>
            </c:strRef>
          </c:cat>
          <c:val>
            <c:numRef>
              <c:f>'Chart Data'!$F$2:$F$6</c:f>
              <c:numCache>
                <c:formatCode>General</c:formatCode>
                <c:ptCount val="5"/>
                <c:pt idx="0">
                  <c:v>10.763</c:v>
                </c:pt>
                <c:pt idx="1">
                  <c:v>10.764</c:v>
                </c:pt>
                <c:pt idx="2">
                  <c:v>10.774</c:v>
                </c:pt>
                <c:pt idx="3">
                  <c:v>10.771</c:v>
                </c:pt>
                <c:pt idx="4">
                  <c:v>10.774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4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FE5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latin typeface="Arial"/>
                    <a:ea typeface="Arial"/>
                    <a:cs typeface="Arial"/>
                  </a:rPr>
                  <a:t>p50 latency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latin typeface="Arial"/>
                  <a:ea typeface="Arial"/>
                  <a:cs typeface="Arial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02EEB3-788F-4ED5-A664-9F5AE4022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4775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46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Deadline-aware</a:t>
            </a:r>
          </a:p>
          <a:p xmlns:a="http://schemas.openxmlformats.org/drawingml/2006/main">
            <a:r>
              <a:rPr sz="46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Foveated Reconstruction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CBC617-9461-4608-931D-E22E3F481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9565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325" b="0">
                <a:solidFill>
                  <a:srgbClr val="086B93"/>
                </a:solidFill>
                <a:latin typeface="Arial"/>
                <a:ea typeface="Arial"/>
                <a:cs typeface="Arial"/>
              </a:rPr>
              <a:t>Research weekly update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5695AA-4798-4420-8907-D01242B9F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6720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Network jitter, reconstruction design, and Xavier measurements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208E2D-864E-4107-8115-EAD74B3F3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48350"/>
            <a:ext cx="9525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2026-10-29</a:t>
            </a:r>
          </a:p>
        </p:txBody>
      </p:sp>
    </p:spTree>
    <p:extLst>
      <p:ext uri="{BB962C8B-B14F-4D97-AF65-F5344CB8AC3E}">
        <p14:creationId xmlns:p14="http://schemas.microsoft.com/office/powerpoint/2010/main" val="85427816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DC6E868-0ABE-43EA-8F28-3175E0C03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Jitter reduces the reconstruction budget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3D368B-C1B2-4AF4-9FC7-E0E674E97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0E5FCA-344B-46D5-91DA-379C5E5FB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582A2A-8936-4FBD-807B-281AF9493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25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Later input readiness leaves less time before the display deadline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8DDC34-B3BC-4469-AF95-2BB26E111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241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Early arrival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D850A1-00A4-4D10-94DA-7D728B0A1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47650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FE5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3BB536-CAD8-468B-B01B-4CC603D0A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76500"/>
            <a:ext cx="5505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148B83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94EE25-AF36-45F7-B826-CE92676C3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476500"/>
            <a:ext cx="76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DD9"/>
          </a:solidFill>
          <a:ln xmlns:a="http://schemas.openxmlformats.org/drawingml/2006/main" w="14288">
            <a:solidFill>
              <a:srgbClr val="D17B2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51A50A-5917-4904-B933-2DBF1564C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552700"/>
            <a:ext cx="6076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Budget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A16AD5-47D6-4B84-BB44-83E58E969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24100"/>
            <a:ext cx="0" cy="704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8B83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C6D9E7-2744-46C6-A902-4B1E78B92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766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Typical arrival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B3CE53-AB77-42B9-BF6F-A1FF4D35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429000"/>
            <a:ext cx="3905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FE5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562EA8-9B66-4A36-9172-8ED74E57A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29000"/>
            <a:ext cx="36957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7712F1-B510-41E9-9AF8-609D3DDFA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429000"/>
            <a:ext cx="76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DD9"/>
          </a:solidFill>
          <a:ln xmlns:a="http://schemas.openxmlformats.org/drawingml/2006/main" w="14288">
            <a:solidFill>
              <a:srgbClr val="D17B28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CA1DFE-0BD8-4BF2-8E10-62D61FF71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505200"/>
            <a:ext cx="4267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Budget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D151D0-A61D-478A-BAD6-EF580F52D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76600"/>
            <a:ext cx="0" cy="704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86B93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D5CB58-5E54-4C14-9265-31254BFB8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42912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Late arrival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66A9D0-FEDB-45BB-A927-8283A588D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381500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FE5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C87498-D935-49D8-B5C6-0EF901C55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381500"/>
            <a:ext cx="1695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D17B2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B8E07C-D950-4B18-BEFF-DF7093A53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381500"/>
            <a:ext cx="76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DD9"/>
          </a:solidFill>
          <a:ln xmlns:a="http://schemas.openxmlformats.org/drawingml/2006/main" w="14288">
            <a:solidFill>
              <a:srgbClr val="D17B2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C1B058-7314-45A0-8A5C-422A62672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457700"/>
            <a:ext cx="2266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1">
                <a:solidFill>
                  <a:srgbClr val="D17B28"/>
                </a:solidFill>
                <a:latin typeface="Arial"/>
                <a:ea typeface="Arial"/>
                <a:cs typeface="Arial"/>
              </a:rPr>
              <a:t>Budget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78FE27-51BA-490B-AAA7-43752D30E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229100"/>
            <a:ext cx="0" cy="704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17B28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447E2F-E531-45D9-8EA8-8E97999F8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171700"/>
            <a:ext cx="0" cy="2895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17B28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E41374-00E9-408C-929C-0DFE67C78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895475"/>
            <a:ext cx="1952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D17B28"/>
                </a:solidFill>
                <a:latin typeface="Arial"/>
                <a:ea typeface="Arial"/>
                <a:cs typeface="Arial"/>
              </a:rPr>
              <a:t>Deadline 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3650CC-83E2-4DE5-8A5A-DD1A28AE1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133975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D17B28"/>
                </a:solidFill>
                <a:latin typeface="Arial"/>
                <a:ea typeface="Arial"/>
                <a:cs typeface="Arial"/>
              </a:rPr>
              <a:t>Display reserve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C777F20-8D32-475F-9136-9D2CC7589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400675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Transfer + decode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88F68B-8DD1-432E-A474-A4D939F68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400675"/>
            <a:ext cx="581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B = D − t_ready − T_display − margin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BC1B98-7CBB-49B8-8AB8-0E0AA3835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Schematic, not a measured jitter trace. A 90 FPS frame period is 11.11 ms, not a validated end-to-end deadline.</a:t>
            </a:r>
          </a:p>
        </p:txBody>
      </p:sp>
    </p:spTree>
    <p:extLst>
      <p:ext uri="{BB962C8B-B14F-4D97-AF65-F5344CB8AC3E}">
        <p14:creationId xmlns:p14="http://schemas.microsoft.com/office/powerpoint/2010/main" val="17039725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EBD178-71E8-4BA1-AAC4-A87C35AEB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Budget-based reconstruction selection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D37D8F-E06C-49CC-BB56-BFB5B82F3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EC055D-265A-483B-90D1-B446BDBD8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7E3E80-5C4D-432B-A62A-D6391429A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9431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77E0DE-FBD7-4652-A889-CCA2C06C3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38400"/>
            <a:ext cx="1676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Inputs ready</a:t>
            </a:r>
          </a:p>
          <a:p xmlns:a="http://schemas.openxmlformats.org/drawingml/2006/main">
            <a:r>
              <a:rPr sz="1875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(after decode)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9514C7-6A99-4D5A-B695-55FA5F0A5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686050"/>
            <a:ext cx="219075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6B93"/>
          </a:solidFill>
          <a:ln xmlns:a="http://schemas.openxmlformats.org/drawingml/2006/main" w="0">
            <a:solidFill>
              <a:srgbClr val="086B93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F00EE4-20B5-40F9-B831-B130C24B1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171700"/>
            <a:ext cx="19431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9E4B8D-F981-4EB1-B32A-452FFC8F0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438400"/>
            <a:ext cx="1676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Estimate</a:t>
            </a:r>
          </a:p>
          <a:p xmlns:a="http://schemas.openxmlformats.org/drawingml/2006/main">
            <a:r>
              <a:rPr sz="1875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budget 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2BFE5D-FE35-4F65-B727-D98F682A5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686050"/>
            <a:ext cx="219075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6B93"/>
          </a:solidFill>
          <a:ln xmlns:a="http://schemas.openxmlformats.org/drawingml/2006/main" w="0">
            <a:solidFill>
              <a:srgbClr val="086B93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67ED87-1A53-47A0-BE78-E0E81306B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171700"/>
            <a:ext cx="19431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3DFE62-8B5A-4711-AFAF-957B85359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438400"/>
            <a:ext cx="1676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Latency profile</a:t>
            </a:r>
          </a:p>
          <a:p xmlns:a="http://schemas.openxmlformats.org/drawingml/2006/main">
            <a:r>
              <a:rPr sz="1875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ROI selection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CCAD91-34E0-47D4-8CA1-7ED3C0560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686050"/>
            <a:ext cx="219075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6B93"/>
          </a:solidFill>
          <a:ln xmlns:a="http://schemas.openxmlformats.org/drawingml/2006/main" w="0">
            <a:solidFill>
              <a:srgbClr val="086B93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F1BA39-C7A5-44D7-A47E-C77F23819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71700"/>
            <a:ext cx="19431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148B83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B68100-B62B-4D9F-A229-1AB7C0875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438400"/>
            <a:ext cx="1676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Reconstruct</a:t>
            </a:r>
          </a:p>
          <a:p xmlns:a="http://schemas.openxmlformats.org/drawingml/2006/main">
            <a:r>
              <a:rPr sz="1875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and blend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2AF523-13C6-49AB-ABBF-028065E2F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686050"/>
            <a:ext cx="219075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6B93"/>
          </a:solidFill>
          <a:ln xmlns:a="http://schemas.openxmlformats.org/drawingml/2006/main" w="0">
            <a:solidFill>
              <a:srgbClr val="086B9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57F035-A82B-4516-A956-53CDFD9E2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171700"/>
            <a:ext cx="19431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F181D2-CD69-416B-B6E4-6307EC096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438400"/>
            <a:ext cx="1676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Submit</a:t>
            </a:r>
          </a:p>
          <a:p xmlns:a="http://schemas.openxmlformats.org/drawingml/2006/main">
            <a:r>
              <a:rPr sz="1875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for display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0F1C75-A03D-4B93-9093-1B3912A26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7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Proposed rule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D8A181-46E7-4F32-A758-B21CF3BFC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010025"/>
            <a:ext cx="8810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Choose the highest-quality level with T̂(level) ≤ B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6CA594-5560-4E3C-9476-D1673083F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572000"/>
            <a:ext cx="8810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0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Use a conservative latency percentile. Validate prediction error and margin.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686258-7281-43AA-88F1-DD31FFBE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Implemented: fixed-center FOV sweep and latency profiles. Dynamic scheduling and deadline-miss reduction remain unverified.</a:t>
            </a:r>
          </a:p>
        </p:txBody>
      </p:sp>
    </p:spTree>
    <p:extLst>
      <p:ext uri="{BB962C8B-B14F-4D97-AF65-F5344CB8AC3E}">
        <p14:creationId xmlns:p14="http://schemas.microsoft.com/office/powerpoint/2010/main" val="132909291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EEDAA3-B3D7-442D-99EB-470C054FD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Half-resolution base with a full-resolution center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A7A2F2-AC1E-43E5-8AA4-E7C3CB4A2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E48D4C-1825-422D-9C2D-509618E4A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0B250A-6DC6-45AD-B68F-79C3B26AA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25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Shared image, disparity, and optical-flow inputs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8E1445-0955-4A04-BE7E-B8D462F9E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62200"/>
            <a:ext cx="3048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7AAC80-ABD1-4AD8-B8EE-93C5785AC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762250"/>
            <a:ext cx="2238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Full-image base</a:t>
            </a:r>
          </a:p>
          <a:p xmlns:a="http://schemas.openxmlformats.org/drawingml/2006/main">
            <a:r>
              <a:rPr sz="21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480 × 270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52B89B-0897-4BB5-A357-E90874CFC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57675"/>
            <a:ext cx="3524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Half resolution in the periphery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C31FA1-608D-4E67-80E8-E0D7BEF5A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362200"/>
            <a:ext cx="3048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7DFE5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C3AFFD-5B96-4B35-9CF3-93C2821F4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895600"/>
            <a:ext cx="1047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148B83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B1AAA3-D139-4A68-9C46-87FC788F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105150"/>
            <a:ext cx="1428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ROI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4C16C3-BC19-4FF6-87CB-239C27733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924175"/>
            <a:ext cx="428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C6FC62-6789-4C77-B5FF-D21854BA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257675"/>
            <a:ext cx="3524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Full resolution within the ROI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171BCA-A3B9-4900-AED6-B383CD069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67050"/>
            <a:ext cx="5715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8B83"/>
          </a:solidFill>
          <a:ln xmlns:a="http://schemas.openxmlformats.org/drawingml/2006/main" w="0">
            <a:solidFill>
              <a:srgbClr val="148B83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C6A5CE-6CAC-481C-A5CD-EA872EF88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362200"/>
            <a:ext cx="2857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6"/>
          </a:solidFill>
          <a:ln xmlns:a="http://schemas.openxmlformats.org/drawingml/2006/main" w="14288">
            <a:solidFill>
              <a:srgbClr val="086B93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213E30-2484-4C9D-9831-DEEBDAB6A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2895600"/>
            <a:ext cx="857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48B8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9E5583-22E9-41EA-826D-26F44FEFB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4005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Upsample + blend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1DFD5B-A934-43CB-BA52-69CD1B218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4857750"/>
            <a:ext cx="2714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9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960 × 540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4D3F72-E75A-4892-ABBD-08C6DD94E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175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ROI sizes: 80×46, 160×90, 320×180, 480×270, 640×360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2883A9-AF83-4F48-8763-0D0AA2DFF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Fixed center, 3 px halo, and edge blending. Diagram not to scale. Eye tracking is not integrated.</a:t>
            </a:r>
          </a:p>
        </p:txBody>
      </p:sp>
    </p:spTree>
    <p:extLst>
      <p:ext uri="{BB962C8B-B14F-4D97-AF65-F5344CB8AC3E}">
        <p14:creationId xmlns:p14="http://schemas.microsoft.com/office/powerpoint/2010/main" val="9842194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1DCE78-B136-4953-ACB5-C81198A9B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Coverage and measurement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9A9AA1-92C6-4E74-AF7F-EA838C381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676A93-A66F-4BFD-B4F7-C433AFFE6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B85B44-8B9C-4B59-B1E0-4234DE72F0CD}"/>
              </a:ext>
            </a:extLst>
          </p:cNvPr>
          <p:cNvGraphicFramePr/>
          <p:nvPr/>
        </p:nvGraphicFramePr>
        <p:xfrm>
          <a:off xmlns:a="http://schemas.openxmlformats.org/drawingml/2006/main" x="609600" y="1590675"/>
          <a:ext xmlns:a="http://schemas.openxmlformats.org/drawingml/2006/main" cx="62865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1333500"/>
                <a:gridCol w="2667000"/>
              </a:tblGrid>
              <a:tr h="6286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Forward sequence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Frames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Right-eye frame IDs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15 mm / 300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147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Odd frames 7–299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15 mm / 800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387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Odd frames 7–779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35 mm / 300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147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Odd frames 7–299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35 mm / 800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387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Odd frames 7–779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885F77-8164-468F-8043-D8E437B1A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638300"/>
            <a:ext cx="342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6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1068 frames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749E97-2BC4-4CCD-A272-84F6A70A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552700"/>
            <a:ext cx="38100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95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Xavier 15W Desktop</a:t>
            </a:r>
          </a:p>
          <a:p xmlns:a="http://schemas.openxmlformats.org/drawingml/2006/main">
            <a:r>
              <a:rPr sz="195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CUDA 11.4, unlocked clocks</a:t>
            </a:r>
          </a:p>
          <a:p xmlns:a="http://schemas.openxmlformats.org/drawingml/2006/main">
            <a:r>
              <a:rPr sz="195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3 warmups + 5 timed runs/frame</a:t>
            </a:r>
          </a:p>
          <a:p xmlns:a="http://schemas.openxmlformats.org/drawingml/2006/main">
            <a:r>
              <a:rPr sz="1950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One quality output/config/frame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4B9368-17C9-4E16-8F66-F5AE02387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10810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025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Resident: GPU-resident inputs, reconstruction, upsampling, and blending</a:t>
            </a:r>
          </a:p>
          <a:p xmlns:a="http://schemas.openxmlformats.org/drawingml/2006/main">
            <a:r>
              <a:rPr sz="2025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Stream: also includes input upload and output download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CCD8DB-40CF-4CAC-8FA5-50E48D3CA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Excludes backward scenes, even frames, and unsupported tail frames. Timing excludes I/O, allocation, network, decoding, and display.</a:t>
            </a:r>
          </a:p>
        </p:txBody>
      </p:sp>
    </p:spTree>
    <p:extLst>
      <p:ext uri="{BB962C8B-B14F-4D97-AF65-F5344CB8AC3E}">
        <p14:creationId xmlns:p14="http://schemas.microsoft.com/office/powerpoint/2010/main" val="153463791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9037B5-D6E8-499A-86F3-4E81B7BF5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Smaller ROIs reduce reconstruction latency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BAFDB1-8DF9-4A81-AA82-3C007B810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4B7DCC-786B-4049-84FC-CF66DCBC3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6879EB65-2339-4500-B855-83CD35645EE0}"/>
              </a:ext>
            </a:extLst>
          </p:cNvPr>
          <p:cNvGraphicFramePr/>
          <p:nvPr/>
        </p:nvGraphicFramePr>
        <p:xfrm>
          <a:off xmlns:a="http://schemas.openxmlformats.org/drawingml/2006/main" x="609600" y="1676400"/>
          <a:ext xmlns:a="http://schemas.openxmlformats.org/drawingml/2006/main" cx="77152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e44980139134222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E28F57-DCEF-4234-844B-F2CE730F7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2405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62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160 × 90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6B61A3-AC58-456F-96AE-F44C9060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19375"/>
            <a:ext cx="285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375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4.637 ms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F8C96E-E53C-40C8-8131-8FBDADDA5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05175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resident p50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BD9D79-49E0-4A6A-AFDD-15AFC17DF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71925"/>
            <a:ext cx="266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450" b="1">
                <a:solidFill>
                  <a:srgbClr val="148B83"/>
                </a:solidFill>
                <a:latin typeface="Arial"/>
                <a:ea typeface="Arial"/>
                <a:cs typeface="Arial"/>
              </a:rPr>
              <a:t>2.32×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DA8CA3-7CF0-48FE-B260-7E19C27BE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19625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versus measured full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93F5BE-6DE6-4A9E-8B64-CFDB0E522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Fast resampling enabled. Cross-implementation gains also include upsampling changes, not only FOV. No claim of an optimal full baseline.</a:t>
            </a:r>
          </a:p>
        </p:txBody>
      </p:sp>
    </p:spTree>
    <p:extLst>
      <p:ext uri="{BB962C8B-B14F-4D97-AF65-F5344CB8AC3E}">
        <p14:creationId xmlns:p14="http://schemas.microsoft.com/office/powerpoint/2010/main" val="9076307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D0B137-96C4-473A-9E1C-795494FC2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Quality–latency trade-off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B9FF6C-89F3-4682-9B82-EFF3B97D0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2D5BC5-B08B-46A2-8F8C-B41DD64EF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28D3EE-F070-4E0C-97E2-9C292D027963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2099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57375"/>
                <a:gridCol w="3286125"/>
                <a:gridCol w="2724150"/>
                <a:gridCol w="3105150"/>
              </a:tblGrid>
              <a:tr h="53498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ROI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resident p50 / p95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Right-eye ΔPSNR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Stereo mean ΔPSNR*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</a:tr>
              <a:tr h="5349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80×46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4.367 / 4.782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-0.1727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-0.0864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49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160×90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4.637 / 5.016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-0.1668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-0.0834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</a:tr>
              <a:tr h="5349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320×180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5.788 / 6.220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-0.1462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-0.0731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49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480×270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7.582 / 8.009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-0.1200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-0.0600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</a:tr>
              <a:tr h="5349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640×360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10.142 / 10.633 ms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-0.0861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-0.0430 dB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DDDF4F-399D-4A77-B343-80B7BD53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* Unchanged left eye, mean per-eye PSNR in dB: stereo difference = right-eye difference / 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B496E0-8A3E-49A0-8B5E-345277B37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7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ΔPSNR = FOV − full, using original overflow PSNR. Standard PSNR can show a different trend.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6A9112-544B-470F-99F6-23EFF9EBE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Stereo values are derived; latency is not halved. Non-atomic writes remain. SSIM/LPIPS are not measured.</a:t>
            </a:r>
          </a:p>
        </p:txBody>
      </p:sp>
    </p:spTree>
    <p:extLst>
      <p:ext uri="{BB962C8B-B14F-4D97-AF65-F5344CB8AC3E}">
        <p14:creationId xmlns:p14="http://schemas.microsoft.com/office/powerpoint/2010/main" val="198972472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F20226-30BC-4012-A5D8-D03A7CF24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Numba runs on Xavier: a small-sample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74A939-3E61-49EB-BB4E-5F0D7D7A6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3769DB-7BD3-4E61-A7A5-A794A0F7D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72B5A8-59EA-4640-AF17-0E588DE3916E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2714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67000"/>
                <a:gridCol w="2667000"/>
                <a:gridCol w="2819400"/>
                <a:gridCol w="2819400"/>
              </a:tblGrid>
              <a:tr h="54292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Sequence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Full (ms)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ROI 160×90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ROI 320×180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T w="9525">
                      <a:solidFill>
                        <a:srgbClr val="D7DFE5"/>
                      </a:solidFill>
                      <a:prstDash val="solid"/>
                    </a:lnT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152D43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15_300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14.653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8.923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10.299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15_800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14.421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8.900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10.280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35_300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14.536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8.910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10.322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35_800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7DFE5"/>
                      </a:solidFill>
                      <a:prstDash val="solid"/>
                    </a:lnL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14.534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8.936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52D43"/>
                          </a:solidFill>
                          <a:latin typeface="Arial"/>
                          <a:ea typeface="Arial"/>
                          <a:cs typeface="Arial"/>
                        </a:rPr>
                        <a:t>10.331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7DFE5"/>
                      </a:solidFill>
                      <a:prstDash val="solid"/>
                    </a:lnR>
                    <a:lnB w="9525">
                      <a:solidFill>
                        <a:srgbClr val="D7DFE5"/>
                      </a:solidFill>
                      <a:prstDash val="solid"/>
                    </a:lnB>
                    <a:solidFill>
                      <a:srgbClr val="EAF3F6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63FD27-E509-4108-841B-6F969C702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95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15W. Frame 39 per sequence, 100 repeats. Preallocated resident-path p50.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49EFA3-7A4E-4C44-A579-FFC55D5E8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75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Numba 0.58.1 + Python 3.8: real GPU JIT and execution passed.</a:t>
            </a:r>
          </a:p>
          <a:p xmlns:a="http://schemas.openxmlformats.org/drawingml/2006/main">
            <a:r>
              <a:rPr sz="1875" b="0">
                <a:solidFill>
                  <a:srgbClr val="152D43"/>
                </a:solidFill>
                <a:latin typeface="Arial"/>
                <a:ea typeface="Arial"/>
                <a:cs typeface="Arial"/>
              </a:rPr>
              <a:t>Its upsampler differs from optimized CUDA C++; this is not a language-only comparison.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2C828E-A88C-4A8E-99D2-A389E9465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Original generate_right also runs, with allocation/transfer and startup drift. 30W awaits an authenticated power-mode switch.</a:t>
            </a:r>
          </a:p>
        </p:txBody>
      </p:sp>
    </p:spTree>
    <p:extLst>
      <p:ext uri="{BB962C8B-B14F-4D97-AF65-F5344CB8AC3E}">
        <p14:creationId xmlns:p14="http://schemas.microsoft.com/office/powerpoint/2010/main" val="14540225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7DF122-3D27-4782-9121-8681FDCF1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15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Next: measure deadline behavior under jitter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E06667-6C81-4395-B134-59242FB86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FE5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481E1A-A0A2-4B83-8AA6-61380BCEF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2937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7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6F45A1-317B-4620-9459-379E86A7C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04975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0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18A054-5307-4647-B1E9-1C253012A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04975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Record the actual per-frame budget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6B6DFE-8DAE-4348-9AF5-B844193EE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47900"/>
            <a:ext cx="995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0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Log arrival, decode completion, and display deadline. Reserve display time and a margin.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9F79C0-007C-49D2-BE59-C6F36E86B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00375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0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AF5CFA-4BC3-4EC4-A439-A935544BB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000375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Implement budget-based ROI selection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A890D5-8B03-40F8-BEFE-66E3F8055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43300"/>
            <a:ext cx="995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0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Build a percentile-based profile. Define a fallback when no level fits the budget.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700896-B886-4EC7-A12F-80D2F6822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95775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3000" b="1">
                <a:solidFill>
                  <a:srgbClr val="086B9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30A238-F2CE-4BA6-87FE-52229B148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95775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152D43"/>
                </a:solidFill>
                <a:latin typeface="Arial"/>
                <a:ea typeface="Arial"/>
                <a:cs typeface="Arial"/>
              </a:rPr>
              <a:t>Compare fixed and adaptive policies on the same trace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183BD2-6284-402A-80D6-7FECBBBE0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38700"/>
            <a:ext cx="995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0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Report deadline-miss rate, tail latency, and quality. Repeat runs to check stability.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8362FE-1559-4D43-9D43-E174FC8E0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Measured: fixed-center quality–latency levels. Adaptive scheduling and benefits under jitter still require validation.</a:t>
            </a:r>
          </a:p>
        </p:txBody>
      </p:sp>
    </p:spTree>
    <p:extLst>
      <p:ext uri="{BB962C8B-B14F-4D97-AF65-F5344CB8AC3E}">
        <p14:creationId xmlns:p14="http://schemas.microsoft.com/office/powerpoint/2010/main" val="100159860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2026-10-30T02:43:51.0940000Z</dcterms:created>
  <dcterms:modified xsi:type="dcterms:W3CDTF">2026-10-30T02:43:51.0940000Z</dcterms:modified>
</coreProperties>
</file>