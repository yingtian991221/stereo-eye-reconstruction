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61736fc1cb34d69" /><Relationship Type="http://schemas.openxmlformats.org/officeDocument/2006/relationships/extended-properties" Target="/docProps/app.xml" Id="Rf94c7676b43b48ad" /><Relationship Type="http://schemas.openxmlformats.org/officeDocument/2006/relationships/officeDocument" Target="/ppt/presentation.xml" Id="R99fb691ee0d04b2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ca1053cbf0c485f"/>
  </p:sldMasterIdLst>
  <p:notesMasterIdLst>
    <p:notesMasterId xmlns:r="http://schemas.openxmlformats.org/officeDocument/2006/relationships" r:id="Rde2cca9fd979416c"/>
  </p:notesMasterIdLst>
  <p:sldIdLst>
    <p:sldId xmlns:r="http://schemas.openxmlformats.org/officeDocument/2006/relationships" id="256" r:id="Rc44a82475b684fc6"/>
    <p:sldId xmlns:r="http://schemas.openxmlformats.org/officeDocument/2006/relationships" id="257" r:id="Re391d4f25ddb4bba"/>
    <p:sldId xmlns:r="http://schemas.openxmlformats.org/officeDocument/2006/relationships" id="258" r:id="Recac69d6359c4db1"/>
    <p:sldId xmlns:r="http://schemas.openxmlformats.org/officeDocument/2006/relationships" id="259" r:id="R5b46e918a1164032"/>
    <p:sldId xmlns:r="http://schemas.openxmlformats.org/officeDocument/2006/relationships" id="260" r:id="R158a05bf337b4ffd"/>
    <p:sldId xmlns:r="http://schemas.openxmlformats.org/officeDocument/2006/relationships" id="261" r:id="Rda2e366a379d4fe3"/>
    <p:sldId xmlns:r="http://schemas.openxmlformats.org/officeDocument/2006/relationships" id="262" r:id="R095801c8aa8e474b"/>
    <p:sldId xmlns:r="http://schemas.openxmlformats.org/officeDocument/2006/relationships" id="263" r:id="R3b354d18e76c4f0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4be9f51930f40a7" /><Relationship Type="http://schemas.openxmlformats.org/officeDocument/2006/relationships/slideMaster" Target="/ppt/slideMasters/slideMaster1.xml" Id="R7ca1053cbf0c485f" /><Relationship Type="http://schemas.openxmlformats.org/officeDocument/2006/relationships/notesMaster" Target="/ppt/notesMasters/notesMaster1.xml" Id="Rde2cca9fd979416c" /><Relationship Type="http://schemas.openxmlformats.org/officeDocument/2006/relationships/presProps" Target="/ppt/presProps.xml" Id="R797c9e870746429f" /><Relationship Type="http://schemas.openxmlformats.org/officeDocument/2006/relationships/tableStyles" Target="/ppt/tableStyles.xml" Id="R649c77611dec49fa" /><Relationship Type="http://schemas.openxmlformats.org/officeDocument/2006/relationships/slide" Target="/ppt/slides/slide1.xml" Id="Rc44a82475b684fc6" /><Relationship Type="http://schemas.openxmlformats.org/officeDocument/2006/relationships/slide" Target="/ppt/slides/slide2.xml" Id="Re391d4f25ddb4bba" /><Relationship Type="http://schemas.openxmlformats.org/officeDocument/2006/relationships/slide" Target="/ppt/slides/slide3.xml" Id="Recac69d6359c4db1" /><Relationship Type="http://schemas.openxmlformats.org/officeDocument/2006/relationships/slide" Target="/ppt/slides/slide4.xml" Id="R5b46e918a1164032" /><Relationship Type="http://schemas.openxmlformats.org/officeDocument/2006/relationships/slide" Target="/ppt/slides/slide5.xml" Id="R158a05bf337b4ffd" /><Relationship Type="http://schemas.openxmlformats.org/officeDocument/2006/relationships/slide" Target="/ppt/slides/slide6.xml" Id="Rda2e366a379d4fe3" /><Relationship Type="http://schemas.openxmlformats.org/officeDocument/2006/relationships/slide" Target="/ppt/slides/slide7.xml" Id="R095801c8aa8e474b" /><Relationship Type="http://schemas.openxmlformats.org/officeDocument/2006/relationships/slide" Target="/ppt/slides/slide8.xml" Id="R3b354d18e76c4f0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735d96280da450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d32df99ffc34339" /><Relationship Type="http://schemas.openxmlformats.org/officeDocument/2006/relationships/notesMaster" Target="/ppt/notesMasters/notesMaster1.xml" Id="R0e96b6ad14a4461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8b1a5cead764ca3" /><Relationship Type="http://schemas.openxmlformats.org/officeDocument/2006/relationships/notesMaster" Target="/ppt/notesMasters/notesMaster1.xml" Id="Rc619182e14c4475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7574aca68714a9c" /><Relationship Type="http://schemas.openxmlformats.org/officeDocument/2006/relationships/notesMaster" Target="/ppt/notesMasters/notesMaster1.xml" Id="R17aeb9bd5957418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9aed40416624378" /><Relationship Type="http://schemas.openxmlformats.org/officeDocument/2006/relationships/notesMaster" Target="/ppt/notesMasters/notesMaster1.xml" Id="R95e91be4f1ca4fa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f444ccc109d4b12" /><Relationship Type="http://schemas.openxmlformats.org/officeDocument/2006/relationships/notesMaster" Target="/ppt/notesMasters/notesMaster1.xml" Id="R6d4136ed0d0d48d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f0e697ac3244fde" /><Relationship Type="http://schemas.openxmlformats.org/officeDocument/2006/relationships/notesMaster" Target="/ppt/notesMasters/notesMaster1.xml" Id="R7d44526fc50c4d4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4342d23b4094771" /><Relationship Type="http://schemas.openxmlformats.org/officeDocument/2006/relationships/notesMaster" Target="/ppt/notesMasters/notesMaster1.xml" Id="Rb78e80a4720f4fa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949bafa995d4fe3" /><Relationship Type="http://schemas.openxmlformats.org/officeDocument/2006/relationships/notesMaster" Target="/ppt/notesMasters/notesMaster1.xml" Id="Rd7578d71831f4b1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Weekly update. This deck distinguishes the proposed deadline scheduler from the implemented fixed-center FOV sweep. No measured network jitter or deadline-miss improvement is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Schematic only, not measured data. 90 FPS gives a frame period of 1000/90=11.11 ms. Frame period is not an established end-to-end deadline. The bars illustrate arrival/decode variability relative to a chosen display deadline.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adaptive mechanism, not implemented/validated. After inputs are ready, more remaining reconstruction time allows a larger full-resolution region; less time calls for a smaller region. The half-resolution base still covers the full image. Region sizes in this schematic are illustrative, not quantitative. Current implementation covers a fixed-center FOV sweep and latency profiles.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results/fov_levels_xavier_full_20261027/README.md; overview.csv; summary.csv. Commit 0f1506c. Date 2026-10-27. Raw evidence: evidence.tar.gz. Mechanism: half-resolution base + padded full-resolution ROI + feather overlay. Region percentages are spatial coverage of a 960x540 image: 80x46=0.7098765%, 160x90=2.7777778%, 320x180=11.1111111%, 480x270=25%, 640x360=44.4444444%. The base samples at 50% width and 50% height, giving 25% as many pixels (480x270), while covering the entire image. Region coverage and sampling resolution are different quantities.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results/fov_levels_xavier_full_20261027/README.md; overview.csv; summary.csv. Commit 0f1506c. Date 2026-10-27. Raw evidence: evidence.tar.gz. Timing source: results/cu_breakdown_xavier_20261029/README.md and results/fov_decode_budget_2ms_20261029/summary.csv. Timing: 30W 4CORE mode5, unlocked clocks, four driving workloads each frame39, 10 warmups and 100 timed repetitions per path. Staged CUDA-event GPU timeline, not wall time; events can include launch gaps. Quality: previous 15W evaluation, 1068 valid forward odd frames, one quality output per configuration and frame. These are separate experiments, not jointly measured quality-latency pairs.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results/cu_breakdown_xavier_20261029/README.md; results/fov_decode_budget_2ms_20261029/summary.csv. Four workloads, each frame39; 10 warmups and 100 timed runs per path. Arithmetic means of staged resident GPU timelines, not wall time. Full uses the paired baseline from the 2.8% configuration. Fixed decode budget is 2 ms once per frame, not measured joint RGB/depth/flow decoding or measured end-to-end timing. No input/output copies, network or display. Fast resampling enabled. Clearing dominates Full and accounts for about 58% of the Full-to-2.8% reconstruction saving, so the gain cannot be attributed entirely to reduced reprojection computation. No claim of an optimal Full baseline.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results/fov_levels_xavier_full_20261027/README.md; overview.csv; summary.csv. Commit 0f1506c. Date 2026-10-27. Raw evidence: evidence.tar.gz. Original uint8-overflow PSNR preserved. Stereo delta is derived only if left eye remains unchanged and per-eye PSNR dB is averaged. Quality: 15W, 1068 frames. Timing: separate 30W four-frame CUDA staged GPU experiment; not joint measurements and no new quality equivalence verified. Timing is never divided by two. Latency adds a fixed 2 ms per-frame decode budget once, not measured decoding or end-to-end latency. Source: results/fov_decode_budget_2ms_20261029/summary.csv.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future work; no measured jitter trace or deadline-miss reduction exists in the current experiment. Slides 6–7 add a fixed 2 ms decode budget to local reconstruction means. Other timing values are local reconstruction measurements. None are measured end-to-end VR results.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ae32251536453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89d9d45e8a49f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5a997497d6466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7e159f9a8f4ca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727d5533ff406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4d44e3737e451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FEE180B-B391-4566-B228-D1E04700282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951D5504-1335-4E57-B3C8-C1B0E480ACF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DB74584-9611-4101-98B6-85A7848539A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64199E0-B7F2-4DB6-AFC4-ECA2793DE0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5D6F6FE-A9BA-4DAC-8EAD-90FA03099A3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484D47D-1E5D-4F41-9C39-4DEAB53DC7B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707FB4C-70BE-4CB6-96D0-9FE41028427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BF24391E-9A9A-4004-AECC-7A5BAEB90E5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8E062D7-29BF-4D64-899A-3E9C73ABE2B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B3C3C8F-20C3-4776-8576-5E1973D9C27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e4d8f2e5a4a4473" /><Relationship Type="http://schemas.openxmlformats.org/officeDocument/2006/relationships/slideLayout" Target="/ppt/slideLayouts/slideLayout1.xml" Id="Rf13116748e6548c0" /><Relationship Type="http://schemas.openxmlformats.org/officeDocument/2006/relationships/slideLayout" Target="/ppt/slideLayouts/slideLayout2.xml" Id="Rad1425ba87424009" /><Relationship Type="http://schemas.openxmlformats.org/officeDocument/2006/relationships/slideLayout" Target="/ppt/slideLayouts/slideLayout3.xml" Id="R3fb2548c22854566" /><Relationship Type="http://schemas.openxmlformats.org/officeDocument/2006/relationships/slideLayout" Target="/ppt/slideLayouts/slideLayout4.xml" Id="Ra6657312b3214369" /><Relationship Type="http://schemas.openxmlformats.org/officeDocument/2006/relationships/slideLayout" Target="/ppt/slideLayouts/slideLayout5.xml" Id="R4dcaf2e14cb44152" /><Relationship Type="http://schemas.openxmlformats.org/officeDocument/2006/relationships/slideLayout" Target="/ppt/slideLayouts/slideLayout6.xml" Id="Re59bd741f9e343e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13116748e6548c0"/>
    <p:sldLayoutId xmlns:r="http://schemas.openxmlformats.org/officeDocument/2006/relationships" id="2147483650" r:id="Rad1425ba87424009"/>
    <p:sldLayoutId xmlns:r="http://schemas.openxmlformats.org/officeDocument/2006/relationships" id="2147483651" r:id="R3fb2548c22854566"/>
    <p:sldLayoutId xmlns:r="http://schemas.openxmlformats.org/officeDocument/2006/relationships" id="2147483652" r:id="Ra6657312b3214369"/>
    <p:sldLayoutId xmlns:r="http://schemas.openxmlformats.org/officeDocument/2006/relationships" id="2147483653" r:id="R4dcaf2e14cb44152"/>
    <p:sldLayoutId xmlns:r="http://schemas.openxmlformats.org/officeDocument/2006/relationships" id="2147483654" r:id="Re59bd741f9e343e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c6f8596f7524bd4" /><Relationship Type="http://schemas.openxmlformats.org/officeDocument/2006/relationships/notesSlide" Target="/ppt/notesSlides/notesSlide1.xml" Id="R111da007554c4f6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525229b72be42d7" /><Relationship Type="http://schemas.openxmlformats.org/officeDocument/2006/relationships/notesSlide" Target="/ppt/notesSlides/notesSlide2.xml" Id="R28398bfca13544d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570d8179e8c42ef" /><Relationship Type="http://schemas.openxmlformats.org/officeDocument/2006/relationships/notesSlide" Target="/ppt/notesSlides/notesSlide3.xml" Id="Re8b55753af764d1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80d53b605c84a23" /><Relationship Type="http://schemas.openxmlformats.org/officeDocument/2006/relationships/notesSlide" Target="/ppt/notesSlides/notesSlide4.xml" Id="Rc04f671769be49c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51914a9fb944f6" /><Relationship Type="http://schemas.openxmlformats.org/officeDocument/2006/relationships/notesSlide" Target="/ppt/notesSlides/notesSlide5.xml" Id="R3937b897934f43a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978d85ab5d64e61" /><Relationship Type="http://schemas.openxmlformats.org/officeDocument/2006/relationships/chart" Target="/ppt/slides/charts/chart1.xml" Id="R50ab8559b0a64bd2" /><Relationship Type="http://schemas.openxmlformats.org/officeDocument/2006/relationships/notesSlide" Target="/ppt/notesSlides/notesSlide6.xml" Id="R2abc3ddf0ec8413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64dfdaa302241f2" /><Relationship Type="http://schemas.openxmlformats.org/officeDocument/2006/relationships/notesSlide" Target="/ppt/notesSlides/notesSlide7.xml" Id="R1112a5b01f3b40e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63339740544842" /><Relationship Type="http://schemas.openxmlformats.org/officeDocument/2006/relationships/notesSlide" Target="/ppt/notesSlides/notesSlide8.xml" Id="R14748ecc8442465b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stacked"/>
        <c:varyColors val="0"/>
        <c:ser>
          <c:idx val="0"/>
          <c:order val="0"/>
          <c:tx>
            <c:v>Measured reconstruction</c:v>
          </c:tx>
          <c:spPr>
            <a:solidFill xmlns:a="http://schemas.openxmlformats.org/drawingml/2006/main">
              <a:srgbClr val="086B93"/>
            </a:solidFill>
          </c:spPr>
          <c:invertIfNegative val="0"/>
          <c:cat>
            <c:strRef>
              <c:f>'Chart Data'!$A$2:$A$7</c:f>
              <c:strCache>
                <c:ptCount val="6"/>
                <c:pt idx="0">
                  <c:v>Full</c:v>
                </c:pt>
                <c:pt idx="1">
                  <c:v>0.7%</c:v>
                </c:pt>
                <c:pt idx="2">
                  <c:v>2.8%</c:v>
                </c:pt>
                <c:pt idx="3">
                  <c:v>11.1%</c:v>
                </c:pt>
                <c:pt idx="4">
                  <c:v>25.0%</c:v>
                </c:pt>
                <c:pt idx="5">
                  <c:v>44.4%</c:v>
                </c:pt>
              </c:strCache>
            </c:strRef>
          </c:cat>
          <c:val>
            <c:numRef>
              <c:f>'Chart Data'!$B$2:$B$7</c:f>
              <c:numCache>
                <c:formatCode>General</c:formatCode>
                <c:ptCount val="6"/>
                <c:pt idx="0">
                  <c:v>7.996</c:v>
                </c:pt>
                <c:pt idx="1">
                  <c:v>3.248</c:v>
                </c:pt>
                <c:pt idx="2">
                  <c:v>3.462</c:v>
                </c:pt>
                <c:pt idx="3">
                  <c:v>4.318</c:v>
                </c:pt>
                <c:pt idx="4">
                  <c:v>5.637</c:v>
                </c:pt>
                <c:pt idx="5">
                  <c:v>7.543</c:v>
                </c:pt>
              </c:numCache>
            </c:numRef>
          </c:val>
        </c:ser>
        <c:ser>
          <c:idx val="1"/>
          <c:order val="1"/>
          <c:tx>
            <c:v>Fixed decode budget (2 ms)</c:v>
          </c:tx>
          <c:spPr>
            <a:solidFill xmlns:a="http://schemas.openxmlformats.org/drawingml/2006/main">
              <a:srgbClr val="D17B28"/>
            </a:solidFill>
          </c:spPr>
          <c:invertIfNegative val="0"/>
          <c:cat>
            <c:strRef>
              <c:f>'Chart Data'!$C$2:$C$7</c:f>
              <c:strCache>
                <c:ptCount val="6"/>
                <c:pt idx="0">
                  <c:v>Full</c:v>
                </c:pt>
                <c:pt idx="1">
                  <c:v>0.7%</c:v>
                </c:pt>
                <c:pt idx="2">
                  <c:v>2.8%</c:v>
                </c:pt>
                <c:pt idx="3">
                  <c:v>11.1%</c:v>
                </c:pt>
                <c:pt idx="4">
                  <c:v>25.0%</c:v>
                </c:pt>
                <c:pt idx="5">
                  <c:v>44.4%</c:v>
                </c:pt>
              </c:strCache>
            </c:strRef>
          </c:cat>
          <c:val>
            <c:numRef>
              <c:f>'Chart Data'!$D$2:$D$7</c:f>
              <c:numCache>
                <c:formatCode>General</c:formatCode>
                <c:ptCount val="6"/>
                <c:pt idx="0">
                  <c:v>2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2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7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12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FE5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latin typeface="Arial"/>
                    <a:ea typeface="Arial"/>
                    <a:cs typeface="Arial"/>
                  </a:rPr>
                  <a:t>Decode + GPU reconstruction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latin typeface="Arial"/>
                  <a:ea typeface="Arial"/>
                  <a:cs typeface="Arial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2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AC35FD-4B7A-4808-9C27-08FD8D2BA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4775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46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Deadline-aware</a:t>
            </a:r>
          </a:p>
          <a:p xmlns:a="http://schemas.openxmlformats.org/drawingml/2006/main">
            <a:r>
              <a:rPr sz="46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Foveated Reconstruction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B3FB4B-F0FF-42E5-B558-758DC6360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9565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325" b="0">
                <a:solidFill>
                  <a:srgbClr val="086B93"/>
                </a:solidFill>
                <a:latin typeface="Arial"/>
                <a:ea typeface="Arial"/>
                <a:cs typeface="Arial"/>
              </a:rPr>
              <a:t>Research weekly update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478614-551E-40A4-9C4C-83C8A7494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67200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Network jitter, reconstruction design, and Xavier measurements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C87427-EAF5-4E74-B91C-311D31F03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48350"/>
            <a:ext cx="9525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2026-10-29</a:t>
            </a:r>
          </a:p>
        </p:txBody>
      </p:sp>
    </p:spTree>
    <p:extLst>
      <p:ext uri="{BB962C8B-B14F-4D97-AF65-F5344CB8AC3E}">
        <p14:creationId xmlns:p14="http://schemas.microsoft.com/office/powerpoint/2010/main" val="29317193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D8FA9BA-C557-485C-863F-9E4BD7C6F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Jitter reduces the reconstruction budget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AE0170-D966-4095-B886-0226A2355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596B46-E5E5-4196-B3DF-D5421114F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540364-42D7-406D-8E0E-6990929CE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1085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25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Later input readiness leaves less time before the display deadline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3EADF1-E3D4-418C-BA16-034227833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2412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0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Early arrival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41D8E6-3EBF-4A77-AA35-638F27D55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47650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FE5"/>
          </a:solidFill>
          <a:ln xmlns:a="http://schemas.openxmlformats.org/drawingml/2006/main" w="14288">
            <a:solidFill>
              <a:srgbClr val="D7DFE5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4B6D2B-3FA7-4708-B8B7-7FC2A1020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76500"/>
            <a:ext cx="5505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148B83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A00B2D-FC9F-4EED-821F-18DC9D383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476500"/>
            <a:ext cx="76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DD9"/>
          </a:solidFill>
          <a:ln xmlns:a="http://schemas.openxmlformats.org/drawingml/2006/main" w="14288">
            <a:solidFill>
              <a:srgbClr val="D17B28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0D189D-4CA2-45CA-B3BC-110853409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552700"/>
            <a:ext cx="6076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725" b="1">
                <a:solidFill>
                  <a:srgbClr val="148B83"/>
                </a:solidFill>
                <a:latin typeface="Arial"/>
                <a:ea typeface="Arial"/>
                <a:cs typeface="Arial"/>
              </a:rPr>
              <a:t>Budget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FAFB12-9041-40CE-8FE2-1F1A96B96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324100"/>
            <a:ext cx="0" cy="704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48B83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5D49DE-3FC1-4963-BD13-79383AFBC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47662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0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Typical arrival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F43E90-0D70-42ED-B4D3-6D269D9D2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429000"/>
            <a:ext cx="3905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FE5"/>
          </a:solidFill>
          <a:ln xmlns:a="http://schemas.openxmlformats.org/drawingml/2006/main" w="14288">
            <a:solidFill>
              <a:srgbClr val="D7DFE5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6E8372-9D83-410B-BD78-E3590AF68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29000"/>
            <a:ext cx="36957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086B93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9C7A1A-15E0-423D-9372-92B7F73C8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429000"/>
            <a:ext cx="76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DD9"/>
          </a:solidFill>
          <a:ln xmlns:a="http://schemas.openxmlformats.org/drawingml/2006/main" w="14288">
            <a:solidFill>
              <a:srgbClr val="D17B28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CCA813-F062-44AA-B921-6CDB667F0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505200"/>
            <a:ext cx="42672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725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Budget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6FB8BE-1FAF-4CA7-8E53-3C71FE676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76600"/>
            <a:ext cx="0" cy="704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86B93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B8B42B-D9CD-401D-8820-B7C9D6D15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42912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0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Late arrival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2C2AF6-43F4-4F05-8CB5-C372720D7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4381500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FE5"/>
          </a:solidFill>
          <a:ln xmlns:a="http://schemas.openxmlformats.org/drawingml/2006/main" w="14288">
            <a:solidFill>
              <a:srgbClr val="D7DFE5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806FD0-9AE0-42B5-AB9B-BA3CA9867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381500"/>
            <a:ext cx="1695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D17B28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568A97-AD65-459C-88E8-9736E3451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381500"/>
            <a:ext cx="76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DD9"/>
          </a:solidFill>
          <a:ln xmlns:a="http://schemas.openxmlformats.org/drawingml/2006/main" w="14288">
            <a:solidFill>
              <a:srgbClr val="D17B28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4A82CF-F4EF-4814-8645-BA109DE93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457700"/>
            <a:ext cx="2266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725" b="1">
                <a:solidFill>
                  <a:srgbClr val="D17B28"/>
                </a:solidFill>
                <a:latin typeface="Arial"/>
                <a:ea typeface="Arial"/>
                <a:cs typeface="Arial"/>
              </a:rPr>
              <a:t>Budget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DA4740-6DD5-438A-BA78-080B7B287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229100"/>
            <a:ext cx="0" cy="704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17B28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DAE90E-9F00-4CA8-B816-913759262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171700"/>
            <a:ext cx="0" cy="2895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17B28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3F6C8AD-4EEE-4173-A633-5C709E750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1895475"/>
            <a:ext cx="1952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1">
                <a:solidFill>
                  <a:srgbClr val="D17B28"/>
                </a:solidFill>
                <a:latin typeface="Arial"/>
                <a:ea typeface="Arial"/>
                <a:cs typeface="Arial"/>
              </a:rPr>
              <a:t>Deadline 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293FBF7-3991-4348-B208-61597910F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5133975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D17B28"/>
                </a:solidFill>
                <a:latin typeface="Arial"/>
                <a:ea typeface="Arial"/>
                <a:cs typeface="Arial"/>
              </a:rPr>
              <a:t>Display reserve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08CD56A-B1CA-4448-A649-5CAF8ECD9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400675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Transfer + decode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15931AA-CA09-4172-9590-BC2732046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400675"/>
            <a:ext cx="581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0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B = D − t_ready − T_display − margin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BC1D921-351D-4333-823D-70CF2BB50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Schematic, not a measured jitter trace. A 90 FPS frame period is 11.11 ms, not a validated end-to-end deadline.</a:t>
            </a:r>
          </a:p>
        </p:txBody>
      </p:sp>
    </p:spTree>
    <p:extLst>
      <p:ext uri="{BB962C8B-B14F-4D97-AF65-F5344CB8AC3E}">
        <p14:creationId xmlns:p14="http://schemas.microsoft.com/office/powerpoint/2010/main" val="128160745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C5F1E0-D8E0-437D-A671-9EE943966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Adapt the full-resolution region to available time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639B5C-66C3-44DD-B4A8-88CF55414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E47D76-4B61-4E68-82AC-A0DB1580B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9CCAB6-E288-47B9-AA09-6CCB2ACCE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19325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More time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94666F-9FA1-437D-9032-63AE83984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62200"/>
            <a:ext cx="1333500" cy="2381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86B93"/>
          </a:solidFill>
          <a:ln xmlns:a="http://schemas.openxmlformats.org/drawingml/2006/main" w="0">
            <a:solidFill>
              <a:srgbClr val="086B93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8DF346-5E83-4826-8FE4-B2CB7A52E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1714500"/>
            <a:ext cx="619125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D7DFE5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F3D435-193A-46AF-A6DF-EF36D7DA6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905000"/>
            <a:ext cx="361950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6B93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81EFA4-E2F4-4914-AA4F-ACAC0D4CA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333750"/>
            <a:ext cx="5286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75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Larger full-resolution region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5B4E72-6CC4-4DFE-9C63-D6B76395A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148B83"/>
                </a:solidFill>
                <a:latin typeface="Arial"/>
                <a:ea typeface="Arial"/>
                <a:cs typeface="Arial"/>
              </a:rPr>
              <a:t>Less time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6E9A6E-5726-474A-BC0D-28CDD7529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391025"/>
            <a:ext cx="1333500" cy="2381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48B83"/>
          </a:solidFill>
          <a:ln xmlns:a="http://schemas.openxmlformats.org/drawingml/2006/main" w="0">
            <a:solidFill>
              <a:srgbClr val="148B83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D9CF34-D6DD-46F4-A8ED-54FB513A4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3857625"/>
            <a:ext cx="619125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D7DFE5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DD13F8-305F-415D-B184-2CC909298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305300"/>
            <a:ext cx="1047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48B83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87A948-516E-42C7-9A96-9F98249AC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5476875"/>
            <a:ext cx="552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75" b="1">
                <a:solidFill>
                  <a:srgbClr val="148B83"/>
                </a:solidFill>
                <a:latin typeface="Arial"/>
                <a:ea typeface="Arial"/>
                <a:cs typeface="Arial"/>
              </a:rPr>
              <a:t>Smaller full-resolution region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334C83-4985-40E6-80BA-DF9E10902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Proposed adaptation. Fixed-center levels are measured; scheduling and deadline-miss reduction remain unverified.</a:t>
            </a:r>
          </a:p>
        </p:txBody>
      </p:sp>
    </p:spTree>
    <p:extLst>
      <p:ext uri="{BB962C8B-B14F-4D97-AF65-F5344CB8AC3E}">
        <p14:creationId xmlns:p14="http://schemas.microsoft.com/office/powerpoint/2010/main" val="195804168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3FB4C3-94F3-4805-9FD3-8A379BE10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Half-resolution base with a full-resolution center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537509-915D-4A62-9543-8C955297D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0E841B-DE4E-481C-9207-9E3FB2CD6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439057-5086-417F-BCE9-D9AEC3EFC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47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25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Shared image, disparity, and optical-flow inputs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7A1FDA-05A8-49F9-B9ED-815D7BBB2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62200"/>
            <a:ext cx="30480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086B93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4534B5-8557-48B8-B988-8A037B55A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67000"/>
            <a:ext cx="2667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95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Base sampling</a:t>
            </a:r>
          </a:p>
          <a:p xmlns:a="http://schemas.openxmlformats.org/drawingml/2006/main">
            <a:r>
              <a:rPr sz="195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50% W × 50% H</a:t>
            </a:r>
          </a:p>
          <a:p xmlns:a="http://schemas.openxmlformats.org/drawingml/2006/main">
            <a:r>
              <a:rPr sz="195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(25% of pixels)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141711-495B-48F2-A819-311F44AAF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57675"/>
            <a:ext cx="3524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Base covers the whole image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A7B5D5-95BB-42A3-BCF4-99AFCCCDE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362200"/>
            <a:ext cx="30480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7DFE5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D86271-CDCF-45B0-9550-9C19D6868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895600"/>
            <a:ext cx="1047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148B83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9C1785-4BF8-4FF2-AF40-F0A53DD42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105150"/>
            <a:ext cx="1428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148B83"/>
                </a:solidFill>
                <a:latin typeface="Arial"/>
                <a:ea typeface="Arial"/>
                <a:cs typeface="Arial"/>
              </a:rPr>
              <a:t>ROI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32E18F-8B3D-4D4C-B2BD-8D9672EA8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924175"/>
            <a:ext cx="428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CE812E-93DE-4038-93EF-1F5210FCE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257675"/>
            <a:ext cx="3524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Full resolution within the ROI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27E3FF-01E8-4A74-A1CD-41E283936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067050"/>
            <a:ext cx="5715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48B83"/>
          </a:solidFill>
          <a:ln xmlns:a="http://schemas.openxmlformats.org/drawingml/2006/main" w="0">
            <a:solidFill>
              <a:srgbClr val="148B83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AC5BC3-ACF1-4E76-9C2F-456C06238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362200"/>
            <a:ext cx="2857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086B93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F44C92-9528-403B-ACBE-FE929C791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2895600"/>
            <a:ext cx="857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48B8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746905-0823-4CE1-B66D-BC1DDEE05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400550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0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Upsample + blend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2EF3BB-3495-4307-9132-388F4EE42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4857750"/>
            <a:ext cx="2714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95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960 × 540 output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2673DE-9A5E-45CD-8656-A967C9E14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75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Full-resolution region: 0.7%, 2.8%, 11.1%, 25.0%, 44.4% of image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671EF0-8B2F-48D9-81DE-34308E15C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Region % means image-area coverage; base sampling is separate. Fixed center, 3 px halo; no eye tracking.</a:t>
            </a:r>
          </a:p>
        </p:txBody>
      </p:sp>
    </p:spTree>
    <p:extLst>
      <p:ext uri="{BB962C8B-B14F-4D97-AF65-F5344CB8AC3E}">
        <p14:creationId xmlns:p14="http://schemas.microsoft.com/office/powerpoint/2010/main" val="637809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FB3CA8-73DD-4B0E-B51A-CFC573B4C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Timing and quality use separate measurement sets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F17C6B-992B-4B4C-92CA-5469B6043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967DD5-575A-4DB3-B40F-7AA7A2BB1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9D57B2-B38A-4AA0-83FA-A4BB8BD828B9}"/>
              </a:ext>
            </a:extLst>
          </p:cNvPr>
          <p:cNvGraphicFramePr/>
          <p:nvPr/>
        </p:nvGraphicFramePr>
        <p:xfrm>
          <a:off xmlns:a="http://schemas.openxmlformats.org/drawingml/2006/main" x="609600" y="1638300"/>
          <a:ext xmlns:a="http://schemas.openxmlformats.org/drawingml/2006/main" cx="10972800" cy="33147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76500"/>
                <a:gridCol w="4248150"/>
                <a:gridCol w="4248150"/>
              </a:tblGrid>
              <a:tr h="5524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T w="9525">
                      <a:solidFill>
                        <a:srgbClr val="D7DFE5"/>
                      </a:solidFill>
                      <a:prstDash val="solid"/>
                    </a:lnT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152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Latest timing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T w="9525">
                      <a:solidFill>
                        <a:srgbClr val="D7DFE5"/>
                      </a:solidFill>
                      <a:prstDash val="solid"/>
                    </a:lnT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152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Existing quality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T w="9525">
                      <a:solidFill>
                        <a:srgbClr val="D7DFE5"/>
                      </a:solidFill>
                      <a:prstDash val="solid"/>
                    </a:lnT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152D43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Implementation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CUDA C++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CUDA C++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Xavier power mode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30W 4CORE, unlocked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15W Desktop, unlocked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Coverage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4 workloads × frame 39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1068 forward odd frames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Sampling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10 warmups + 100 runs/path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1 output/config/frame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Reported quantity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Staged GPU timeline mean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Original overflow PSNR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94DAC9-BB36-46E3-9A7A-1D6F66D65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Timing excludes input/output copies, allocation, disk I/O, network, decoding, and display.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090890-00C3-4E17-AC68-4B226388B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Slides 6–7 add one fixed 2 ms/frame decode budget; this is not measured end-to-end.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76807B-F1E4-43B9-9A84-8836807C2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Timing and quality are from separate experiments. No new quality equivalence or jointly measured trade-off is claimed.</a:t>
            </a:r>
          </a:p>
        </p:txBody>
      </p:sp>
    </p:spTree>
    <p:extLst>
      <p:ext uri="{BB962C8B-B14F-4D97-AF65-F5344CB8AC3E}">
        <p14:creationId xmlns:p14="http://schemas.microsoft.com/office/powerpoint/2010/main" val="140781012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4119EA-2228-4ED6-8283-648A92841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30W CUDA C++: decode budget + reconstruction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A0A1B8-59B0-4AA8-9822-2011A185E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65A3A5-0A9D-4FF9-9788-719D611F0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E621F1A7-35AB-4CE2-B7EE-9A2C1624DF71}"/>
              </a:ext>
            </a:extLst>
          </p:cNvPr>
          <p:cNvGraphicFramePr/>
          <p:nvPr/>
        </p:nvGraphicFramePr>
        <p:xfrm>
          <a:off xmlns:a="http://schemas.openxmlformats.org/drawingml/2006/main" x="609600" y="1828800"/>
          <a:ext xmlns:a="http://schemas.openxmlformats.org/drawingml/2006/main" cx="7715250" cy="37528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0ab8559b0a64bd2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DA2F4B-09E7-4C10-9C42-E91AE1E46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06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4 workloads × frame 39; 100 repetitions/path. GPU timeline, not wall time.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C809F9-13D3-411E-89D3-64A96C88D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28825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625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2.8% region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0AA083-073B-4DE1-B673-55873BF29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95575"/>
            <a:ext cx="285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375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5.462 ms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C18691-F595-4DC0-B750-4289900CC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35280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72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decode + reconstruction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D40134-A836-4C82-A068-06D41A87C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19550"/>
            <a:ext cx="266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450" b="1">
                <a:solidFill>
                  <a:srgbClr val="148B83"/>
                </a:solidFill>
                <a:latin typeface="Arial"/>
                <a:ea typeface="Arial"/>
                <a:cs typeface="Arial"/>
              </a:rPr>
              <a:t>1.83×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525BB6-B97D-47EE-88BC-B323EA269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67250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versus Full + decode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B321A8-C7D4-43A3-86BE-868ECA677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Derived budget, not measured end-to-end. Copies excluded. Savings include reduced clearing work; no optimal-Full claim.</a:t>
            </a:r>
          </a:p>
        </p:txBody>
      </p:sp>
    </p:spTree>
    <p:extLst>
      <p:ext uri="{BB962C8B-B14F-4D97-AF65-F5344CB8AC3E}">
        <p14:creationId xmlns:p14="http://schemas.microsoft.com/office/powerpoint/2010/main" val="115844254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C93BB5-639A-4E9F-9EF7-5155D388F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Quality and timing across region sizes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2CA62D-FF0C-4A0D-981C-818DC1703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3AE4C4-831A-4477-84B4-884783FBB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330260-036B-41E2-870C-ACCC5477FBCA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2099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24125"/>
                <a:gridCol w="2619375"/>
                <a:gridCol w="2724150"/>
                <a:gridCol w="3105150"/>
              </a:tblGrid>
              <a:tr h="53498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Region (% of image)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T w="9525">
                      <a:solidFill>
                        <a:srgbClr val="D7DFE5"/>
                      </a:solidFill>
                      <a:prstDash val="solid"/>
                    </a:lnT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152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Decode + recon mean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T w="9525">
                      <a:solidFill>
                        <a:srgbClr val="D7DFE5"/>
                      </a:solidFill>
                      <a:prstDash val="solid"/>
                    </a:lnT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152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Right-eye ΔPSNR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T w="9525">
                      <a:solidFill>
                        <a:srgbClr val="D7DFE5"/>
                      </a:solidFill>
                      <a:prstDash val="solid"/>
                    </a:lnT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152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Stereo mean ΔPSNR*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T w="9525">
                      <a:solidFill>
                        <a:srgbClr val="D7DFE5"/>
                      </a:solidFill>
                      <a:prstDash val="solid"/>
                    </a:lnT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152D43"/>
                    </a:solidFill>
                  </a:tcPr>
                </a:tc>
              </a:tr>
              <a:tr h="5349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0.7%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5.248 ms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-0.1727 dB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-0.0864 dB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49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2.8%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5.462 ms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-0.1668 dB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-0.0834 dB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</a:tr>
              <a:tr h="5349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11.1%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6.318 ms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-0.1462 dB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-0.0731 dB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49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25.0%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7.637 ms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-0.1200 dB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-0.0600 dB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</a:tr>
              <a:tr h="5349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44.4%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9.543 ms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-0.0861 dB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-0.0430 dB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C007F9-DD58-463F-8146-32AD9C82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14925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* Unchanged left eye, mean per-eye PSNR in dB: stereo difference = right-eye difference / 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008C5F-EDAD-4258-9678-28345C9F9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34025"/>
            <a:ext cx="1095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72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ΔPSNR = FOV − full, using original overflow PSNR. Standard PSNR can show a different trend.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98305E-FED8-4D73-9EB1-22F36CA9C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Timing: 30W, 4 frames + fixed 2 ms decode. Quality: 15W, 1068 frames. Separate experiments, not jointly measured.</a:t>
            </a:r>
          </a:p>
        </p:txBody>
      </p:sp>
    </p:spTree>
    <p:extLst>
      <p:ext uri="{BB962C8B-B14F-4D97-AF65-F5344CB8AC3E}">
        <p14:creationId xmlns:p14="http://schemas.microsoft.com/office/powerpoint/2010/main" val="3186462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763828-6F42-4069-879B-9DE328BB3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Next: measure deadline behavior under jitter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813728-1379-4089-8896-570BFF358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8D3C62-0DE4-4F5A-9936-D41BC5148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9ED752-2FAE-4885-A5ED-BA7537F36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04975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00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B8FD4C-1F0A-4F61-A3A4-AC47E705C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04975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40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Record the actual per-frame budget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EC2475-FD2A-4A2A-880A-2DC3F36F0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247900"/>
            <a:ext cx="9953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02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Log arrival, decode completion, and display deadline. Reserve display time and a margin.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4507FE-7981-4F57-A6A0-08DA5FEC5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00375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00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30DE88-AA80-44AA-ABC0-A6C7E5B96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000375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40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Implement budget-based ROI selection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771EC7-3B38-43BA-8BBB-EAD1C0DB1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543300"/>
            <a:ext cx="9953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02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Build a percentile-based profile. Define a fallback when no level fits the budget.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70A9DD-E898-4B76-A813-98BB0C554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95775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00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2E25F4-C0D7-4EAA-B73F-0CA3FFFE0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295775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40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Compare fixed and adaptive policies on the same trace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4F6A07-370B-4EB0-938B-38372927B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38700"/>
            <a:ext cx="9953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02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Report deadline-miss rate, tail latency, and quality. Repeat runs to check stability.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B1564C-B0BD-44F9-BEAA-30E6DF719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Measured: fixed-center quality–latency levels. Adaptive scheduling and benefits under jitter still require validation.</a:t>
            </a:r>
          </a:p>
        </p:txBody>
      </p:sp>
    </p:spTree>
    <p:extLst>
      <p:ext uri="{BB962C8B-B14F-4D97-AF65-F5344CB8AC3E}">
        <p14:creationId xmlns:p14="http://schemas.microsoft.com/office/powerpoint/2010/main" val="84459722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2026-10-30T04:03:47.0330000Z</dcterms:created>
  <dcterms:modified xsi:type="dcterms:W3CDTF">2026-10-30T04:03:47.0340000Z</dcterms:modified>
</coreProperties>
</file>