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cde2b90a2347c6" /><Relationship Type="http://schemas.openxmlformats.org/officeDocument/2006/relationships/extended-properties" Target="/docProps/app.xml" Id="R75610b24370d4dd5" /><Relationship Type="http://schemas.openxmlformats.org/officeDocument/2006/relationships/officeDocument" Target="/ppt/presentation.xml" Id="Rb60ec125e64944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6e1a9f761947aa"/>
  </p:sldMasterIdLst>
  <p:notesMasterIdLst>
    <p:notesMasterId xmlns:r="http://schemas.openxmlformats.org/officeDocument/2006/relationships" r:id="R4c792623bc724edb"/>
  </p:notesMasterIdLst>
  <p:sldIdLst>
    <p:sldId xmlns:r="http://schemas.openxmlformats.org/officeDocument/2006/relationships" id="256" r:id="Re97485de793b46a6"/>
    <p:sldId xmlns:r="http://schemas.openxmlformats.org/officeDocument/2006/relationships" id="257" r:id="Ra26363bb1fbb4efa"/>
    <p:sldId xmlns:r="http://schemas.openxmlformats.org/officeDocument/2006/relationships" id="258" r:id="R6caedfeb9b554efa"/>
    <p:sldId xmlns:r="http://schemas.openxmlformats.org/officeDocument/2006/relationships" id="259" r:id="R744812f2f0e145e3"/>
    <p:sldId xmlns:r="http://schemas.openxmlformats.org/officeDocument/2006/relationships" id="260" r:id="Rb0a937bb13f144d0"/>
    <p:sldId xmlns:r="http://schemas.openxmlformats.org/officeDocument/2006/relationships" id="261" r:id="R22a8fc44dfb54c2a"/>
    <p:sldId xmlns:r="http://schemas.openxmlformats.org/officeDocument/2006/relationships" id="262" r:id="R4a17a091a18145d4"/>
    <p:sldId xmlns:r="http://schemas.openxmlformats.org/officeDocument/2006/relationships" id="263" r:id="R016f54ccdb9b46a6"/>
    <p:sldId xmlns:r="http://schemas.openxmlformats.org/officeDocument/2006/relationships" id="264" r:id="R91e3a3a91d9b47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35ed8131c74770" /><Relationship Type="http://schemas.openxmlformats.org/officeDocument/2006/relationships/slideMaster" Target="/ppt/slideMasters/slideMaster1.xml" Id="R7e6e1a9f761947aa" /><Relationship Type="http://schemas.openxmlformats.org/officeDocument/2006/relationships/notesMaster" Target="/ppt/notesMasters/notesMaster1.xml" Id="R4c792623bc724edb" /><Relationship Type="http://schemas.openxmlformats.org/officeDocument/2006/relationships/presProps" Target="/ppt/presProps.xml" Id="Rf74b52b4496848af" /><Relationship Type="http://schemas.openxmlformats.org/officeDocument/2006/relationships/tableStyles" Target="/ppt/tableStyles.xml" Id="R01f84d70c06d44fe" /><Relationship Type="http://schemas.openxmlformats.org/officeDocument/2006/relationships/slide" Target="/ppt/slides/slide1.xml" Id="Re97485de793b46a6" /><Relationship Type="http://schemas.openxmlformats.org/officeDocument/2006/relationships/slide" Target="/ppt/slides/slide2.xml" Id="Ra26363bb1fbb4efa" /><Relationship Type="http://schemas.openxmlformats.org/officeDocument/2006/relationships/slide" Target="/ppt/slides/slide3.xml" Id="R6caedfeb9b554efa" /><Relationship Type="http://schemas.openxmlformats.org/officeDocument/2006/relationships/slide" Target="/ppt/slides/slide4.xml" Id="R744812f2f0e145e3" /><Relationship Type="http://schemas.openxmlformats.org/officeDocument/2006/relationships/slide" Target="/ppt/slides/slide5.xml" Id="Rb0a937bb13f144d0" /><Relationship Type="http://schemas.openxmlformats.org/officeDocument/2006/relationships/slide" Target="/ppt/slides/slide6.xml" Id="R22a8fc44dfb54c2a" /><Relationship Type="http://schemas.openxmlformats.org/officeDocument/2006/relationships/slide" Target="/ppt/slides/slide7.xml" Id="R4a17a091a18145d4" /><Relationship Type="http://schemas.openxmlformats.org/officeDocument/2006/relationships/slide" Target="/ppt/slides/slide8.xml" Id="R016f54ccdb9b46a6" /><Relationship Type="http://schemas.openxmlformats.org/officeDocument/2006/relationships/slide" Target="/ppt/slides/slide9.xml" Id="R91e3a3a91d9b47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69ceed402f4c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82181672b947fa" /><Relationship Type="http://schemas.openxmlformats.org/officeDocument/2006/relationships/notesMaster" Target="/ppt/notesMasters/notesMaster1.xml" Id="Rb12d251a4db74c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2adb12fb9848bc" /><Relationship Type="http://schemas.openxmlformats.org/officeDocument/2006/relationships/notesMaster" Target="/ppt/notesMasters/notesMaster1.xml" Id="Rc8c82c4359ec44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bf69c135fc46b8" /><Relationship Type="http://schemas.openxmlformats.org/officeDocument/2006/relationships/notesMaster" Target="/ppt/notesMasters/notesMaster1.xml" Id="R06a9d503f0a24c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dcd5d22d9b4954" /><Relationship Type="http://schemas.openxmlformats.org/officeDocument/2006/relationships/notesMaster" Target="/ppt/notesMasters/notesMaster1.xml" Id="R45e7fc3b73244b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985830a7044d9e" /><Relationship Type="http://schemas.openxmlformats.org/officeDocument/2006/relationships/notesMaster" Target="/ppt/notesMasters/notesMaster1.xml" Id="Rb4b690c554ef4f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3e434fa8634dbc" /><Relationship Type="http://schemas.openxmlformats.org/officeDocument/2006/relationships/notesMaster" Target="/ppt/notesMasters/notesMaster1.xml" Id="R7ff5bedaf5044d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7f946c7c154fd9" /><Relationship Type="http://schemas.openxmlformats.org/officeDocument/2006/relationships/notesMaster" Target="/ppt/notesMasters/notesMaster1.xml" Id="R54ff80aabc8e4d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fc7e35506642a7" /><Relationship Type="http://schemas.openxmlformats.org/officeDocument/2006/relationships/notesMaster" Target="/ppt/notesMasters/notesMaster1.xml" Id="Rc7ddf5f90da94a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d0c39c11a34fc3" /><Relationship Type="http://schemas.openxmlformats.org/officeDocument/2006/relationships/notesMaster" Target="/ppt/notesMasters/notesMaster1.xml" Id="R69f407afb0f84b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scheduler, not implemented/validated. t_ready denotes decoded reconstruction inputs ready. T_display and safety margin must be measured/reserved. Current implementation covers fixed-center ROI reconstruction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Mechanism reflects current half base + padded full-resolution ROI + feather overlay. ROI dimensions are pixels, not angles.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Chart uses pooled timing medians. Full baseline is separately measured per level. Fast resample enabled. Each series value corresponds to all 1068 supported frames.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Original uint8-overflow PSNR preserved. Stereo delta is derived only if left eye remains unchanged and per-eye PSNR dB is averaged. Timing is never divided by two.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results/numba_xavier_20261029/mode7_15w/result.json and results/numba_xavier_20261029/mode5_30w/result.json. Four workloads, frame39 only, 100 samples per method. Same Numba implementation and inputs. Preallocated resident timing includes launch/synchronization; excludes JIT, allocation, transfers, I/O. Power modes: 15W Desktop mode7 and 30W 4CORE mode5. Dynamic clocks, same four CPU cores. The 30W mode raises GPU/EMC limits but lowers the CPU maximum. Original generate_right includes allocation/transfer and startup drift; it is not the resident path shown. Numba upsampling differs from optimized CUDA C++.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All values on earlier slides are local reconstruction measurements, not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3270218e7743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4f539791748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ade8d359e347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9b7e48965041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3a7c719c44d8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269e320734b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BC570A-06B2-4379-A0C3-46ADECA697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2441310-D5F2-4931-8106-611632EB9D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82450E7-AF67-41F9-BC69-6B4FA637A4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60F4EB-690F-44C8-A601-FA46F5368D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40CDF1-B497-4E88-947F-5BCC02FB8F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0B5711C-B390-474D-83A2-97928D74A6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DB771F-F692-4DBF-8BBA-90D73A1F54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39F12C8-405B-4A6C-B57C-8A9F2434E2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18AD23-796F-457E-B2A3-0F162C67F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084983-2AF0-4DD0-AFAD-EDA8FCC4CC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3b226e347144af" /><Relationship Type="http://schemas.openxmlformats.org/officeDocument/2006/relationships/slideLayout" Target="/ppt/slideLayouts/slideLayout1.xml" Id="Rda5bc57e517649c0" /><Relationship Type="http://schemas.openxmlformats.org/officeDocument/2006/relationships/slideLayout" Target="/ppt/slideLayouts/slideLayout2.xml" Id="R887a4036287148b1" /><Relationship Type="http://schemas.openxmlformats.org/officeDocument/2006/relationships/slideLayout" Target="/ppt/slideLayouts/slideLayout3.xml" Id="R69bb8ef3fa9b479f" /><Relationship Type="http://schemas.openxmlformats.org/officeDocument/2006/relationships/slideLayout" Target="/ppt/slideLayouts/slideLayout4.xml" Id="R9e7e612c86984304" /><Relationship Type="http://schemas.openxmlformats.org/officeDocument/2006/relationships/slideLayout" Target="/ppt/slideLayouts/slideLayout5.xml" Id="R38c9499a8e5e4bbb" /><Relationship Type="http://schemas.openxmlformats.org/officeDocument/2006/relationships/slideLayout" Target="/ppt/slideLayouts/slideLayout6.xml" Id="R3ffb674900d04c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5bc57e517649c0"/>
    <p:sldLayoutId xmlns:r="http://schemas.openxmlformats.org/officeDocument/2006/relationships" id="2147483650" r:id="R887a4036287148b1"/>
    <p:sldLayoutId xmlns:r="http://schemas.openxmlformats.org/officeDocument/2006/relationships" id="2147483651" r:id="R69bb8ef3fa9b479f"/>
    <p:sldLayoutId xmlns:r="http://schemas.openxmlformats.org/officeDocument/2006/relationships" id="2147483652" r:id="R9e7e612c86984304"/>
    <p:sldLayoutId xmlns:r="http://schemas.openxmlformats.org/officeDocument/2006/relationships" id="2147483653" r:id="R38c9499a8e5e4bbb"/>
    <p:sldLayoutId xmlns:r="http://schemas.openxmlformats.org/officeDocument/2006/relationships" id="2147483654" r:id="R3ffb674900d04c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5213ff18fc4a6b" /><Relationship Type="http://schemas.openxmlformats.org/officeDocument/2006/relationships/notesSlide" Target="/ppt/notesSlides/notesSlide1.xml" Id="R2fbae3b5701d45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c9b1d0097443b4" /><Relationship Type="http://schemas.openxmlformats.org/officeDocument/2006/relationships/notesSlide" Target="/ppt/notesSlides/notesSlide2.xml" Id="R5bd7d7a615d546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b75eb31bf14271" /><Relationship Type="http://schemas.openxmlformats.org/officeDocument/2006/relationships/notesSlide" Target="/ppt/notesSlides/notesSlide3.xml" Id="R7a006db0b58740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615bf40f9d4ee4" /><Relationship Type="http://schemas.openxmlformats.org/officeDocument/2006/relationships/notesSlide" Target="/ppt/notesSlides/notesSlide4.xml" Id="R72b43db3ae794e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6022c2e179425f" /><Relationship Type="http://schemas.openxmlformats.org/officeDocument/2006/relationships/notesSlide" Target="/ppt/notesSlides/notesSlide5.xml" Id="Rb0686ec449fd4b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786250ef9042f5" /><Relationship Type="http://schemas.openxmlformats.org/officeDocument/2006/relationships/chart" Target="/ppt/slides/charts/chart1.xml" Id="Rfbcdd481ebc44f2e" /><Relationship Type="http://schemas.openxmlformats.org/officeDocument/2006/relationships/notesSlide" Target="/ppt/notesSlides/notesSlide6.xml" Id="R8056ca0a90b54e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dbcf6e5f54716" /><Relationship Type="http://schemas.openxmlformats.org/officeDocument/2006/relationships/notesSlide" Target="/ppt/notesSlides/notesSlide7.xml" Id="R17bd4af230a745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d55d5a4c884084" /><Relationship Type="http://schemas.openxmlformats.org/officeDocument/2006/relationships/notesSlide" Target="/ppt/notesSlides/notesSlide8.xml" Id="R0b28d64e121c42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cf6dd3b89b471a" /><Relationship Type="http://schemas.openxmlformats.org/officeDocument/2006/relationships/notesSlide" Target="/ppt/notesSlides/notesSlide9.xml" Id="R6738c16f501d416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FOV resident</c:v>
          </c:tx>
          <c:spPr>
            <a:solidFill xmlns:a="http://schemas.openxmlformats.org/drawingml/2006/main">
              <a:srgbClr val="086B93"/>
            </a:solidFill>
          </c:spPr>
          <c:marker>
            <c:symbol val="none"/>
          </c:marker>
          <c:cat>
            <c:strRef>
              <c:f>'Chart Data'!$A$2:$A$6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4.367</c:v>
                </c:pt>
                <c:pt idx="1">
                  <c:v>4.637</c:v>
                </c:pt>
                <c:pt idx="2">
                  <c:v>5.788</c:v>
                </c:pt>
                <c:pt idx="3">
                  <c:v>7.582</c:v>
                </c:pt>
                <c:pt idx="4">
                  <c:v>10.142</c:v>
                </c:pt>
              </c:numCache>
            </c:numRef>
          </c:val>
        </c:ser>
        <c:ser>
          <c:idx val="1"/>
          <c:order val="1"/>
          <c:tx>
            <c:v>FOV stream</c:v>
          </c:tx>
          <c:spPr>
            <a:solidFill xmlns:a="http://schemas.openxmlformats.org/drawingml/2006/main">
              <a:srgbClr val="D17B28"/>
            </a:solidFill>
          </c:spPr>
          <c:marker>
            <c:symbol val="none"/>
          </c:marker>
          <c:cat>
            <c:strRef>
              <c:f>'Chart Data'!$C$2:$C$6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6.285</c:v>
                </c:pt>
                <c:pt idx="1">
                  <c:v>6.557</c:v>
                </c:pt>
                <c:pt idx="2">
                  <c:v>7.717</c:v>
                </c:pt>
                <c:pt idx="3">
                  <c:v>9.519</c:v>
                </c:pt>
                <c:pt idx="4">
                  <c:v>12.09</c:v>
                </c:pt>
              </c:numCache>
            </c:numRef>
          </c:val>
        </c:ser>
        <c:ser>
          <c:idx val="2"/>
          <c:order val="2"/>
          <c:tx>
            <c:v>Full resident</c:v>
          </c:tx>
          <c:spPr>
            <a:solidFill xmlns:a="http://schemas.openxmlformats.org/drawingml/2006/main">
              <a:srgbClr val="536675"/>
            </a:solidFill>
          </c:spPr>
          <c:marker>
            <c:symbol val="none"/>
          </c:marker>
          <c:cat>
            <c:strRef>
              <c:f>'Chart Data'!$E$2:$E$6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10.763</c:v>
                </c:pt>
                <c:pt idx="1">
                  <c:v>10.764</c:v>
                </c:pt>
                <c:pt idx="2">
                  <c:v>10.774</c:v>
                </c:pt>
                <c:pt idx="3">
                  <c:v>10.771</c:v>
                </c:pt>
                <c:pt idx="4">
                  <c:v>10.774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p50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2858D-A490-41B7-B93F-B157B0E7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CDA53-1857-4493-8D50-82A9EE0E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6244B-56F8-4D11-BD54-6BE580C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61E0F-3045-42DE-9037-3694679F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19498421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7CA339-F123-4575-AEAB-6916CAF7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27BB8-03D2-4146-8C86-6A581742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2E8CA-9BAA-4FF0-BD69-1FC738E2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12E84-F0E3-4592-9EBD-72EF8F5F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11E05-3FD3-4B0F-9F3A-1CBD2C02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BE979-E80E-4F2B-9CF6-6102B236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6BD0C-8B4E-445A-89B3-D01A8492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2DCDD-6B3B-43C7-97C8-51406688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409C9-1F21-499F-B424-8B1EF3A7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1759A-0D85-4261-9974-E5097512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42367-66B9-48BA-988B-734D3BE6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7B120-544D-474D-90B2-F08F0F6D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8B690-2EAE-4C32-8487-79DE8C5B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E9BD0C-B328-48B4-8AD6-D1C8A139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69FDD5-BAF5-4D2F-9F1E-772EF293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39AEA-16E9-4856-B06E-8F765F90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88E92A-587A-497B-9769-E04C7805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29F8E-E7D9-438E-8FC9-8D8E9305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FDD27-2834-46C1-994F-6BE645D4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554B61-8D21-4E81-8181-79CAFB8C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319D7-7DDD-4F74-971F-74C8FC72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C4BFC3-04D2-4540-86FA-ECAAEF46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2C1E83-0C64-4D30-8E5D-35A7B8F7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30BEC4-8214-4657-B290-60E8E983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FA8828-D930-4157-BE20-86A67538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532525-97BB-4DFC-8028-4770A7DE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A4442-9BE9-4133-BBDA-D2EABB7A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293ECC-B703-4637-BB18-D8D19E83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6397339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549948-4DC2-4FC1-BCB8-4F431CF0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Budget-based reconstruction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2FD78-78AC-486A-B2D2-B4379C0B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12563-E7A9-4515-80FD-B5AC4ABB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5CA994-079E-4252-9532-937E0BA8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5948F-22A1-4D9C-8536-1FFAA336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Inputs ready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(after decode)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B0510-0383-4D52-90A2-D4B51735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A97F7-7DEC-4C4A-85E1-586BCEC7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7F145-2DE6-4A52-8AD6-D19B393C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Estimate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budget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F936A-34DF-4B7B-A638-856463CC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F67-A959-49D1-96F4-E23E52DE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C299D-E820-4140-AB67-0BA8CB2D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Latency profile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ROI 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82B64-8E2E-4D24-B118-ECA7CA49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E81CA-B850-4AAA-8524-98E041A8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5F5EC-7B98-4925-90EE-2D5B2E51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Reconstruct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and blend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59A66-1F56-4520-8B94-E0A6CCF3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E24E21-3689-4369-B26D-ADC2CAA7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8039D-BAA1-488A-81DB-C62A5733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Submit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for display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FED07-03DE-4AC2-9B83-73F1BEB1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Proposed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C6995A-6B15-4676-B427-FC686BB4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10025"/>
            <a:ext cx="881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Choose the highest-quality level with T̂(level) ≤ 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EFCE9-9DB7-4CB4-9ABE-A85C4AA2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72000"/>
            <a:ext cx="881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Use a conservative latency percentile. Validate prediction error and margin.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F3BE3C-6167-46C9-B207-7D8CEB5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Implemented: fixed-center FOV sweep and latency profiles. Dynamic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9353499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C9B51-41DD-4F57-B924-92BC1F88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56941-43BB-4415-9269-50612508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30BB4-5128-455D-A3A5-344942C5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CB8D0-5C58-45C0-A04B-F7E23489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6FD32-AFD6-42A9-9622-53997209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79347-8C32-4323-841C-917B258F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62250"/>
            <a:ext cx="223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Full-image base</a:t>
            </a:r>
          </a:p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480 × 270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BED52-D043-4F59-B5C9-12E71F6C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Half resolution in the periphery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A436ED-584C-4112-851E-A55A9CD1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38BB9-9E48-4211-A9BF-0D08E5F1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553D8-883B-441A-B911-421ECE3A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1C3249-E8A1-44DD-AF9B-84541FB1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842FE-82F1-481E-BDDF-117BE941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57194-DAB4-4D40-86DD-CDEF2CE4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77B97-3964-4207-BF64-A228AA99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368412-AEF6-4121-AF48-CE616484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8175B-36F4-4A62-ADD5-843B9A3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703F3-26F7-447A-BA74-97735A7D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960 × 540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745C7-30C0-42AF-8CF6-0AEE241D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ROI sizes: 80×46, 160×90, 320×180, 480×270, 640×360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3849FB-AD73-4A78-A7F9-76DC7580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Fixed center, 3 px halo, and edge blending. Diagram not to scale. Eye tracking is not integrated.</a:t>
            </a:r>
          </a:p>
        </p:txBody>
      </p:sp>
    </p:spTree>
    <p:extLst>
      <p:ext uri="{BB962C8B-B14F-4D97-AF65-F5344CB8AC3E}">
        <p14:creationId xmlns:p14="http://schemas.microsoft.com/office/powerpoint/2010/main" val="15372199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14EF3-2B14-46F4-A0F8-69B1422F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Coverage and measurement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79AE6-CE2C-4F2F-9622-8EF353EB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ADFB6-11AA-4A8F-8E9D-4B101158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698A5-09EE-4C42-BBF2-61DBAEEDB58D}"/>
              </a:ext>
            </a:extLst>
          </p:cNvPr>
          <p:cNvGraphicFramePr/>
          <p:nvPr/>
        </p:nvGraphicFramePr>
        <p:xfrm>
          <a:off xmlns:a="http://schemas.openxmlformats.org/drawingml/2006/main" x="609600" y="1590675"/>
          <a:ext xmlns:a="http://schemas.openxmlformats.org/drawingml/2006/main" cx="6286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1333500"/>
                <a:gridCol w="26670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Forward 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frame IDs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DFBFC-0A3E-4827-A999-D294C3E3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383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6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1068 frames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E119D-547E-48BB-BBFE-66EC4F29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810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Xavier 15W Desktop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CUDA 11.4, unlocked clocks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3 warmups + 5 timed runs/frame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One quality output/config/frame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BA39B-9E80-411A-B4D8-5C891185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1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Resident: GPU-resident inputs, reconstruction, upsampling, and blending</a:t>
            </a:r>
          </a:p>
          <a:p xmlns:a="http://schemas.openxmlformats.org/drawingml/2006/main">
            <a:r>
              <a:rPr sz="202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Stream: also includes input upload and output download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4A78B-9E55-4015-898F-29BA2CE9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Excludes backward scenes, even frames, and unsupported tail frames. Timing excludes I/O, allocation, network, decoding, and display.</a:t>
            </a:r>
          </a:p>
        </p:txBody>
      </p:sp>
    </p:spTree>
    <p:extLst>
      <p:ext uri="{BB962C8B-B14F-4D97-AF65-F5344CB8AC3E}">
        <p14:creationId xmlns:p14="http://schemas.microsoft.com/office/powerpoint/2010/main" val="1869331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17034-61C8-467E-B202-000F2C93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Smaller ROIs reduce reconstruction latency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E33BA-2DD4-4920-8A8E-3BF4DEF6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FAD48-15D1-4997-BEBF-A2934912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DC4B560-459E-4EB8-A5F1-F3A3461B312A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7715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cdd481ebc44f2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B259D-D2E0-45A9-8D1C-B7522A52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240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160 × 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5296C-C08C-4FC2-B471-2C1A739D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193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4.637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74AAD-D1AF-4556-8FBA-19640227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051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resident p50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2D769-8D10-4C92-8389-5BDC9C6F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2.32×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F79C7-AB26-48FD-B654-4A3EBDBC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19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measured full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1D508-825B-4FDC-A400-D8845F06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Fast resampling enabled. Cross-implementation gains also include upsampling changes, not only FOV. No claim of an optimal full baseline.</a:t>
            </a:r>
          </a:p>
        </p:txBody>
      </p:sp>
    </p:spTree>
    <p:extLst>
      <p:ext uri="{BB962C8B-B14F-4D97-AF65-F5344CB8AC3E}">
        <p14:creationId xmlns:p14="http://schemas.microsoft.com/office/powerpoint/2010/main" val="5956625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F265D-6928-4E6B-8EEF-0AEF5A54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Quality–latency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51E72-D92D-4519-BEC3-B7A79EA8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11105-F92A-47CF-AF93-8164D037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AB0F1-812B-48A2-B612-DFE5D2402C8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57375"/>
                <a:gridCol w="3286125"/>
                <a:gridCol w="2724150"/>
                <a:gridCol w="3105150"/>
              </a:tblGrid>
              <a:tr h="534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resident p50 / p95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80×46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4.367 / 4.782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-0.1727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160×90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4.637 / 5.016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-0.1668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-0.0834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320×180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5.788 / 6.220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-0.1462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-0.0731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480×270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7.582 / 8.009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-0.1200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640×360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10.142 / 10.633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-0.0430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71EF5-13E6-4AE2-A2E3-5AC77510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F61D7-5D6A-48BB-8DB3-E3277449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23BBA-A27D-437D-92F7-33E57F88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Stereo values are derived; latency is not halved. Non-atomic writes remain. SSIM/LPIPS are not measured.</a:t>
            </a:r>
          </a:p>
        </p:txBody>
      </p:sp>
    </p:spTree>
    <p:extLst>
      <p:ext uri="{BB962C8B-B14F-4D97-AF65-F5344CB8AC3E}">
        <p14:creationId xmlns:p14="http://schemas.microsoft.com/office/powerpoint/2010/main" val="651523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EF5BD-8997-4578-BE12-01B666DC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Numba latency at 15W and 30W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2C9C8-CC63-495E-8689-E2022F88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42B74-B48D-400A-8A8B-97DB78F1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C186F-471F-42B2-8111-6F4A879E187A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2190750"/>
                <a:gridCol w="2190750"/>
                <a:gridCol w="2190750"/>
                <a:gridCol w="2190750"/>
              </a:tblGrid>
              <a:tr h="542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Full 15W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Full 30W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 15W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 30W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14.653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11.003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6.775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14.421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10.847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6.772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10.889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6.793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10.974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6.811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BAC99-2D0F-4B89-9D62-F0B14DF4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Frame 39 per sequence, 100 repeats. Resident p50 in ms. ROI = 160×90.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008B0-E90C-4E0B-905C-77401097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4-core mode raises the GPU cap but lowers the CPU cap versus 15W Desktop.</a:t>
            </a:r>
          </a:p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Dynamic clocks. Numba and optimized C++ use different upsampling implementations.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6CC80-30D0-45FB-B8F5-E2CE6117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Small-sample power-mode comparison, not a complete-dataset study or a language-only comparison.</a:t>
            </a:r>
          </a:p>
        </p:txBody>
      </p:sp>
    </p:spTree>
    <p:extLst>
      <p:ext uri="{BB962C8B-B14F-4D97-AF65-F5344CB8AC3E}">
        <p14:creationId xmlns:p14="http://schemas.microsoft.com/office/powerpoint/2010/main" val="16784188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8BA8DD-B169-46A7-A2F9-194C12F4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7E76C-D1CC-47FE-9C36-B3772095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DDCFC-9F5D-4EFF-B3E0-224F8DEB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0C76F-697E-4142-9895-A6351002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BBEDA-BB2E-478D-8848-0E2105C9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42C4E6-DF06-419D-836F-EBF4EF6C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20432-7622-40D8-BC5C-BF277553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2FA1C-BC86-4200-80AB-9E12D676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A23DF-3530-4B00-B6B7-72D2E655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792D1-6AD3-4595-9EF3-B6958BB0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430E20-D7D1-48E2-8513-B891D0AD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3A30F-8D17-449B-9256-0E31971E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BEFCF-D50B-4BB3-89CE-2B6DF7F6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8200657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2026-10-30T02:49:45.1560000Z</dcterms:created>
  <dcterms:modified xsi:type="dcterms:W3CDTF">2026-10-30T02:49:45.1560000Z</dcterms:modified>
</coreProperties>
</file>