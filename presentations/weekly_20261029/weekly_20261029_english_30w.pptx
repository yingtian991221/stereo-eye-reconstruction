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01a0a06d7d84253" /><Relationship Type="http://schemas.openxmlformats.org/officeDocument/2006/relationships/extended-properties" Target="/docProps/app.xml" Id="R48adad6fb2964216" /><Relationship Type="http://schemas.openxmlformats.org/officeDocument/2006/relationships/officeDocument" Target="/ppt/presentation.xml" Id="Rb0e4b7004989417d" /></Relationships>
</file>

<file path=ppt/presentation.xml><?xml version="1.0" encoding="utf-8"?>
<p:presentation xmlns:p="http://schemas.openxmlformats.org/presentationml/2006/main">
  <p:sldMasterIdLst>
    <p:sldMasterId xmlns:r="http://schemas.openxmlformats.org/officeDocument/2006/relationships" id="2147483648" r:id="R09c16da95f79494d"/>
  </p:sldMasterIdLst>
  <p:notesMasterIdLst>
    <p:notesMasterId xmlns:r="http://schemas.openxmlformats.org/officeDocument/2006/relationships" r:id="R4b0ad371359c4011"/>
  </p:notesMasterIdLst>
  <p:sldIdLst>
    <p:sldId xmlns:r="http://schemas.openxmlformats.org/officeDocument/2006/relationships" id="256" r:id="R1bae078953534c2b"/>
    <p:sldId xmlns:r="http://schemas.openxmlformats.org/officeDocument/2006/relationships" id="257" r:id="R3da9a5646f56409f"/>
    <p:sldId xmlns:r="http://schemas.openxmlformats.org/officeDocument/2006/relationships" id="258" r:id="R4a3d9075b8804c72"/>
    <p:sldId xmlns:r="http://schemas.openxmlformats.org/officeDocument/2006/relationships" id="259" r:id="Rfdf522f93e3c4443"/>
    <p:sldId xmlns:r="http://schemas.openxmlformats.org/officeDocument/2006/relationships" id="260" r:id="Re211ad38b3184873"/>
    <p:sldId xmlns:r="http://schemas.openxmlformats.org/officeDocument/2006/relationships" id="261" r:id="R068da9d99cb54720"/>
    <p:sldId xmlns:r="http://schemas.openxmlformats.org/officeDocument/2006/relationships" id="262" r:id="Ra875afc61dc941a5"/>
    <p:sldId xmlns:r="http://schemas.openxmlformats.org/officeDocument/2006/relationships" id="263" r:id="R60666f7c4dbf4417"/>
    <p:sldId xmlns:r="http://schemas.openxmlformats.org/officeDocument/2006/relationships" id="264" r:id="Rba26559cd1ce497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9050a91969d435b" /><Relationship Type="http://schemas.openxmlformats.org/officeDocument/2006/relationships/slideMaster" Target="/ppt/slideMasters/slideMaster1.xml" Id="R09c16da95f79494d" /><Relationship Type="http://schemas.openxmlformats.org/officeDocument/2006/relationships/notesMaster" Target="/ppt/notesMasters/notesMaster1.xml" Id="R4b0ad371359c4011" /><Relationship Type="http://schemas.openxmlformats.org/officeDocument/2006/relationships/presProps" Target="/ppt/presProps.xml" Id="R4093446025d64604" /><Relationship Type="http://schemas.openxmlformats.org/officeDocument/2006/relationships/tableStyles" Target="/ppt/tableStyles.xml" Id="Rc4d82f9f9a034462" /><Relationship Type="http://schemas.openxmlformats.org/officeDocument/2006/relationships/slide" Target="/ppt/slides/slide1.xml" Id="R1bae078953534c2b" /><Relationship Type="http://schemas.openxmlformats.org/officeDocument/2006/relationships/slide" Target="/ppt/slides/slide2.xml" Id="R3da9a5646f56409f" /><Relationship Type="http://schemas.openxmlformats.org/officeDocument/2006/relationships/slide" Target="/ppt/slides/slide3.xml" Id="R4a3d9075b8804c72" /><Relationship Type="http://schemas.openxmlformats.org/officeDocument/2006/relationships/slide" Target="/ppt/slides/slide4.xml" Id="Rfdf522f93e3c4443" /><Relationship Type="http://schemas.openxmlformats.org/officeDocument/2006/relationships/slide" Target="/ppt/slides/slide5.xml" Id="Re211ad38b3184873" /><Relationship Type="http://schemas.openxmlformats.org/officeDocument/2006/relationships/slide" Target="/ppt/slides/slide6.xml" Id="R068da9d99cb54720" /><Relationship Type="http://schemas.openxmlformats.org/officeDocument/2006/relationships/slide" Target="/ppt/slides/slide7.xml" Id="Ra875afc61dc941a5" /><Relationship Type="http://schemas.openxmlformats.org/officeDocument/2006/relationships/slide" Target="/ppt/slides/slide8.xml" Id="R60666f7c4dbf4417" /><Relationship Type="http://schemas.openxmlformats.org/officeDocument/2006/relationships/slide" Target="/ppt/slides/slide9.xml" Id="Rba26559cd1ce497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95ed0e417f34ec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40ea4a879e54a34" /><Relationship Type="http://schemas.openxmlformats.org/officeDocument/2006/relationships/notesMaster" Target="/ppt/notesMasters/notesMaster1.xml" Id="R5a748b5782154e02" /></Relationships>
</file>

<file path=ppt/notesSlides/_rels/notesSlide2.xml.rels>&#65279;<?xml version="1.0" encoding="utf-8"?><Relationships xmlns="http://schemas.openxmlformats.org/package/2006/relationships"><Relationship Type="http://schemas.openxmlformats.org/officeDocument/2006/relationships/slide" Target="/ppt/slides/slide2.xml" Id="Re9aa4ee28ba24528" /><Relationship Type="http://schemas.openxmlformats.org/officeDocument/2006/relationships/notesMaster" Target="/ppt/notesMasters/notesMaster1.xml" Id="R3724c0c45734469a" /></Relationships>
</file>

<file path=ppt/notesSlides/_rels/notesSlide3.xml.rels>&#65279;<?xml version="1.0" encoding="utf-8"?><Relationships xmlns="http://schemas.openxmlformats.org/package/2006/relationships"><Relationship Type="http://schemas.openxmlformats.org/officeDocument/2006/relationships/slide" Target="/ppt/slides/slide3.xml" Id="R7bce2a0bacd34c5d" /><Relationship Type="http://schemas.openxmlformats.org/officeDocument/2006/relationships/notesMaster" Target="/ppt/notesMasters/notesMaster1.xml" Id="Rf37980ab05c143ec" /></Relationships>
</file>

<file path=ppt/notesSlides/_rels/notesSlide4.xml.rels>&#65279;<?xml version="1.0" encoding="utf-8"?><Relationships xmlns="http://schemas.openxmlformats.org/package/2006/relationships"><Relationship Type="http://schemas.openxmlformats.org/officeDocument/2006/relationships/slide" Target="/ppt/slides/slide4.xml" Id="R8c30803c256748fd" /><Relationship Type="http://schemas.openxmlformats.org/officeDocument/2006/relationships/notesMaster" Target="/ppt/notesMasters/notesMaster1.xml" Id="Rcf16d3ff6a144798" /></Relationships>
</file>

<file path=ppt/notesSlides/_rels/notesSlide5.xml.rels>&#65279;<?xml version="1.0" encoding="utf-8"?><Relationships xmlns="http://schemas.openxmlformats.org/package/2006/relationships"><Relationship Type="http://schemas.openxmlformats.org/officeDocument/2006/relationships/slide" Target="/ppt/slides/slide5.xml" Id="R8d80b1ce55fe4d6e" /><Relationship Type="http://schemas.openxmlformats.org/officeDocument/2006/relationships/notesMaster" Target="/ppt/notesMasters/notesMaster1.xml" Id="Rbd4aba6ea5c54e7f" /></Relationships>
</file>

<file path=ppt/notesSlides/_rels/notesSlide6.xml.rels>&#65279;<?xml version="1.0" encoding="utf-8"?><Relationships xmlns="http://schemas.openxmlformats.org/package/2006/relationships"><Relationship Type="http://schemas.openxmlformats.org/officeDocument/2006/relationships/slide" Target="/ppt/slides/slide6.xml" Id="Rd16f41934afa4ba3" /><Relationship Type="http://schemas.openxmlformats.org/officeDocument/2006/relationships/notesMaster" Target="/ppt/notesMasters/notesMaster1.xml" Id="Rf67f9ca47bb745fe" /></Relationships>
</file>

<file path=ppt/notesSlides/_rels/notesSlide7.xml.rels>&#65279;<?xml version="1.0" encoding="utf-8"?><Relationships xmlns="http://schemas.openxmlformats.org/package/2006/relationships"><Relationship Type="http://schemas.openxmlformats.org/officeDocument/2006/relationships/slide" Target="/ppt/slides/slide7.xml" Id="Rbf677d3d0eca47e3" /><Relationship Type="http://schemas.openxmlformats.org/officeDocument/2006/relationships/notesMaster" Target="/ppt/notesMasters/notesMaster1.xml" Id="R58a40ea2263b426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171e2e35748470b" /><Relationship Type="http://schemas.openxmlformats.org/officeDocument/2006/relationships/notesMaster" Target="/ppt/notesMasters/notesMaster1.xml" Id="R85747fea3b294aa5" /></Relationships>
</file>

<file path=ppt/notesSlides/_rels/notesSlide9.xml.rels>&#65279;<?xml version="1.0" encoding="utf-8"?><Relationships xmlns="http://schemas.openxmlformats.org/package/2006/relationships"><Relationship Type="http://schemas.openxmlformats.org/officeDocument/2006/relationships/slide" Target="/ppt/slides/slide9.xml" Id="Re3f63c3c7e6a4bcc" /><Relationship Type="http://schemas.openxmlformats.org/officeDocument/2006/relationships/notesMaster" Target="/ppt/notesMasters/notesMaster1.xml" Id="R84102c521c85448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Weekly update. This deck distinguishes the proposed deadline scheduler from the implemented fixed-center FOV sweep. No measured network jitter or deadline-miss improvement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Schematic only, not measured data. 90 FPS gives a frame period of 1000/90=11.11 ms. Frame period is not an established end-to-end deadline. The bars illustrate arrival/decode variability relative to a chosen display deadline.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adaptive mechanism, not implemented/validated. After inputs are ready, more remaining reconstruction time allows a larger full-resolution region; less time calls for a smaller region. The half-resolution base still covers the full image. Region sizes in this schematic are illustrative, not quantitative. Current implementation covers a fixed-center FOV sweep and latency profiles.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results/fov_levels_xavier_full_20261027/README.md; overview.csv; summary.csv. Commit 0f1506c. Date 2026-10-27. Raw evidence: evidence.tar.gz. Mechanism: half-resolution base + padded full-resolution ROI + feather overlay. Region percentages are spatial coverage of a 960x540 image: 80x46=0.7098765%, 160x90=2.7777778%, 320x180=11.1111111%, 480x270=25%, 640x360=44.4444444%. The base samples at 50% width and 50% height, giving 25% as many pixels (480x270), while covering the entire image. Region coverage and sampling resolution are different quantities.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results/fov_levels_xavier_full_20261027/README.md; overview.csv; summary.csv. Commit 0f1506c. Date 2026-10-27. Raw evidence: evidence.tar.gz. Measured timing excludes decoding. Slides 6 and 7 add one fixed 2 ms decoding budget per frame to measured means; derived budget totals are not measured end-to-end latency. No joint RGB, depth and flow decoding measurement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results/fov_levels_xavier_full_20261027/README.md; overview.csv; summary.csv. Commit 0f1506c. Date 2026-10-27. Raw evidence: evidence.tar.gz. Arithmetic means of all 5340 timing samples in each level/timing/mode group, computed by compute_means.py into mean_timings.json. No sample trimming. Full baseline measured separately per level. Fast resample enabled. Each value covers all 1068 supported frames. Adds a fixed 2 ms decode budget once per frame. Speedup is (2 + mean(full resident))/(2 + mean(FOV resident)) at the same region level. This is a derived budget, not measured end-to-end timing or measured joint RGB/depth/flow decoding. See results/fov_decode_budget_2ms_20261029/README.md and summary.csv. Region labels are image-area coverage, not sampling resolution.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results/fov_levels_xavier_full_20261027/README.md; overview.csv; summary.csv. Commit 0f1506c. Date 2026-10-27. Raw evidence: evidence.tar.gz. Original uint8-overflow PSNR preserved. Stereo delta is derived only if left eye remains unchanged and per-eye PSNR dB is averaged. Timing is never divided by two. Latency adds a fixed 2 ms per-frame decode budget once, not measured decoding or end-to-end latency. Source: results/fov_decode_budget_2ms_20261029/summary.csv.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results/numba_xavier_20261029/mode7_15w/result.json and results/numba_xavier_20261029/mode5_30w/result.json. Arithmetic means from mean_timings.json of all 100 samples per method, four workloads, frame39 only. 15W was measured before 30W. No confidence intervals. Some startup drift remains. Same Numba implementation and inputs. Preallocated resident timing includes launch/synchronization; excludes JIT, allocation, transfers, I/O. Power modes: 15W Desktop mode7 and 30W 4CORE mode5. Dynamic clocks, same four CPU cores. The 30W mode raises GPU/EMC limits but lowers the CPU maximum. Original generate_right includes allocation/transfer and startup drift; it is not the resident path shown. Numba upsampling differs from optimized CUDA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future work; no measured jitter trace or deadline-miss reduction exists in the current experiment. Slides 6–7 add a fixed 2 ms decode budget to local reconstruction means. Other timing values are local reconstruction measurements. None are measured end-to-end VR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55891cf520b429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978907e65ab473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d9f1ef91659492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7333ab4427d4ab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75752559cf84b4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d277991724b402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4DF9F45-FC59-43A7-8E20-E0E17B5E435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99F5678-E9E6-48B0-A2A6-8F11D7BCEFE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85F409A-9725-4520-880C-43858F3CCC0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DB4891D-6C48-476F-9DFA-0DD275715DA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2B9A86-1DC6-4234-9BB9-8A94BB7626B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FB57DEF-1DC9-46FC-80AD-1F83CEDAE96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A954F3-244F-4933-99CC-2270647BE5F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B6F6A27-07DD-40F4-B345-988849EE497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7423CC-3184-40D3-A01C-7E2DB3BE8CF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7BE377-8895-46AC-933F-8318019C871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6e7233929d74100" /><Relationship Type="http://schemas.openxmlformats.org/officeDocument/2006/relationships/slideLayout" Target="/ppt/slideLayouts/slideLayout1.xml" Id="R522db64f52a64598" /><Relationship Type="http://schemas.openxmlformats.org/officeDocument/2006/relationships/slideLayout" Target="/ppt/slideLayouts/slideLayout2.xml" Id="Rd8360840e281494a" /><Relationship Type="http://schemas.openxmlformats.org/officeDocument/2006/relationships/slideLayout" Target="/ppt/slideLayouts/slideLayout3.xml" Id="Rfcbd20d874ba4662" /><Relationship Type="http://schemas.openxmlformats.org/officeDocument/2006/relationships/slideLayout" Target="/ppt/slideLayouts/slideLayout4.xml" Id="R349cd0d644c14c22" /><Relationship Type="http://schemas.openxmlformats.org/officeDocument/2006/relationships/slideLayout" Target="/ppt/slideLayouts/slideLayout5.xml" Id="R6a93088c717a4517" /><Relationship Type="http://schemas.openxmlformats.org/officeDocument/2006/relationships/slideLayout" Target="/ppt/slideLayouts/slideLayout6.xml" Id="R9264f88eb0ff4d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22db64f52a64598"/>
    <p:sldLayoutId xmlns:r="http://schemas.openxmlformats.org/officeDocument/2006/relationships" id="2147483650" r:id="Rd8360840e281494a"/>
    <p:sldLayoutId xmlns:r="http://schemas.openxmlformats.org/officeDocument/2006/relationships" id="2147483651" r:id="Rfcbd20d874ba4662"/>
    <p:sldLayoutId xmlns:r="http://schemas.openxmlformats.org/officeDocument/2006/relationships" id="2147483652" r:id="R349cd0d644c14c22"/>
    <p:sldLayoutId xmlns:r="http://schemas.openxmlformats.org/officeDocument/2006/relationships" id="2147483653" r:id="R6a93088c717a4517"/>
    <p:sldLayoutId xmlns:r="http://schemas.openxmlformats.org/officeDocument/2006/relationships" id="2147483654" r:id="R9264f88eb0ff4d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d2f317ca0b14df4" /><Relationship Type="http://schemas.openxmlformats.org/officeDocument/2006/relationships/notesSlide" Target="/ppt/notesSlides/notesSlide1.xml" Id="R111109b4d90c45b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c6b1bf600634127" /><Relationship Type="http://schemas.openxmlformats.org/officeDocument/2006/relationships/notesSlide" Target="/ppt/notesSlides/notesSlide2.xml" Id="R7456be403db642f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218504a2c874058" /><Relationship Type="http://schemas.openxmlformats.org/officeDocument/2006/relationships/notesSlide" Target="/ppt/notesSlides/notesSlide3.xml" Id="Re548ed38092a41d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9017aa879e243c7" /><Relationship Type="http://schemas.openxmlformats.org/officeDocument/2006/relationships/notesSlide" Target="/ppt/notesSlides/notesSlide4.xml" Id="Rd72ba64f5e774fc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f11bb478bdd47b0" /><Relationship Type="http://schemas.openxmlformats.org/officeDocument/2006/relationships/notesSlide" Target="/ppt/notesSlides/notesSlide5.xml" Id="R2ecb724f607c402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2457e2b90b84709" /><Relationship Type="http://schemas.openxmlformats.org/officeDocument/2006/relationships/chart" Target="/ppt/slides/charts/chart1.xml" Id="R249ff02d47294aaa" /><Relationship Type="http://schemas.openxmlformats.org/officeDocument/2006/relationships/notesSlide" Target="/ppt/notesSlides/notesSlide6.xml" Id="Rc0c7752be72d471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0913e62fdc8445f" /><Relationship Type="http://schemas.openxmlformats.org/officeDocument/2006/relationships/notesSlide" Target="/ppt/notesSlides/notesSlide7.xml" Id="R74c02fd31303457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164a40c2f2a4eca" /><Relationship Type="http://schemas.openxmlformats.org/officeDocument/2006/relationships/notesSlide" Target="/ppt/notesSlides/notesSlide8.xml" Id="Raee0677daf84417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e37837e6fb5419e" /><Relationship Type="http://schemas.openxmlformats.org/officeDocument/2006/relationships/notesSlide" Target="/ppt/notesSlides/notesSlide9.xml" Id="R50db5baee0a948a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FOV resident + decode</c:v>
          </c:tx>
          <c:spPr>
            <a:solidFill xmlns:a="http://schemas.openxmlformats.org/drawingml/2006/main">
              <a:srgbClr val="086B93"/>
            </a:solidFill>
          </c:spPr>
          <c:invertIfNegative val="0"/>
          <c:cat>
            <c:strRef>
              <c:f>'Chart Data'!$A$2:$A$6</c:f>
              <c:strCache>
                <c:ptCount val="5"/>
                <c:pt idx="0">
                  <c:v>0.7%</c:v>
                </c:pt>
                <c:pt idx="1">
                  <c:v>2.8%</c:v>
                </c:pt>
                <c:pt idx="2">
                  <c:v>11.1%</c:v>
                </c:pt>
                <c:pt idx="3">
                  <c:v>25.0%</c:v>
                </c:pt>
                <c:pt idx="4">
                  <c:v>44.4%</c:v>
                </c:pt>
              </c:strCache>
            </c:strRef>
          </c:cat>
          <c:val>
            <c:numRef>
              <c:f>'Chart Data'!$B$2:$B$6</c:f>
              <c:numCache>
                <c:formatCode>General</c:formatCode>
                <c:ptCount val="5"/>
                <c:pt idx="0">
                  <c:v>6.562</c:v>
                </c:pt>
                <c:pt idx="1">
                  <c:v>6.77</c:v>
                </c:pt>
                <c:pt idx="2">
                  <c:v>7.998</c:v>
                </c:pt>
                <c:pt idx="3">
                  <c:v>9.772</c:v>
                </c:pt>
                <c:pt idx="4">
                  <c:v>12.425</c:v>
                </c:pt>
              </c:numCache>
            </c:numRef>
          </c:val>
        </c:ser>
        <c:ser>
          <c:idx val="1"/>
          <c:order val="1"/>
          <c:tx>
            <c:v>FOV stream + decode</c:v>
          </c:tx>
          <c:spPr>
            <a:solidFill xmlns:a="http://schemas.openxmlformats.org/drawingml/2006/main">
              <a:srgbClr val="D17B28"/>
            </a:solidFill>
          </c:spPr>
          <c:invertIfNegative val="0"/>
          <c:cat>
            <c:strRef>
              <c:f>'Chart Data'!$C$2:$C$6</c:f>
              <c:strCache>
                <c:ptCount val="5"/>
                <c:pt idx="0">
                  <c:v>0.7%</c:v>
                </c:pt>
                <c:pt idx="1">
                  <c:v>2.8%</c:v>
                </c:pt>
                <c:pt idx="2">
                  <c:v>11.1%</c:v>
                </c:pt>
                <c:pt idx="3">
                  <c:v>25.0%</c:v>
                </c:pt>
                <c:pt idx="4">
                  <c:v>44.4%</c:v>
                </c:pt>
              </c:strCache>
            </c:strRef>
          </c:cat>
          <c:val>
            <c:numRef>
              <c:f>'Chart Data'!$D$2:$D$6</c:f>
              <c:numCache>
                <c:formatCode>General</c:formatCode>
                <c:ptCount val="5"/>
                <c:pt idx="0">
                  <c:v>8.364</c:v>
                </c:pt>
                <c:pt idx="1">
                  <c:v>8.728</c:v>
                </c:pt>
                <c:pt idx="2">
                  <c:v>9.839</c:v>
                </c:pt>
                <c:pt idx="3">
                  <c:v>11.655</c:v>
                </c:pt>
                <c:pt idx="4">
                  <c:v>14.193</c:v>
                </c:pt>
              </c:numCache>
            </c:numRef>
          </c:val>
        </c:ser>
        <c:ser>
          <c:idx val="2"/>
          <c:order val="2"/>
          <c:tx>
            <c:v>Full resident + decode</c:v>
          </c:tx>
          <c:spPr>
            <a:solidFill xmlns:a="http://schemas.openxmlformats.org/drawingml/2006/main">
              <a:srgbClr val="536675"/>
            </a:solidFill>
          </c:spPr>
          <c:invertIfNegative val="0"/>
          <c:cat>
            <c:strRef>
              <c:f>'Chart Data'!$E$2:$E$6</c:f>
              <c:strCache>
                <c:ptCount val="5"/>
                <c:pt idx="0">
                  <c:v>0.7%</c:v>
                </c:pt>
                <c:pt idx="1">
                  <c:v>2.8%</c:v>
                </c:pt>
                <c:pt idx="2">
                  <c:v>11.1%</c:v>
                </c:pt>
                <c:pt idx="3">
                  <c:v>25.0%</c:v>
                </c:pt>
                <c:pt idx="4">
                  <c:v>44.4%</c:v>
                </c:pt>
              </c:strCache>
            </c:strRef>
          </c:cat>
          <c:val>
            <c:numRef>
              <c:f>'Chart Data'!$F$2:$F$6</c:f>
              <c:numCache>
                <c:formatCode>General</c:formatCode>
                <c:ptCount val="5"/>
                <c:pt idx="0">
                  <c:v>13.187</c:v>
                </c:pt>
                <c:pt idx="1">
                  <c:v>13.022</c:v>
                </c:pt>
                <c:pt idx="2">
                  <c:v>13.144</c:v>
                </c:pt>
                <c:pt idx="3">
                  <c:v>13.042</c:v>
                </c:pt>
                <c:pt idx="4">
                  <c:v>13.087</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75"/>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Arial"/>
                <a:ea typeface="Arial"/>
                <a:cs typeface="Arial"/>
              </a:defRPr>
            </a:pPr>
          </a:p>
        </c:txPr>
        <c:crossAx val="48672768"/>
      </c:catAx>
      <c:valAx>
        <c:axId val="48672768"/>
        <c:scaling>
          <c:orientation val="minMax"/>
          <c:max val="16"/>
          <c:min val="0"/>
        </c:scaling>
        <c:delete val="0"/>
        <c:axPos val="l"/>
        <c:majorGridlines>
          <c:spPr>
            <a:ln xmlns:a="http://schemas.openxmlformats.org/drawingml/2006/main" w="9525">
              <a:solidFill>
                <a:srgbClr val="D7DFE5"/>
              </a:solidFill>
            </a:ln>
          </c:spPr>
        </c:majorGridlines>
        <c:title>
          <c:tx>
            <c:rich>
              <a:bodyPr xmlns:a="http://schemas.openxmlformats.org/drawingml/2006/main"/>
              <a:lstStyle xmlns:a="http://schemas.openxmlformats.org/drawingml/2006/main"/>
              <a:p xmlns:a="http://schemas.openxmlformats.org/drawingml/2006/main">
                <a:r>
                  <a:rPr sz="1650">
                    <a:latin typeface="Arial"/>
                    <a:ea typeface="Arial"/>
                    <a:cs typeface="Arial"/>
                  </a:rPr>
                  <a:t>Decode + recon mean (ms)</a:t>
                </a:r>
              </a:p>
            </c:rich>
          </c:tx>
          <c:overlay val="0"/>
          <c:txPr>
            <a:bodyPr xmlns:a="http://schemas.openxmlformats.org/drawingml/2006/main" anchorCtr="1"/>
            <a:lstStyle xmlns:a="http://schemas.openxmlformats.org/drawingml/2006/main"/>
            <a:p xmlns:a="http://schemas.openxmlformats.org/drawingml/2006/main">
              <a:pPr>
                <a:defRPr sz="1650">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50112"/>
        <c:crossBetween val="between"/>
        <c:majorUnit val="2"/>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350">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8A92686-69A8-404D-BF9C-906CB70FF613}"/>
              </a:ext>
            </a:extLst>
          </p:cNvPr>
          <p:cNvSpPr>
            <a:spLocks xmlns:a="http://schemas.openxmlformats.org/drawingml/2006/main" noGrp="1"/>
          </p:cNvSpPr>
          <p:nvPr/>
        </p:nvSpPr>
        <p:spPr>
          <a:xfrm xmlns:a="http://schemas.openxmlformats.org/drawingml/2006/main">
            <a:off x="685800" y="1257300"/>
            <a:ext cx="10477500"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4650" b="1">
                <a:solidFill>
                  <a:srgbClr val="152D43"/>
                </a:solidFill>
                <a:latin typeface="Arial"/>
                <a:ea typeface="Arial"/>
                <a:cs typeface="Arial"/>
              </a:rPr>
              <a:t>Deadline-aware</a:t>
            </a:r>
          </a:p>
          <a:p xmlns:a="http://schemas.openxmlformats.org/drawingml/2006/main">
            <a:r>
              <a:rPr sz="4650" b="1">
                <a:solidFill>
                  <a:srgbClr val="152D43"/>
                </a:solidFill>
                <a:latin typeface="Arial"/>
                <a:ea typeface="Arial"/>
                <a:cs typeface="Arial"/>
              </a:rPr>
              <a:t>Foveated Reconstruction</a:t>
            </a:r>
          </a:p>
        </p:txBody>
      </p:sp>
      <p:sp>
        <p:nvSpPr>
          <p:cNvPr id="2" name="">
            <a:extLst xmlns:a="http://schemas.openxmlformats.org/drawingml/2006/main">
              <a:ext uri="{FF2B5EF4-FFF2-40B4-BE49-F238E27FC236}">
                <a16:creationId xmlns:a16="http://schemas.microsoft.com/office/drawing/2014/main" id="{EDF7C31D-EE95-4DF4-9708-AA0E667A0BDF}"/>
              </a:ext>
            </a:extLst>
          </p:cNvPr>
          <p:cNvSpPr>
            <a:spLocks xmlns:a="http://schemas.openxmlformats.org/drawingml/2006/main" noGrp="1"/>
          </p:cNvSpPr>
          <p:nvPr/>
        </p:nvSpPr>
        <p:spPr>
          <a:xfrm xmlns:a="http://schemas.openxmlformats.org/drawingml/2006/main">
            <a:off x="723900" y="329565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325" b="0">
                <a:solidFill>
                  <a:srgbClr val="086B93"/>
                </a:solidFill>
                <a:latin typeface="Arial"/>
                <a:ea typeface="Arial"/>
                <a:cs typeface="Arial"/>
              </a:rPr>
              <a:t>Research weekly update</a:t>
            </a:r>
          </a:p>
        </p:txBody>
      </p:sp>
      <p:sp>
        <p:nvSpPr>
          <p:cNvPr id="3" name="">
            <a:extLst xmlns:a="http://schemas.openxmlformats.org/drawingml/2006/main">
              <a:ext uri="{FF2B5EF4-FFF2-40B4-BE49-F238E27FC236}">
                <a16:creationId xmlns:a16="http://schemas.microsoft.com/office/drawing/2014/main" id="{DEFC9F8B-EC62-464A-B627-673AD38115F3}"/>
              </a:ext>
            </a:extLst>
          </p:cNvPr>
          <p:cNvSpPr>
            <a:spLocks xmlns:a="http://schemas.openxmlformats.org/drawingml/2006/main" noGrp="1"/>
          </p:cNvSpPr>
          <p:nvPr/>
        </p:nvSpPr>
        <p:spPr>
          <a:xfrm xmlns:a="http://schemas.openxmlformats.org/drawingml/2006/main">
            <a:off x="723900" y="426720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175" b="0">
                <a:solidFill>
                  <a:srgbClr val="536675"/>
                </a:solidFill>
                <a:latin typeface="Arial"/>
                <a:ea typeface="Arial"/>
                <a:cs typeface="Arial"/>
              </a:rPr>
              <a:t>Network jitter, reconstruction design, and Xavier measurements</a:t>
            </a:r>
          </a:p>
        </p:txBody>
      </p:sp>
      <p:sp>
        <p:nvSpPr>
          <p:cNvPr id="4" name="">
            <a:extLst xmlns:a="http://schemas.openxmlformats.org/drawingml/2006/main">
              <a:ext uri="{FF2B5EF4-FFF2-40B4-BE49-F238E27FC236}">
                <a16:creationId xmlns:a16="http://schemas.microsoft.com/office/drawing/2014/main" id="{6D2C45ED-149A-4E57-A1F9-C5AD2D9A2456}"/>
              </a:ext>
            </a:extLst>
          </p:cNvPr>
          <p:cNvSpPr>
            <a:spLocks xmlns:a="http://schemas.openxmlformats.org/drawingml/2006/main" noGrp="1"/>
          </p:cNvSpPr>
          <p:nvPr/>
        </p:nvSpPr>
        <p:spPr>
          <a:xfrm xmlns:a="http://schemas.openxmlformats.org/drawingml/2006/main">
            <a:off x="723900" y="5848350"/>
            <a:ext cx="952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875" b="0">
                <a:solidFill>
                  <a:srgbClr val="536675"/>
                </a:solidFill>
                <a:latin typeface="Arial"/>
                <a:ea typeface="Arial"/>
                <a:cs typeface="Arial"/>
              </a:rPr>
              <a:t>2026-10-29</a:t>
            </a:r>
          </a:p>
        </p:txBody>
      </p:sp>
    </p:spTree>
    <p:extLst>
      <p:ext uri="{BB962C8B-B14F-4D97-AF65-F5344CB8AC3E}">
        <p14:creationId xmlns:p14="http://schemas.microsoft.com/office/powerpoint/2010/main" val="111595273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CFACBA5B-61E3-47F2-B03F-9BCA5C521B64}"/>
              </a:ext>
            </a:extLst>
          </p:cNvPr>
          <p:cNvSpPr>
            <a:spLocks xmlns:a="http://schemas.openxmlformats.org/drawingml/2006/main" noGrp="1"/>
          </p:cNvSpPr>
          <p:nvPr/>
        </p:nvSpPr>
        <p:spPr>
          <a:xfrm xmlns:a="http://schemas.openxmlformats.org/drawingml/2006/main">
            <a:off x="609600" y="381000"/>
            <a:ext cx="10906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150" b="1">
                <a:solidFill>
                  <a:srgbClr val="152D43"/>
                </a:solidFill>
                <a:latin typeface="Arial"/>
                <a:ea typeface="Arial"/>
                <a:cs typeface="Arial"/>
              </a:rPr>
              <a:t>Jitter reduces the reconstruction budget</a:t>
            </a:r>
          </a:p>
        </p:txBody>
      </p:sp>
      <p:sp>
        <p:nvSpPr>
          <p:cNvPr id="2" name="">
            <a:extLst xmlns:a="http://schemas.openxmlformats.org/drawingml/2006/main">
              <a:ext uri="{FF2B5EF4-FFF2-40B4-BE49-F238E27FC236}">
                <a16:creationId xmlns:a16="http://schemas.microsoft.com/office/drawing/2014/main" id="{1D927697-DC3B-4E3B-B8D4-98A7D8C8C334}"/>
              </a:ext>
            </a:extLst>
          </p:cNvPr>
          <p:cNvSpPr>
            <a:spLocks xmlns:a="http://schemas.openxmlformats.org/drawingml/2006/main" noGrp="1"/>
          </p:cNvSpPr>
          <p:nvPr/>
        </p:nvSpPr>
        <p:spPr>
          <a:xfrm xmlns:a="http://schemas.openxmlformats.org/drawingml/2006/main">
            <a:off x="609600" y="1162050"/>
            <a:ext cx="10972800" cy="0"/>
          </a:xfrm>
          <a:prstGeom xmlns:a="http://schemas.openxmlformats.org/drawingml/2006/main" prst="line">
            <a:avLst/>
          </a:prstGeom>
          <a:noFill xmlns:a="http://schemas.openxmlformats.org/drawingml/2006/main"/>
          <a:ln xmlns:a="http://schemas.openxmlformats.org/drawingml/2006/main" w="9525">
            <a:solidFill>
              <a:srgbClr val="D7DFE5"/>
            </a:solidFill>
          </a:ln>
        </p:spPr>
      </p:sp>
      <p:sp>
        <p:nvSpPr>
          <p:cNvPr id="3" name="">
            <a:extLst xmlns:a="http://schemas.openxmlformats.org/drawingml/2006/main">
              <a:ext uri="{FF2B5EF4-FFF2-40B4-BE49-F238E27FC236}">
                <a16:creationId xmlns:a16="http://schemas.microsoft.com/office/drawing/2014/main" id="{9AE51353-61A1-4D91-9F51-0DE8D3514082}"/>
              </a:ext>
            </a:extLst>
          </p:cNvPr>
          <p:cNvSpPr>
            <a:spLocks xmlns:a="http://schemas.openxmlformats.org/drawingml/2006/main" noGrp="1"/>
          </p:cNvSpPr>
          <p:nvPr/>
        </p:nvSpPr>
        <p:spPr>
          <a:xfrm xmlns:a="http://schemas.openxmlformats.org/drawingml/2006/main">
            <a:off x="11353800" y="6429375"/>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275" b="0">
                <a:solidFill>
                  <a:srgbClr val="536675"/>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717DEF9D-440C-4ED1-B077-9B2F49B5D2A2}"/>
              </a:ext>
            </a:extLst>
          </p:cNvPr>
          <p:cNvSpPr>
            <a:spLocks xmlns:a="http://schemas.openxmlformats.org/drawingml/2006/main" noGrp="1"/>
          </p:cNvSpPr>
          <p:nvPr/>
        </p:nvSpPr>
        <p:spPr>
          <a:xfrm xmlns:a="http://schemas.openxmlformats.org/drawingml/2006/main">
            <a:off x="609600" y="145732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250" b="0">
                <a:solidFill>
                  <a:srgbClr val="152D43"/>
                </a:solidFill>
                <a:latin typeface="Arial"/>
                <a:ea typeface="Arial"/>
                <a:cs typeface="Arial"/>
              </a:rPr>
              <a:t>Later input readiness leaves less time before the display deadline</a:t>
            </a:r>
          </a:p>
        </p:txBody>
      </p:sp>
      <p:sp>
        <p:nvSpPr>
          <p:cNvPr id="5" name="">
            <a:extLst xmlns:a="http://schemas.openxmlformats.org/drawingml/2006/main">
              <a:ext uri="{FF2B5EF4-FFF2-40B4-BE49-F238E27FC236}">
                <a16:creationId xmlns:a16="http://schemas.microsoft.com/office/drawing/2014/main" id="{48DFAA68-2115-4444-96DC-62CE0473F8D5}"/>
              </a:ext>
            </a:extLst>
          </p:cNvPr>
          <p:cNvSpPr>
            <a:spLocks xmlns:a="http://schemas.openxmlformats.org/drawingml/2006/main" noGrp="1"/>
          </p:cNvSpPr>
          <p:nvPr/>
        </p:nvSpPr>
        <p:spPr>
          <a:xfrm xmlns:a="http://schemas.openxmlformats.org/drawingml/2006/main">
            <a:off x="619125" y="2524125"/>
            <a:ext cx="1714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100" b="0">
                <a:solidFill>
                  <a:srgbClr val="152D43"/>
                </a:solidFill>
                <a:latin typeface="Arial"/>
                <a:ea typeface="Arial"/>
                <a:cs typeface="Arial"/>
              </a:rPr>
              <a:t>Early arrival</a:t>
            </a:r>
          </a:p>
        </p:txBody>
      </p:sp>
      <p:sp>
        <p:nvSpPr>
          <p:cNvPr id="6" name="">
            <a:extLst xmlns:a="http://schemas.openxmlformats.org/drawingml/2006/main">
              <a:ext uri="{FF2B5EF4-FFF2-40B4-BE49-F238E27FC236}">
                <a16:creationId xmlns:a16="http://schemas.microsoft.com/office/drawing/2014/main" id="{4956E592-2F82-44C5-9469-995AE73843C2}"/>
              </a:ext>
            </a:extLst>
          </p:cNvPr>
          <p:cNvSpPr>
            <a:spLocks xmlns:a="http://schemas.openxmlformats.org/drawingml/2006/main" noGrp="1"/>
          </p:cNvSpPr>
          <p:nvPr/>
        </p:nvSpPr>
        <p:spPr>
          <a:xfrm xmlns:a="http://schemas.openxmlformats.org/drawingml/2006/main">
            <a:off x="2495550" y="2476500"/>
            <a:ext cx="2095500" cy="438150"/>
          </a:xfrm>
          <a:prstGeom xmlns:a="http://schemas.openxmlformats.org/drawingml/2006/main" prst="rect">
            <a:avLst/>
          </a:prstGeom>
          <a:solidFill xmlns:a="http://schemas.openxmlformats.org/drawingml/2006/main">
            <a:srgbClr val="D7DFE5"/>
          </a:solidFill>
          <a:ln xmlns:a="http://schemas.openxmlformats.org/drawingml/2006/main" w="14288">
            <a:solidFill>
              <a:srgbClr val="D7DFE5"/>
            </a:solidFill>
          </a:ln>
        </p:spPr>
      </p:sp>
      <p:sp>
        <p:nvSpPr>
          <p:cNvPr id="7" name="">
            <a:extLst xmlns:a="http://schemas.openxmlformats.org/drawingml/2006/main">
              <a:ext uri="{FF2B5EF4-FFF2-40B4-BE49-F238E27FC236}">
                <a16:creationId xmlns:a16="http://schemas.microsoft.com/office/drawing/2014/main" id="{7675879B-9EE6-4BB0-8A64-41A02C8D7FB1}"/>
              </a:ext>
            </a:extLst>
          </p:cNvPr>
          <p:cNvSpPr>
            <a:spLocks xmlns:a="http://schemas.openxmlformats.org/drawingml/2006/main" noGrp="1"/>
          </p:cNvSpPr>
          <p:nvPr/>
        </p:nvSpPr>
        <p:spPr>
          <a:xfrm xmlns:a="http://schemas.openxmlformats.org/drawingml/2006/main">
            <a:off x="4591050" y="2476500"/>
            <a:ext cx="5505450" cy="438150"/>
          </a:xfrm>
          <a:prstGeom xmlns:a="http://schemas.openxmlformats.org/drawingml/2006/main" prst="rect">
            <a:avLst/>
          </a:prstGeom>
          <a:solidFill xmlns:a="http://schemas.openxmlformats.org/drawingml/2006/main">
            <a:srgbClr val="EAF3F6"/>
          </a:solidFill>
          <a:ln xmlns:a="http://schemas.openxmlformats.org/drawingml/2006/main" w="14288">
            <a:solidFill>
              <a:srgbClr val="148B83"/>
            </a:solidFill>
          </a:ln>
        </p:spPr>
      </p:sp>
      <p:sp>
        <p:nvSpPr>
          <p:cNvPr id="8" name="">
            <a:extLst xmlns:a="http://schemas.openxmlformats.org/drawingml/2006/main">
              <a:ext uri="{FF2B5EF4-FFF2-40B4-BE49-F238E27FC236}">
                <a16:creationId xmlns:a16="http://schemas.microsoft.com/office/drawing/2014/main" id="{23D579B2-D07D-4DB3-A782-E5C591B4FE97}"/>
              </a:ext>
            </a:extLst>
          </p:cNvPr>
          <p:cNvSpPr>
            <a:spLocks xmlns:a="http://schemas.openxmlformats.org/drawingml/2006/main" noGrp="1"/>
          </p:cNvSpPr>
          <p:nvPr/>
        </p:nvSpPr>
        <p:spPr>
          <a:xfrm xmlns:a="http://schemas.openxmlformats.org/drawingml/2006/main">
            <a:off x="10096500" y="2476500"/>
            <a:ext cx="762000" cy="438150"/>
          </a:xfrm>
          <a:prstGeom xmlns:a="http://schemas.openxmlformats.org/drawingml/2006/main" prst="rect">
            <a:avLst/>
          </a:prstGeom>
          <a:solidFill xmlns:a="http://schemas.openxmlformats.org/drawingml/2006/main">
            <a:srgbClr val="FAEDD9"/>
          </a:solidFill>
          <a:ln xmlns:a="http://schemas.openxmlformats.org/drawingml/2006/main" w="14288">
            <a:solidFill>
              <a:srgbClr val="D17B28"/>
            </a:solidFill>
          </a:ln>
        </p:spPr>
      </p:sp>
      <p:sp>
        <p:nvSpPr>
          <p:cNvPr id="9" name="">
            <a:extLst xmlns:a="http://schemas.openxmlformats.org/drawingml/2006/main">
              <a:ext uri="{FF2B5EF4-FFF2-40B4-BE49-F238E27FC236}">
                <a16:creationId xmlns:a16="http://schemas.microsoft.com/office/drawing/2014/main" id="{2D39941B-E404-40D0-8F56-CE9C8D36764A}"/>
              </a:ext>
            </a:extLst>
          </p:cNvPr>
          <p:cNvSpPr>
            <a:spLocks xmlns:a="http://schemas.openxmlformats.org/drawingml/2006/main" noGrp="1"/>
          </p:cNvSpPr>
          <p:nvPr/>
        </p:nvSpPr>
        <p:spPr>
          <a:xfrm xmlns:a="http://schemas.openxmlformats.org/drawingml/2006/main">
            <a:off x="4743450" y="2552700"/>
            <a:ext cx="6076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725" b="1">
                <a:solidFill>
                  <a:srgbClr val="148B83"/>
                </a:solidFill>
                <a:latin typeface="Arial"/>
                <a:ea typeface="Arial"/>
                <a:cs typeface="Arial"/>
              </a:rPr>
              <a:t>Budget</a:t>
            </a:r>
          </a:p>
        </p:txBody>
      </p:sp>
      <p:sp>
        <p:nvSpPr>
          <p:cNvPr id="10" name="">
            <a:extLst xmlns:a="http://schemas.openxmlformats.org/drawingml/2006/main">
              <a:ext uri="{FF2B5EF4-FFF2-40B4-BE49-F238E27FC236}">
                <a16:creationId xmlns:a16="http://schemas.microsoft.com/office/drawing/2014/main" id="{E9C0D35C-CAA1-4A01-A44E-8F6E279ABF78}"/>
              </a:ext>
            </a:extLst>
          </p:cNvPr>
          <p:cNvSpPr>
            <a:spLocks xmlns:a="http://schemas.openxmlformats.org/drawingml/2006/main" noGrp="1"/>
          </p:cNvSpPr>
          <p:nvPr/>
        </p:nvSpPr>
        <p:spPr>
          <a:xfrm xmlns:a="http://schemas.openxmlformats.org/drawingml/2006/main">
            <a:off x="4591050" y="2324100"/>
            <a:ext cx="0" cy="704850"/>
          </a:xfrm>
          <a:prstGeom xmlns:a="http://schemas.openxmlformats.org/drawingml/2006/main" prst="line">
            <a:avLst/>
          </a:prstGeom>
          <a:noFill xmlns:a="http://schemas.openxmlformats.org/drawingml/2006/main"/>
          <a:ln xmlns:a="http://schemas.openxmlformats.org/drawingml/2006/main" w="28575">
            <a:solidFill>
              <a:srgbClr val="148B83"/>
            </a:solidFill>
          </a:ln>
        </p:spPr>
      </p:sp>
      <p:sp>
        <p:nvSpPr>
          <p:cNvPr id="11" name="">
            <a:extLst xmlns:a="http://schemas.openxmlformats.org/drawingml/2006/main">
              <a:ext uri="{FF2B5EF4-FFF2-40B4-BE49-F238E27FC236}">
                <a16:creationId xmlns:a16="http://schemas.microsoft.com/office/drawing/2014/main" id="{D4BBE91A-B035-4303-B58B-D935DDAC270A}"/>
              </a:ext>
            </a:extLst>
          </p:cNvPr>
          <p:cNvSpPr>
            <a:spLocks xmlns:a="http://schemas.openxmlformats.org/drawingml/2006/main" noGrp="1"/>
          </p:cNvSpPr>
          <p:nvPr/>
        </p:nvSpPr>
        <p:spPr>
          <a:xfrm xmlns:a="http://schemas.openxmlformats.org/drawingml/2006/main">
            <a:off x="619125" y="3476625"/>
            <a:ext cx="1714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100" b="0">
                <a:solidFill>
                  <a:srgbClr val="152D43"/>
                </a:solidFill>
                <a:latin typeface="Arial"/>
                <a:ea typeface="Arial"/>
                <a:cs typeface="Arial"/>
              </a:rPr>
              <a:t>Typical arrival</a:t>
            </a:r>
          </a:p>
        </p:txBody>
      </p:sp>
      <p:sp>
        <p:nvSpPr>
          <p:cNvPr id="12" name="">
            <a:extLst xmlns:a="http://schemas.openxmlformats.org/drawingml/2006/main">
              <a:ext uri="{FF2B5EF4-FFF2-40B4-BE49-F238E27FC236}">
                <a16:creationId xmlns:a16="http://schemas.microsoft.com/office/drawing/2014/main" id="{D73934C4-E1F2-48C0-9BC6-8239FCE3D153}"/>
              </a:ext>
            </a:extLst>
          </p:cNvPr>
          <p:cNvSpPr>
            <a:spLocks xmlns:a="http://schemas.openxmlformats.org/drawingml/2006/main" noGrp="1"/>
          </p:cNvSpPr>
          <p:nvPr/>
        </p:nvSpPr>
        <p:spPr>
          <a:xfrm xmlns:a="http://schemas.openxmlformats.org/drawingml/2006/main">
            <a:off x="2495550" y="3429000"/>
            <a:ext cx="3905250" cy="438150"/>
          </a:xfrm>
          <a:prstGeom xmlns:a="http://schemas.openxmlformats.org/drawingml/2006/main" prst="rect">
            <a:avLst/>
          </a:prstGeom>
          <a:solidFill xmlns:a="http://schemas.openxmlformats.org/drawingml/2006/main">
            <a:srgbClr val="D7DFE5"/>
          </a:solidFill>
          <a:ln xmlns:a="http://schemas.openxmlformats.org/drawingml/2006/main" w="14288">
            <a:solidFill>
              <a:srgbClr val="D7DFE5"/>
            </a:solidFill>
          </a:ln>
        </p:spPr>
      </p:sp>
      <p:sp>
        <p:nvSpPr>
          <p:cNvPr id="13" name="">
            <a:extLst xmlns:a="http://schemas.openxmlformats.org/drawingml/2006/main">
              <a:ext uri="{FF2B5EF4-FFF2-40B4-BE49-F238E27FC236}">
                <a16:creationId xmlns:a16="http://schemas.microsoft.com/office/drawing/2014/main" id="{329CE209-3F3F-4EA7-BEE0-C33B656BDE2D}"/>
              </a:ext>
            </a:extLst>
          </p:cNvPr>
          <p:cNvSpPr>
            <a:spLocks xmlns:a="http://schemas.openxmlformats.org/drawingml/2006/main" noGrp="1"/>
          </p:cNvSpPr>
          <p:nvPr/>
        </p:nvSpPr>
        <p:spPr>
          <a:xfrm xmlns:a="http://schemas.openxmlformats.org/drawingml/2006/main">
            <a:off x="6400800" y="3429000"/>
            <a:ext cx="3695700" cy="438150"/>
          </a:xfrm>
          <a:prstGeom xmlns:a="http://schemas.openxmlformats.org/drawingml/2006/main" prst="rect">
            <a:avLst/>
          </a:prstGeom>
          <a:solidFill xmlns:a="http://schemas.openxmlformats.org/drawingml/2006/main">
            <a:srgbClr val="EAF3F6"/>
          </a:solidFill>
          <a:ln xmlns:a="http://schemas.openxmlformats.org/drawingml/2006/main" w="14288">
            <a:solidFill>
              <a:srgbClr val="086B93"/>
            </a:solidFill>
          </a:ln>
        </p:spPr>
      </p:sp>
      <p:sp>
        <p:nvSpPr>
          <p:cNvPr id="14" name="">
            <a:extLst xmlns:a="http://schemas.openxmlformats.org/drawingml/2006/main">
              <a:ext uri="{FF2B5EF4-FFF2-40B4-BE49-F238E27FC236}">
                <a16:creationId xmlns:a16="http://schemas.microsoft.com/office/drawing/2014/main" id="{E49D505D-1576-4936-B9BE-22345E10BBC7}"/>
              </a:ext>
            </a:extLst>
          </p:cNvPr>
          <p:cNvSpPr>
            <a:spLocks xmlns:a="http://schemas.openxmlformats.org/drawingml/2006/main" noGrp="1"/>
          </p:cNvSpPr>
          <p:nvPr/>
        </p:nvSpPr>
        <p:spPr>
          <a:xfrm xmlns:a="http://schemas.openxmlformats.org/drawingml/2006/main">
            <a:off x="10096500" y="3429000"/>
            <a:ext cx="762000" cy="438150"/>
          </a:xfrm>
          <a:prstGeom xmlns:a="http://schemas.openxmlformats.org/drawingml/2006/main" prst="rect">
            <a:avLst/>
          </a:prstGeom>
          <a:solidFill xmlns:a="http://schemas.openxmlformats.org/drawingml/2006/main">
            <a:srgbClr val="FAEDD9"/>
          </a:solidFill>
          <a:ln xmlns:a="http://schemas.openxmlformats.org/drawingml/2006/main" w="14288">
            <a:solidFill>
              <a:srgbClr val="D17B28"/>
            </a:solidFill>
          </a:ln>
        </p:spPr>
      </p:sp>
      <p:sp>
        <p:nvSpPr>
          <p:cNvPr id="15" name="">
            <a:extLst xmlns:a="http://schemas.openxmlformats.org/drawingml/2006/main">
              <a:ext uri="{FF2B5EF4-FFF2-40B4-BE49-F238E27FC236}">
                <a16:creationId xmlns:a16="http://schemas.microsoft.com/office/drawing/2014/main" id="{A5AA3B68-26C2-44A4-941C-92E5B4F81156}"/>
              </a:ext>
            </a:extLst>
          </p:cNvPr>
          <p:cNvSpPr>
            <a:spLocks xmlns:a="http://schemas.openxmlformats.org/drawingml/2006/main" noGrp="1"/>
          </p:cNvSpPr>
          <p:nvPr/>
        </p:nvSpPr>
        <p:spPr>
          <a:xfrm xmlns:a="http://schemas.openxmlformats.org/drawingml/2006/main">
            <a:off x="6553200" y="3505200"/>
            <a:ext cx="4267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725" b="1">
                <a:solidFill>
                  <a:srgbClr val="086B93"/>
                </a:solidFill>
                <a:latin typeface="Arial"/>
                <a:ea typeface="Arial"/>
                <a:cs typeface="Arial"/>
              </a:rPr>
              <a:t>Budget</a:t>
            </a:r>
          </a:p>
        </p:txBody>
      </p:sp>
      <p:sp>
        <p:nvSpPr>
          <p:cNvPr id="16" name="">
            <a:extLst xmlns:a="http://schemas.openxmlformats.org/drawingml/2006/main">
              <a:ext uri="{FF2B5EF4-FFF2-40B4-BE49-F238E27FC236}">
                <a16:creationId xmlns:a16="http://schemas.microsoft.com/office/drawing/2014/main" id="{94CD312C-F2C4-4FE4-A897-31C4A1587F37}"/>
              </a:ext>
            </a:extLst>
          </p:cNvPr>
          <p:cNvSpPr>
            <a:spLocks xmlns:a="http://schemas.openxmlformats.org/drawingml/2006/main" noGrp="1"/>
          </p:cNvSpPr>
          <p:nvPr/>
        </p:nvSpPr>
        <p:spPr>
          <a:xfrm xmlns:a="http://schemas.openxmlformats.org/drawingml/2006/main">
            <a:off x="6400800" y="3276600"/>
            <a:ext cx="0" cy="704850"/>
          </a:xfrm>
          <a:prstGeom xmlns:a="http://schemas.openxmlformats.org/drawingml/2006/main" prst="line">
            <a:avLst/>
          </a:prstGeom>
          <a:noFill xmlns:a="http://schemas.openxmlformats.org/drawingml/2006/main"/>
          <a:ln xmlns:a="http://schemas.openxmlformats.org/drawingml/2006/main" w="28575">
            <a:solidFill>
              <a:srgbClr val="086B93"/>
            </a:solidFill>
          </a:ln>
        </p:spPr>
      </p:sp>
      <p:sp>
        <p:nvSpPr>
          <p:cNvPr id="17" name="">
            <a:extLst xmlns:a="http://schemas.openxmlformats.org/drawingml/2006/main">
              <a:ext uri="{FF2B5EF4-FFF2-40B4-BE49-F238E27FC236}">
                <a16:creationId xmlns:a16="http://schemas.microsoft.com/office/drawing/2014/main" id="{D8166C1B-F7E0-40A8-AFAF-3F7052F3478E}"/>
              </a:ext>
            </a:extLst>
          </p:cNvPr>
          <p:cNvSpPr>
            <a:spLocks xmlns:a="http://schemas.openxmlformats.org/drawingml/2006/main" noGrp="1"/>
          </p:cNvSpPr>
          <p:nvPr/>
        </p:nvSpPr>
        <p:spPr>
          <a:xfrm xmlns:a="http://schemas.openxmlformats.org/drawingml/2006/main">
            <a:off x="619125" y="4429125"/>
            <a:ext cx="1714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100" b="0">
                <a:solidFill>
                  <a:srgbClr val="152D43"/>
                </a:solidFill>
                <a:latin typeface="Arial"/>
                <a:ea typeface="Arial"/>
                <a:cs typeface="Arial"/>
              </a:rPr>
              <a:t>Late arrival</a:t>
            </a:r>
          </a:p>
        </p:txBody>
      </p:sp>
      <p:sp>
        <p:nvSpPr>
          <p:cNvPr id="18" name="">
            <a:extLst xmlns:a="http://schemas.openxmlformats.org/drawingml/2006/main">
              <a:ext uri="{FF2B5EF4-FFF2-40B4-BE49-F238E27FC236}">
                <a16:creationId xmlns:a16="http://schemas.microsoft.com/office/drawing/2014/main" id="{EE17512B-AB56-40E4-9032-A24F7AFC336E}"/>
              </a:ext>
            </a:extLst>
          </p:cNvPr>
          <p:cNvSpPr>
            <a:spLocks xmlns:a="http://schemas.openxmlformats.org/drawingml/2006/main" noGrp="1"/>
          </p:cNvSpPr>
          <p:nvPr/>
        </p:nvSpPr>
        <p:spPr>
          <a:xfrm xmlns:a="http://schemas.openxmlformats.org/drawingml/2006/main">
            <a:off x="2495550" y="4381500"/>
            <a:ext cx="5905500" cy="438150"/>
          </a:xfrm>
          <a:prstGeom xmlns:a="http://schemas.openxmlformats.org/drawingml/2006/main" prst="rect">
            <a:avLst/>
          </a:prstGeom>
          <a:solidFill xmlns:a="http://schemas.openxmlformats.org/drawingml/2006/main">
            <a:srgbClr val="D7DFE5"/>
          </a:solidFill>
          <a:ln xmlns:a="http://schemas.openxmlformats.org/drawingml/2006/main" w="14288">
            <a:solidFill>
              <a:srgbClr val="D7DFE5"/>
            </a:solidFill>
          </a:ln>
        </p:spPr>
      </p:sp>
      <p:sp>
        <p:nvSpPr>
          <p:cNvPr id="19" name="">
            <a:extLst xmlns:a="http://schemas.openxmlformats.org/drawingml/2006/main">
              <a:ext uri="{FF2B5EF4-FFF2-40B4-BE49-F238E27FC236}">
                <a16:creationId xmlns:a16="http://schemas.microsoft.com/office/drawing/2014/main" id="{C71BB703-B3F8-42D3-9070-6D6CCD5D3E83}"/>
              </a:ext>
            </a:extLst>
          </p:cNvPr>
          <p:cNvSpPr>
            <a:spLocks xmlns:a="http://schemas.openxmlformats.org/drawingml/2006/main" noGrp="1"/>
          </p:cNvSpPr>
          <p:nvPr/>
        </p:nvSpPr>
        <p:spPr>
          <a:xfrm xmlns:a="http://schemas.openxmlformats.org/drawingml/2006/main">
            <a:off x="8401050" y="4381500"/>
            <a:ext cx="1695450" cy="438150"/>
          </a:xfrm>
          <a:prstGeom xmlns:a="http://schemas.openxmlformats.org/drawingml/2006/main" prst="rect">
            <a:avLst/>
          </a:prstGeom>
          <a:solidFill xmlns:a="http://schemas.openxmlformats.org/drawingml/2006/main">
            <a:srgbClr val="EAF3F6"/>
          </a:solidFill>
          <a:ln xmlns:a="http://schemas.openxmlformats.org/drawingml/2006/main" w="14288">
            <a:solidFill>
              <a:srgbClr val="D17B28"/>
            </a:solidFill>
          </a:ln>
        </p:spPr>
      </p:sp>
      <p:sp>
        <p:nvSpPr>
          <p:cNvPr id="20" name="">
            <a:extLst xmlns:a="http://schemas.openxmlformats.org/drawingml/2006/main">
              <a:ext uri="{FF2B5EF4-FFF2-40B4-BE49-F238E27FC236}">
                <a16:creationId xmlns:a16="http://schemas.microsoft.com/office/drawing/2014/main" id="{22D73F84-4B01-4BE5-8854-F9621405F3D2}"/>
              </a:ext>
            </a:extLst>
          </p:cNvPr>
          <p:cNvSpPr>
            <a:spLocks xmlns:a="http://schemas.openxmlformats.org/drawingml/2006/main" noGrp="1"/>
          </p:cNvSpPr>
          <p:nvPr/>
        </p:nvSpPr>
        <p:spPr>
          <a:xfrm xmlns:a="http://schemas.openxmlformats.org/drawingml/2006/main">
            <a:off x="10096500" y="4381500"/>
            <a:ext cx="762000" cy="438150"/>
          </a:xfrm>
          <a:prstGeom xmlns:a="http://schemas.openxmlformats.org/drawingml/2006/main" prst="rect">
            <a:avLst/>
          </a:prstGeom>
          <a:solidFill xmlns:a="http://schemas.openxmlformats.org/drawingml/2006/main">
            <a:srgbClr val="FAEDD9"/>
          </a:solidFill>
          <a:ln xmlns:a="http://schemas.openxmlformats.org/drawingml/2006/main" w="14288">
            <a:solidFill>
              <a:srgbClr val="D17B28"/>
            </a:solidFill>
          </a:ln>
        </p:spPr>
      </p:sp>
      <p:sp>
        <p:nvSpPr>
          <p:cNvPr id="21" name="">
            <a:extLst xmlns:a="http://schemas.openxmlformats.org/drawingml/2006/main">
              <a:ext uri="{FF2B5EF4-FFF2-40B4-BE49-F238E27FC236}">
                <a16:creationId xmlns:a16="http://schemas.microsoft.com/office/drawing/2014/main" id="{FE8BDCF4-1BDC-4FB5-9D2B-1FC26B0E90E6}"/>
              </a:ext>
            </a:extLst>
          </p:cNvPr>
          <p:cNvSpPr>
            <a:spLocks xmlns:a="http://schemas.openxmlformats.org/drawingml/2006/main" noGrp="1"/>
          </p:cNvSpPr>
          <p:nvPr/>
        </p:nvSpPr>
        <p:spPr>
          <a:xfrm xmlns:a="http://schemas.openxmlformats.org/drawingml/2006/main">
            <a:off x="8553450" y="4457700"/>
            <a:ext cx="2266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725" b="1">
                <a:solidFill>
                  <a:srgbClr val="D17B28"/>
                </a:solidFill>
                <a:latin typeface="Arial"/>
                <a:ea typeface="Arial"/>
                <a:cs typeface="Arial"/>
              </a:rPr>
              <a:t>Budget</a:t>
            </a:r>
          </a:p>
        </p:txBody>
      </p:sp>
      <p:sp>
        <p:nvSpPr>
          <p:cNvPr id="22" name="">
            <a:extLst xmlns:a="http://schemas.openxmlformats.org/drawingml/2006/main">
              <a:ext uri="{FF2B5EF4-FFF2-40B4-BE49-F238E27FC236}">
                <a16:creationId xmlns:a16="http://schemas.microsoft.com/office/drawing/2014/main" id="{B919BD31-FCED-4FC8-85CA-9CD710E4E1B9}"/>
              </a:ext>
            </a:extLst>
          </p:cNvPr>
          <p:cNvSpPr>
            <a:spLocks xmlns:a="http://schemas.openxmlformats.org/drawingml/2006/main" noGrp="1"/>
          </p:cNvSpPr>
          <p:nvPr/>
        </p:nvSpPr>
        <p:spPr>
          <a:xfrm xmlns:a="http://schemas.openxmlformats.org/drawingml/2006/main">
            <a:off x="8401050" y="4229100"/>
            <a:ext cx="0" cy="704850"/>
          </a:xfrm>
          <a:prstGeom xmlns:a="http://schemas.openxmlformats.org/drawingml/2006/main" prst="line">
            <a:avLst/>
          </a:prstGeom>
          <a:noFill xmlns:a="http://schemas.openxmlformats.org/drawingml/2006/main"/>
          <a:ln xmlns:a="http://schemas.openxmlformats.org/drawingml/2006/main" w="28575">
            <a:solidFill>
              <a:srgbClr val="D17B28"/>
            </a:solidFill>
          </a:ln>
        </p:spPr>
      </p:sp>
      <p:sp>
        <p:nvSpPr>
          <p:cNvPr id="23" name="">
            <a:extLst xmlns:a="http://schemas.openxmlformats.org/drawingml/2006/main">
              <a:ext uri="{FF2B5EF4-FFF2-40B4-BE49-F238E27FC236}">
                <a16:creationId xmlns:a16="http://schemas.microsoft.com/office/drawing/2014/main" id="{0EA1022C-05F1-41DC-9737-CB8FFCBFD135}"/>
              </a:ext>
            </a:extLst>
          </p:cNvPr>
          <p:cNvSpPr>
            <a:spLocks xmlns:a="http://schemas.openxmlformats.org/drawingml/2006/main" noGrp="1"/>
          </p:cNvSpPr>
          <p:nvPr/>
        </p:nvSpPr>
        <p:spPr>
          <a:xfrm xmlns:a="http://schemas.openxmlformats.org/drawingml/2006/main">
            <a:off x="10858500" y="2171700"/>
            <a:ext cx="0" cy="2895600"/>
          </a:xfrm>
          <a:prstGeom xmlns:a="http://schemas.openxmlformats.org/drawingml/2006/main" prst="line">
            <a:avLst/>
          </a:prstGeom>
          <a:noFill xmlns:a="http://schemas.openxmlformats.org/drawingml/2006/main"/>
          <a:ln xmlns:a="http://schemas.openxmlformats.org/drawingml/2006/main" w="28575">
            <a:solidFill>
              <a:srgbClr val="D17B28"/>
            </a:solidFill>
          </a:ln>
        </p:spPr>
      </p:sp>
      <p:sp>
        <p:nvSpPr>
          <p:cNvPr id="24" name="">
            <a:extLst xmlns:a="http://schemas.openxmlformats.org/drawingml/2006/main">
              <a:ext uri="{FF2B5EF4-FFF2-40B4-BE49-F238E27FC236}">
                <a16:creationId xmlns:a16="http://schemas.microsoft.com/office/drawing/2014/main" id="{6CE8ED73-E5FD-47F8-BBB3-FF8128194A21}"/>
              </a:ext>
            </a:extLst>
          </p:cNvPr>
          <p:cNvSpPr>
            <a:spLocks xmlns:a="http://schemas.openxmlformats.org/drawingml/2006/main" noGrp="1"/>
          </p:cNvSpPr>
          <p:nvPr/>
        </p:nvSpPr>
        <p:spPr>
          <a:xfrm xmlns:a="http://schemas.openxmlformats.org/drawingml/2006/main">
            <a:off x="9715500" y="1895475"/>
            <a:ext cx="19526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875" b="1">
                <a:solidFill>
                  <a:srgbClr val="D17B28"/>
                </a:solidFill>
                <a:latin typeface="Arial"/>
                <a:ea typeface="Arial"/>
                <a:cs typeface="Arial"/>
              </a:rPr>
              <a:t>Deadline D</a:t>
            </a:r>
          </a:p>
        </p:txBody>
      </p:sp>
      <p:sp>
        <p:nvSpPr>
          <p:cNvPr id="25" name="">
            <a:extLst xmlns:a="http://schemas.openxmlformats.org/drawingml/2006/main">
              <a:ext uri="{FF2B5EF4-FFF2-40B4-BE49-F238E27FC236}">
                <a16:creationId xmlns:a16="http://schemas.microsoft.com/office/drawing/2014/main" id="{432615EE-953F-4D41-98FF-81B2F3B59F80}"/>
              </a:ext>
            </a:extLst>
          </p:cNvPr>
          <p:cNvSpPr>
            <a:spLocks xmlns:a="http://schemas.openxmlformats.org/drawingml/2006/main" noGrp="1"/>
          </p:cNvSpPr>
          <p:nvPr/>
        </p:nvSpPr>
        <p:spPr>
          <a:xfrm xmlns:a="http://schemas.openxmlformats.org/drawingml/2006/main">
            <a:off x="10048875" y="5133975"/>
            <a:ext cx="152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500" b="0">
                <a:solidFill>
                  <a:srgbClr val="D17B28"/>
                </a:solidFill>
                <a:latin typeface="Arial"/>
                <a:ea typeface="Arial"/>
                <a:cs typeface="Arial"/>
              </a:rPr>
              <a:t>Display reserve</a:t>
            </a:r>
          </a:p>
        </p:txBody>
      </p:sp>
      <p:sp>
        <p:nvSpPr>
          <p:cNvPr id="26" name="">
            <a:extLst xmlns:a="http://schemas.openxmlformats.org/drawingml/2006/main">
              <a:ext uri="{FF2B5EF4-FFF2-40B4-BE49-F238E27FC236}">
                <a16:creationId xmlns:a16="http://schemas.microsoft.com/office/drawing/2014/main" id="{E7090F4F-6A13-401E-88AA-5D2D26BDE2C6}"/>
              </a:ext>
            </a:extLst>
          </p:cNvPr>
          <p:cNvSpPr>
            <a:spLocks xmlns:a="http://schemas.openxmlformats.org/drawingml/2006/main" noGrp="1"/>
          </p:cNvSpPr>
          <p:nvPr/>
        </p:nvSpPr>
        <p:spPr>
          <a:xfrm xmlns:a="http://schemas.openxmlformats.org/drawingml/2006/main">
            <a:off x="2667000" y="5400675"/>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875" b="0">
                <a:solidFill>
                  <a:srgbClr val="536675"/>
                </a:solidFill>
                <a:latin typeface="Arial"/>
                <a:ea typeface="Arial"/>
                <a:cs typeface="Arial"/>
              </a:rPr>
              <a:t>Transfer + decode</a:t>
            </a:r>
          </a:p>
        </p:txBody>
      </p:sp>
      <p:sp>
        <p:nvSpPr>
          <p:cNvPr id="27" name="">
            <a:extLst xmlns:a="http://schemas.openxmlformats.org/drawingml/2006/main">
              <a:ext uri="{FF2B5EF4-FFF2-40B4-BE49-F238E27FC236}">
                <a16:creationId xmlns:a16="http://schemas.microsoft.com/office/drawing/2014/main" id="{DC95FF47-4A38-452E-949E-41BCD2D49EC3}"/>
              </a:ext>
            </a:extLst>
          </p:cNvPr>
          <p:cNvSpPr>
            <a:spLocks xmlns:a="http://schemas.openxmlformats.org/drawingml/2006/main" noGrp="1"/>
          </p:cNvSpPr>
          <p:nvPr/>
        </p:nvSpPr>
        <p:spPr>
          <a:xfrm xmlns:a="http://schemas.openxmlformats.org/drawingml/2006/main">
            <a:off x="5715000" y="5400675"/>
            <a:ext cx="581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100" b="1">
                <a:solidFill>
                  <a:srgbClr val="086B93"/>
                </a:solidFill>
                <a:latin typeface="Arial"/>
                <a:ea typeface="Arial"/>
                <a:cs typeface="Arial"/>
              </a:rPr>
              <a:t>B = D − t_ready − T_display − margin</a:t>
            </a:r>
          </a:p>
        </p:txBody>
      </p:sp>
      <p:sp>
        <p:nvSpPr>
          <p:cNvPr id="28" name="">
            <a:extLst xmlns:a="http://schemas.openxmlformats.org/drawingml/2006/main">
              <a:ext uri="{FF2B5EF4-FFF2-40B4-BE49-F238E27FC236}">
                <a16:creationId xmlns:a16="http://schemas.microsoft.com/office/drawing/2014/main" id="{E1E987A0-055A-4AF1-B6FC-89F53AF18379}"/>
              </a:ext>
            </a:extLst>
          </p:cNvPr>
          <p:cNvSpPr>
            <a:spLocks xmlns:a="http://schemas.openxmlformats.org/drawingml/2006/main" noGrp="1"/>
          </p:cNvSpPr>
          <p:nvPr/>
        </p:nvSpPr>
        <p:spPr>
          <a:xfrm xmlns:a="http://schemas.openxmlformats.org/drawingml/2006/main">
            <a:off x="609600" y="5924550"/>
            <a:ext cx="10715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500" b="0">
                <a:solidFill>
                  <a:srgbClr val="536675"/>
                </a:solidFill>
                <a:latin typeface="Arial"/>
                <a:ea typeface="Arial"/>
                <a:cs typeface="Arial"/>
              </a:rPr>
              <a:t>Schematic, not a measured jitter trace. A 90 FPS frame period is 11.11 ms, not a validated end-to-end deadline.</a:t>
            </a:r>
          </a:p>
        </p:txBody>
      </p:sp>
    </p:spTree>
    <p:extLst>
      <p:ext uri="{BB962C8B-B14F-4D97-AF65-F5344CB8AC3E}">
        <p14:creationId xmlns:p14="http://schemas.microsoft.com/office/powerpoint/2010/main" val="177214350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8314488-95F5-4A89-8254-28504070AEC4}"/>
              </a:ext>
            </a:extLst>
          </p:cNvPr>
          <p:cNvSpPr>
            <a:spLocks xmlns:a="http://schemas.openxmlformats.org/drawingml/2006/main" noGrp="1"/>
          </p:cNvSpPr>
          <p:nvPr/>
        </p:nvSpPr>
        <p:spPr>
          <a:xfrm xmlns:a="http://schemas.openxmlformats.org/drawingml/2006/main">
            <a:off x="609600" y="381000"/>
            <a:ext cx="10906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150" b="1">
                <a:solidFill>
                  <a:srgbClr val="152D43"/>
                </a:solidFill>
                <a:latin typeface="Arial"/>
                <a:ea typeface="Arial"/>
                <a:cs typeface="Arial"/>
              </a:rPr>
              <a:t>Adapt the full-resolution region to available time</a:t>
            </a:r>
          </a:p>
        </p:txBody>
      </p:sp>
      <p:sp>
        <p:nvSpPr>
          <p:cNvPr id="2" name="">
            <a:extLst xmlns:a="http://schemas.openxmlformats.org/drawingml/2006/main">
              <a:ext uri="{FF2B5EF4-FFF2-40B4-BE49-F238E27FC236}">
                <a16:creationId xmlns:a16="http://schemas.microsoft.com/office/drawing/2014/main" id="{E37F8AF4-6809-4482-ABDE-A956CF01A1F2}"/>
              </a:ext>
            </a:extLst>
          </p:cNvPr>
          <p:cNvSpPr>
            <a:spLocks xmlns:a="http://schemas.openxmlformats.org/drawingml/2006/main" noGrp="1"/>
          </p:cNvSpPr>
          <p:nvPr/>
        </p:nvSpPr>
        <p:spPr>
          <a:xfrm xmlns:a="http://schemas.openxmlformats.org/drawingml/2006/main">
            <a:off x="609600" y="1162050"/>
            <a:ext cx="10972800" cy="0"/>
          </a:xfrm>
          <a:prstGeom xmlns:a="http://schemas.openxmlformats.org/drawingml/2006/main" prst="line">
            <a:avLst/>
          </a:prstGeom>
          <a:noFill xmlns:a="http://schemas.openxmlformats.org/drawingml/2006/main"/>
          <a:ln xmlns:a="http://schemas.openxmlformats.org/drawingml/2006/main" w="9525">
            <a:solidFill>
              <a:srgbClr val="D7DFE5"/>
            </a:solidFill>
          </a:ln>
        </p:spPr>
      </p:sp>
      <p:sp>
        <p:nvSpPr>
          <p:cNvPr id="3" name="">
            <a:extLst xmlns:a="http://schemas.openxmlformats.org/drawingml/2006/main">
              <a:ext uri="{FF2B5EF4-FFF2-40B4-BE49-F238E27FC236}">
                <a16:creationId xmlns:a16="http://schemas.microsoft.com/office/drawing/2014/main" id="{949D0F0D-9A1F-4622-843D-15752C163B25}"/>
              </a:ext>
            </a:extLst>
          </p:cNvPr>
          <p:cNvSpPr>
            <a:spLocks xmlns:a="http://schemas.openxmlformats.org/drawingml/2006/main" noGrp="1"/>
          </p:cNvSpPr>
          <p:nvPr/>
        </p:nvSpPr>
        <p:spPr>
          <a:xfrm xmlns:a="http://schemas.openxmlformats.org/drawingml/2006/main">
            <a:off x="11353800" y="6429375"/>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275" b="0">
                <a:solidFill>
                  <a:srgbClr val="536675"/>
                </a:solidFill>
                <a:latin typeface="Arial"/>
                <a:ea typeface="Arial"/>
                <a:cs typeface="Arial"/>
              </a:rPr>
              <a:t>3</a:t>
            </a:r>
          </a:p>
        </p:txBody>
      </p:sp>
      <p:sp>
        <p:nvSpPr>
          <p:cNvPr id="4" name="">
            <a:extLst xmlns:a="http://schemas.openxmlformats.org/drawingml/2006/main">
              <a:ext uri="{FF2B5EF4-FFF2-40B4-BE49-F238E27FC236}">
                <a16:creationId xmlns:a16="http://schemas.microsoft.com/office/drawing/2014/main" id="{54F45F1E-AF93-434A-A128-03E7F0FE12AA}"/>
              </a:ext>
            </a:extLst>
          </p:cNvPr>
          <p:cNvSpPr>
            <a:spLocks xmlns:a="http://schemas.openxmlformats.org/drawingml/2006/main" noGrp="1"/>
          </p:cNvSpPr>
          <p:nvPr/>
        </p:nvSpPr>
        <p:spPr>
          <a:xfrm xmlns:a="http://schemas.openxmlformats.org/drawingml/2006/main">
            <a:off x="609600" y="2219325"/>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925" b="1">
                <a:solidFill>
                  <a:srgbClr val="086B93"/>
                </a:solidFill>
                <a:latin typeface="Arial"/>
                <a:ea typeface="Arial"/>
                <a:cs typeface="Arial"/>
              </a:rPr>
              <a:t>More time</a:t>
            </a:r>
          </a:p>
        </p:txBody>
      </p:sp>
      <p:sp>
        <p:nvSpPr>
          <p:cNvPr id="5" name="">
            <a:extLst xmlns:a="http://schemas.openxmlformats.org/drawingml/2006/main">
              <a:ext uri="{FF2B5EF4-FFF2-40B4-BE49-F238E27FC236}">
                <a16:creationId xmlns:a16="http://schemas.microsoft.com/office/drawing/2014/main" id="{67369606-E028-46D9-8868-903DFD15430F}"/>
              </a:ext>
            </a:extLst>
          </p:cNvPr>
          <p:cNvSpPr>
            <a:spLocks xmlns:a="http://schemas.openxmlformats.org/drawingml/2006/main" noGrp="1"/>
          </p:cNvSpPr>
          <p:nvPr/>
        </p:nvSpPr>
        <p:spPr>
          <a:xfrm xmlns:a="http://schemas.openxmlformats.org/drawingml/2006/main">
            <a:off x="3238500" y="2362200"/>
            <a:ext cx="1333500" cy="238125"/>
          </a:xfrm>
          <a:prstGeom xmlns:a="http://schemas.openxmlformats.org/drawingml/2006/main" prst="rightArrow">
            <a:avLst/>
          </a:prstGeom>
          <a:solidFill xmlns:a="http://schemas.openxmlformats.org/drawingml/2006/main">
            <a:srgbClr val="086B93"/>
          </a:solidFill>
          <a:ln xmlns:a="http://schemas.openxmlformats.org/drawingml/2006/main" w="0">
            <a:solidFill>
              <a:srgbClr val="086B93"/>
            </a:solidFill>
          </a:ln>
        </p:spPr>
      </p:sp>
      <p:sp>
        <p:nvSpPr>
          <p:cNvPr id="6" name="">
            <a:extLst xmlns:a="http://schemas.openxmlformats.org/drawingml/2006/main">
              <a:ext uri="{FF2B5EF4-FFF2-40B4-BE49-F238E27FC236}">
                <a16:creationId xmlns:a16="http://schemas.microsoft.com/office/drawing/2014/main" id="{945721C7-F459-4F06-AEF1-4DB2416DB582}"/>
              </a:ext>
            </a:extLst>
          </p:cNvPr>
          <p:cNvSpPr>
            <a:spLocks xmlns:a="http://schemas.openxmlformats.org/drawingml/2006/main" noGrp="1"/>
          </p:cNvSpPr>
          <p:nvPr/>
        </p:nvSpPr>
        <p:spPr>
          <a:xfrm xmlns:a="http://schemas.openxmlformats.org/drawingml/2006/main">
            <a:off x="5095875" y="1714500"/>
            <a:ext cx="6191250" cy="1476375"/>
          </a:xfrm>
          <a:prstGeom xmlns:a="http://schemas.openxmlformats.org/drawingml/2006/main" prst="rect">
            <a:avLst/>
          </a:prstGeom>
          <a:solidFill xmlns:a="http://schemas.openxmlformats.org/drawingml/2006/main">
            <a:srgbClr val="EAF3F6"/>
          </a:solidFill>
          <a:ln xmlns:a="http://schemas.openxmlformats.org/drawingml/2006/main" w="14288">
            <a:solidFill>
              <a:srgbClr val="D7DFE5"/>
            </a:solidFill>
          </a:ln>
        </p:spPr>
      </p:sp>
      <p:sp>
        <p:nvSpPr>
          <p:cNvPr id="7" name="">
            <a:extLst xmlns:a="http://schemas.openxmlformats.org/drawingml/2006/main">
              <a:ext uri="{FF2B5EF4-FFF2-40B4-BE49-F238E27FC236}">
                <a16:creationId xmlns:a16="http://schemas.microsoft.com/office/drawing/2014/main" id="{1BCF0B65-24E1-40D5-8BE1-26397FC0DD3C}"/>
              </a:ext>
            </a:extLst>
          </p:cNvPr>
          <p:cNvSpPr>
            <a:spLocks xmlns:a="http://schemas.openxmlformats.org/drawingml/2006/main" noGrp="1"/>
          </p:cNvSpPr>
          <p:nvPr/>
        </p:nvSpPr>
        <p:spPr>
          <a:xfrm xmlns:a="http://schemas.openxmlformats.org/drawingml/2006/main">
            <a:off x="6381750" y="1905000"/>
            <a:ext cx="3619500" cy="1095375"/>
          </a:xfrm>
          <a:prstGeom xmlns:a="http://schemas.openxmlformats.org/drawingml/2006/main" prst="rect">
            <a:avLst/>
          </a:prstGeom>
          <a:solidFill xmlns:a="http://schemas.openxmlformats.org/drawingml/2006/main">
            <a:srgbClr val="FFFFFF"/>
          </a:solidFill>
          <a:ln xmlns:a="http://schemas.openxmlformats.org/drawingml/2006/main" w="14288">
            <a:solidFill>
              <a:srgbClr val="086B93"/>
            </a:solidFill>
          </a:ln>
        </p:spPr>
      </p:sp>
      <p:sp>
        <p:nvSpPr>
          <p:cNvPr id="8" name="">
            <a:extLst xmlns:a="http://schemas.openxmlformats.org/drawingml/2006/main">
              <a:ext uri="{FF2B5EF4-FFF2-40B4-BE49-F238E27FC236}">
                <a16:creationId xmlns:a16="http://schemas.microsoft.com/office/drawing/2014/main" id="{DF164F27-6195-4D55-925C-B8C3774314BD}"/>
              </a:ext>
            </a:extLst>
          </p:cNvPr>
          <p:cNvSpPr>
            <a:spLocks xmlns:a="http://schemas.openxmlformats.org/drawingml/2006/main" noGrp="1"/>
          </p:cNvSpPr>
          <p:nvPr/>
        </p:nvSpPr>
        <p:spPr>
          <a:xfrm xmlns:a="http://schemas.openxmlformats.org/drawingml/2006/main">
            <a:off x="6153150" y="3333750"/>
            <a:ext cx="5286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175" b="1">
                <a:solidFill>
                  <a:srgbClr val="086B93"/>
                </a:solidFill>
                <a:latin typeface="Arial"/>
                <a:ea typeface="Arial"/>
                <a:cs typeface="Arial"/>
              </a:rPr>
              <a:t>Larger full-resolution region</a:t>
            </a:r>
          </a:p>
        </p:txBody>
      </p:sp>
      <p:sp>
        <p:nvSpPr>
          <p:cNvPr id="9" name="">
            <a:extLst xmlns:a="http://schemas.openxmlformats.org/drawingml/2006/main">
              <a:ext uri="{FF2B5EF4-FFF2-40B4-BE49-F238E27FC236}">
                <a16:creationId xmlns:a16="http://schemas.microsoft.com/office/drawing/2014/main" id="{5904871F-AFF8-4475-8D9D-73415AD2C852}"/>
              </a:ext>
            </a:extLst>
          </p:cNvPr>
          <p:cNvSpPr>
            <a:spLocks xmlns:a="http://schemas.openxmlformats.org/drawingml/2006/main" noGrp="1"/>
          </p:cNvSpPr>
          <p:nvPr/>
        </p:nvSpPr>
        <p:spPr>
          <a:xfrm xmlns:a="http://schemas.openxmlformats.org/drawingml/2006/main">
            <a:off x="609600" y="42481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925" b="1">
                <a:solidFill>
                  <a:srgbClr val="148B83"/>
                </a:solidFill>
                <a:latin typeface="Arial"/>
                <a:ea typeface="Arial"/>
                <a:cs typeface="Arial"/>
              </a:rPr>
              <a:t>Less time</a:t>
            </a:r>
          </a:p>
        </p:txBody>
      </p:sp>
      <p:sp>
        <p:nvSpPr>
          <p:cNvPr id="10" name="">
            <a:extLst xmlns:a="http://schemas.openxmlformats.org/drawingml/2006/main">
              <a:ext uri="{FF2B5EF4-FFF2-40B4-BE49-F238E27FC236}">
                <a16:creationId xmlns:a16="http://schemas.microsoft.com/office/drawing/2014/main" id="{9E9FF4C9-3B3D-4243-AE2B-A77DE38A4ADB}"/>
              </a:ext>
            </a:extLst>
          </p:cNvPr>
          <p:cNvSpPr>
            <a:spLocks xmlns:a="http://schemas.openxmlformats.org/drawingml/2006/main" noGrp="1"/>
          </p:cNvSpPr>
          <p:nvPr/>
        </p:nvSpPr>
        <p:spPr>
          <a:xfrm xmlns:a="http://schemas.openxmlformats.org/drawingml/2006/main">
            <a:off x="3238500" y="4391025"/>
            <a:ext cx="1333500" cy="238125"/>
          </a:xfrm>
          <a:prstGeom xmlns:a="http://schemas.openxmlformats.org/drawingml/2006/main" prst="rightArrow">
            <a:avLst/>
          </a:prstGeom>
          <a:solidFill xmlns:a="http://schemas.openxmlformats.org/drawingml/2006/main">
            <a:srgbClr val="148B83"/>
          </a:solidFill>
          <a:ln xmlns:a="http://schemas.openxmlformats.org/drawingml/2006/main" w="0">
            <a:solidFill>
              <a:srgbClr val="148B83"/>
            </a:solidFill>
          </a:ln>
        </p:spPr>
      </p:sp>
      <p:sp>
        <p:nvSpPr>
          <p:cNvPr id="11" name="">
            <a:extLst xmlns:a="http://schemas.openxmlformats.org/drawingml/2006/main">
              <a:ext uri="{FF2B5EF4-FFF2-40B4-BE49-F238E27FC236}">
                <a16:creationId xmlns:a16="http://schemas.microsoft.com/office/drawing/2014/main" id="{CE88174E-7E5A-4433-AAB6-44E2B2869984}"/>
              </a:ext>
            </a:extLst>
          </p:cNvPr>
          <p:cNvSpPr>
            <a:spLocks xmlns:a="http://schemas.openxmlformats.org/drawingml/2006/main" noGrp="1"/>
          </p:cNvSpPr>
          <p:nvPr/>
        </p:nvSpPr>
        <p:spPr>
          <a:xfrm xmlns:a="http://schemas.openxmlformats.org/drawingml/2006/main">
            <a:off x="5095875" y="3857625"/>
            <a:ext cx="6191250" cy="1476375"/>
          </a:xfrm>
          <a:prstGeom xmlns:a="http://schemas.openxmlformats.org/drawingml/2006/main" prst="rect">
            <a:avLst/>
          </a:prstGeom>
          <a:solidFill xmlns:a="http://schemas.openxmlformats.org/drawingml/2006/main">
            <a:srgbClr val="EAF3F6"/>
          </a:solidFill>
          <a:ln xmlns:a="http://schemas.openxmlformats.org/drawingml/2006/main" w="14288">
            <a:solidFill>
              <a:srgbClr val="D7DFE5"/>
            </a:solidFill>
          </a:ln>
        </p:spPr>
      </p:sp>
      <p:sp>
        <p:nvSpPr>
          <p:cNvPr id="12" name="">
            <a:extLst xmlns:a="http://schemas.openxmlformats.org/drawingml/2006/main">
              <a:ext uri="{FF2B5EF4-FFF2-40B4-BE49-F238E27FC236}">
                <a16:creationId xmlns:a16="http://schemas.microsoft.com/office/drawing/2014/main" id="{1217363F-B071-4FF4-8C04-72A3F84CAFFB}"/>
              </a:ext>
            </a:extLst>
          </p:cNvPr>
          <p:cNvSpPr>
            <a:spLocks xmlns:a="http://schemas.openxmlformats.org/drawingml/2006/main" noGrp="1"/>
          </p:cNvSpPr>
          <p:nvPr/>
        </p:nvSpPr>
        <p:spPr>
          <a:xfrm xmlns:a="http://schemas.openxmlformats.org/drawingml/2006/main">
            <a:off x="7667625" y="4305300"/>
            <a:ext cx="1047750" cy="590550"/>
          </a:xfrm>
          <a:prstGeom xmlns:a="http://schemas.openxmlformats.org/drawingml/2006/main" prst="rect">
            <a:avLst/>
          </a:prstGeom>
          <a:solidFill xmlns:a="http://schemas.openxmlformats.org/drawingml/2006/main">
            <a:srgbClr val="FFFFFF"/>
          </a:solidFill>
          <a:ln xmlns:a="http://schemas.openxmlformats.org/drawingml/2006/main" w="14288">
            <a:solidFill>
              <a:srgbClr val="148B83"/>
            </a:solidFill>
          </a:ln>
        </p:spPr>
      </p:sp>
      <p:sp>
        <p:nvSpPr>
          <p:cNvPr id="13" name="">
            <a:extLst xmlns:a="http://schemas.openxmlformats.org/drawingml/2006/main">
              <a:ext uri="{FF2B5EF4-FFF2-40B4-BE49-F238E27FC236}">
                <a16:creationId xmlns:a16="http://schemas.microsoft.com/office/drawing/2014/main" id="{FE88A4C2-F210-4103-84F5-FA660E99F2B8}"/>
              </a:ext>
            </a:extLst>
          </p:cNvPr>
          <p:cNvSpPr>
            <a:spLocks xmlns:a="http://schemas.openxmlformats.org/drawingml/2006/main" noGrp="1"/>
          </p:cNvSpPr>
          <p:nvPr/>
        </p:nvSpPr>
        <p:spPr>
          <a:xfrm xmlns:a="http://schemas.openxmlformats.org/drawingml/2006/main">
            <a:off x="5953125" y="5476875"/>
            <a:ext cx="5524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175" b="1">
                <a:solidFill>
                  <a:srgbClr val="148B83"/>
                </a:solidFill>
                <a:latin typeface="Arial"/>
                <a:ea typeface="Arial"/>
                <a:cs typeface="Arial"/>
              </a:rPr>
              <a:t>Smaller full-resolution region</a:t>
            </a:r>
          </a:p>
        </p:txBody>
      </p:sp>
      <p:sp>
        <p:nvSpPr>
          <p:cNvPr id="14" name="">
            <a:extLst xmlns:a="http://schemas.openxmlformats.org/drawingml/2006/main">
              <a:ext uri="{FF2B5EF4-FFF2-40B4-BE49-F238E27FC236}">
                <a16:creationId xmlns:a16="http://schemas.microsoft.com/office/drawing/2014/main" id="{3ADAFE3C-26D3-4C3D-A814-C8120791612E}"/>
              </a:ext>
            </a:extLst>
          </p:cNvPr>
          <p:cNvSpPr>
            <a:spLocks xmlns:a="http://schemas.openxmlformats.org/drawingml/2006/main" noGrp="1"/>
          </p:cNvSpPr>
          <p:nvPr/>
        </p:nvSpPr>
        <p:spPr>
          <a:xfrm xmlns:a="http://schemas.openxmlformats.org/drawingml/2006/main">
            <a:off x="609600" y="5924550"/>
            <a:ext cx="10715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500" b="0">
                <a:solidFill>
                  <a:srgbClr val="536675"/>
                </a:solidFill>
                <a:latin typeface="Arial"/>
                <a:ea typeface="Arial"/>
                <a:cs typeface="Arial"/>
              </a:rPr>
              <a:t>Proposed adaptation. Fixed-center levels are measured; scheduling and deadline-miss reduction remain unverified.</a:t>
            </a:r>
          </a:p>
        </p:txBody>
      </p:sp>
    </p:spTree>
    <p:extLst>
      <p:ext uri="{BB962C8B-B14F-4D97-AF65-F5344CB8AC3E}">
        <p14:creationId xmlns:p14="http://schemas.microsoft.com/office/powerpoint/2010/main" val="8816214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77A2CD6-9CCA-4F70-8E75-A69F20B3ADE0}"/>
              </a:ext>
            </a:extLst>
          </p:cNvPr>
          <p:cNvSpPr>
            <a:spLocks xmlns:a="http://schemas.openxmlformats.org/drawingml/2006/main" noGrp="1"/>
          </p:cNvSpPr>
          <p:nvPr/>
        </p:nvSpPr>
        <p:spPr>
          <a:xfrm xmlns:a="http://schemas.openxmlformats.org/drawingml/2006/main">
            <a:off x="609600" y="381000"/>
            <a:ext cx="10906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150" b="1">
                <a:solidFill>
                  <a:srgbClr val="152D43"/>
                </a:solidFill>
                <a:latin typeface="Arial"/>
                <a:ea typeface="Arial"/>
                <a:cs typeface="Arial"/>
              </a:rPr>
              <a:t>Half-resolution base with a full-resolution center</a:t>
            </a:r>
          </a:p>
        </p:txBody>
      </p:sp>
      <p:sp>
        <p:nvSpPr>
          <p:cNvPr id="2" name="">
            <a:extLst xmlns:a="http://schemas.openxmlformats.org/drawingml/2006/main">
              <a:ext uri="{FF2B5EF4-FFF2-40B4-BE49-F238E27FC236}">
                <a16:creationId xmlns:a16="http://schemas.microsoft.com/office/drawing/2014/main" id="{DCF012B0-4761-40C7-9003-6393ECED7B99}"/>
              </a:ext>
            </a:extLst>
          </p:cNvPr>
          <p:cNvSpPr>
            <a:spLocks xmlns:a="http://schemas.openxmlformats.org/drawingml/2006/main" noGrp="1"/>
          </p:cNvSpPr>
          <p:nvPr/>
        </p:nvSpPr>
        <p:spPr>
          <a:xfrm xmlns:a="http://schemas.openxmlformats.org/drawingml/2006/main">
            <a:off x="609600" y="1162050"/>
            <a:ext cx="10972800" cy="0"/>
          </a:xfrm>
          <a:prstGeom xmlns:a="http://schemas.openxmlformats.org/drawingml/2006/main" prst="line">
            <a:avLst/>
          </a:prstGeom>
          <a:noFill xmlns:a="http://schemas.openxmlformats.org/drawingml/2006/main"/>
          <a:ln xmlns:a="http://schemas.openxmlformats.org/drawingml/2006/main" w="9525">
            <a:solidFill>
              <a:srgbClr val="D7DFE5"/>
            </a:solidFill>
          </a:ln>
        </p:spPr>
      </p:sp>
      <p:sp>
        <p:nvSpPr>
          <p:cNvPr id="3" name="">
            <a:extLst xmlns:a="http://schemas.openxmlformats.org/drawingml/2006/main">
              <a:ext uri="{FF2B5EF4-FFF2-40B4-BE49-F238E27FC236}">
                <a16:creationId xmlns:a16="http://schemas.microsoft.com/office/drawing/2014/main" id="{A7A9EA71-E746-477E-B3CA-BBB6CB62D408}"/>
              </a:ext>
            </a:extLst>
          </p:cNvPr>
          <p:cNvSpPr>
            <a:spLocks xmlns:a="http://schemas.openxmlformats.org/drawingml/2006/main" noGrp="1"/>
          </p:cNvSpPr>
          <p:nvPr/>
        </p:nvSpPr>
        <p:spPr>
          <a:xfrm xmlns:a="http://schemas.openxmlformats.org/drawingml/2006/main">
            <a:off x="11353800" y="6429375"/>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275" b="0">
                <a:solidFill>
                  <a:srgbClr val="536675"/>
                </a:solidFill>
                <a:latin typeface="Arial"/>
                <a:ea typeface="Arial"/>
                <a:cs typeface="Arial"/>
              </a:rPr>
              <a:t>4</a:t>
            </a:r>
          </a:p>
        </p:txBody>
      </p:sp>
      <p:sp>
        <p:nvSpPr>
          <p:cNvPr id="4" name="">
            <a:extLst xmlns:a="http://schemas.openxmlformats.org/drawingml/2006/main">
              <a:ext uri="{FF2B5EF4-FFF2-40B4-BE49-F238E27FC236}">
                <a16:creationId xmlns:a16="http://schemas.microsoft.com/office/drawing/2014/main" id="{7FAE07CA-C534-4BF5-BAC7-AF0C4C69778B}"/>
              </a:ext>
            </a:extLst>
          </p:cNvPr>
          <p:cNvSpPr>
            <a:spLocks xmlns:a="http://schemas.openxmlformats.org/drawingml/2006/main" noGrp="1"/>
          </p:cNvSpPr>
          <p:nvPr/>
        </p:nvSpPr>
        <p:spPr>
          <a:xfrm xmlns:a="http://schemas.openxmlformats.org/drawingml/2006/main">
            <a:off x="609600" y="1438275"/>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250" b="0">
                <a:solidFill>
                  <a:srgbClr val="152D43"/>
                </a:solidFill>
                <a:latin typeface="Arial"/>
                <a:ea typeface="Arial"/>
                <a:cs typeface="Arial"/>
              </a:rPr>
              <a:t>Shared image, disparity, and optical-flow inputs</a:t>
            </a:r>
          </a:p>
        </p:txBody>
      </p:sp>
      <p:sp>
        <p:nvSpPr>
          <p:cNvPr id="5" name="">
            <a:extLst xmlns:a="http://schemas.openxmlformats.org/drawingml/2006/main">
              <a:ext uri="{FF2B5EF4-FFF2-40B4-BE49-F238E27FC236}">
                <a16:creationId xmlns:a16="http://schemas.microsoft.com/office/drawing/2014/main" id="{A810392A-9967-4924-9C27-39603114A1A5}"/>
              </a:ext>
            </a:extLst>
          </p:cNvPr>
          <p:cNvSpPr>
            <a:spLocks xmlns:a="http://schemas.openxmlformats.org/drawingml/2006/main" noGrp="1"/>
          </p:cNvSpPr>
          <p:nvPr/>
        </p:nvSpPr>
        <p:spPr>
          <a:xfrm xmlns:a="http://schemas.openxmlformats.org/drawingml/2006/main">
            <a:off x="857250" y="2362200"/>
            <a:ext cx="3048000" cy="1714500"/>
          </a:xfrm>
          <a:prstGeom xmlns:a="http://schemas.openxmlformats.org/drawingml/2006/main" prst="rect">
            <a:avLst/>
          </a:prstGeom>
          <a:solidFill xmlns:a="http://schemas.openxmlformats.org/drawingml/2006/main">
            <a:srgbClr val="EAF3F6"/>
          </a:solidFill>
          <a:ln xmlns:a="http://schemas.openxmlformats.org/drawingml/2006/main" w="14288">
            <a:solidFill>
              <a:srgbClr val="086B93"/>
            </a:solidFill>
          </a:ln>
        </p:spPr>
      </p:sp>
      <p:sp>
        <p:nvSpPr>
          <p:cNvPr id="6" name="">
            <a:extLst xmlns:a="http://schemas.openxmlformats.org/drawingml/2006/main">
              <a:ext uri="{FF2B5EF4-FFF2-40B4-BE49-F238E27FC236}">
                <a16:creationId xmlns:a16="http://schemas.microsoft.com/office/drawing/2014/main" id="{505D8F2E-01E1-4DF6-871A-1378E7BF0A1B}"/>
              </a:ext>
            </a:extLst>
          </p:cNvPr>
          <p:cNvSpPr>
            <a:spLocks xmlns:a="http://schemas.openxmlformats.org/drawingml/2006/main" noGrp="1"/>
          </p:cNvSpPr>
          <p:nvPr/>
        </p:nvSpPr>
        <p:spPr>
          <a:xfrm xmlns:a="http://schemas.openxmlformats.org/drawingml/2006/main">
            <a:off x="1066800" y="2667000"/>
            <a:ext cx="2667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950" b="1">
                <a:solidFill>
                  <a:srgbClr val="086B93"/>
                </a:solidFill>
                <a:latin typeface="Arial"/>
                <a:ea typeface="Arial"/>
                <a:cs typeface="Arial"/>
              </a:rPr>
              <a:t>Base sampling</a:t>
            </a:r>
          </a:p>
          <a:p xmlns:a="http://schemas.openxmlformats.org/drawingml/2006/main">
            <a:r>
              <a:rPr sz="1950" b="1">
                <a:solidFill>
                  <a:srgbClr val="086B93"/>
                </a:solidFill>
                <a:latin typeface="Arial"/>
                <a:ea typeface="Arial"/>
                <a:cs typeface="Arial"/>
              </a:rPr>
              <a:t>50% W × 50% H</a:t>
            </a:r>
          </a:p>
          <a:p xmlns:a="http://schemas.openxmlformats.org/drawingml/2006/main">
            <a:r>
              <a:rPr sz="1950" b="1">
                <a:solidFill>
                  <a:srgbClr val="086B93"/>
                </a:solidFill>
                <a:latin typeface="Arial"/>
                <a:ea typeface="Arial"/>
                <a:cs typeface="Arial"/>
              </a:rPr>
              <a:t>(25% of pixels)</a:t>
            </a:r>
          </a:p>
        </p:txBody>
      </p:sp>
      <p:sp>
        <p:nvSpPr>
          <p:cNvPr id="7" name="">
            <a:extLst xmlns:a="http://schemas.openxmlformats.org/drawingml/2006/main">
              <a:ext uri="{FF2B5EF4-FFF2-40B4-BE49-F238E27FC236}">
                <a16:creationId xmlns:a16="http://schemas.microsoft.com/office/drawing/2014/main" id="{B2291553-3643-4492-9D76-6F42600A5AA8}"/>
              </a:ext>
            </a:extLst>
          </p:cNvPr>
          <p:cNvSpPr>
            <a:spLocks xmlns:a="http://schemas.openxmlformats.org/drawingml/2006/main" noGrp="1"/>
          </p:cNvSpPr>
          <p:nvPr/>
        </p:nvSpPr>
        <p:spPr>
          <a:xfrm xmlns:a="http://schemas.openxmlformats.org/drawingml/2006/main">
            <a:off x="857250" y="4257675"/>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875" b="0">
                <a:solidFill>
                  <a:srgbClr val="536675"/>
                </a:solidFill>
                <a:latin typeface="Arial"/>
                <a:ea typeface="Arial"/>
                <a:cs typeface="Arial"/>
              </a:rPr>
              <a:t>Base covers the whole image</a:t>
            </a:r>
          </a:p>
        </p:txBody>
      </p:sp>
      <p:sp>
        <p:nvSpPr>
          <p:cNvPr id="8" name="">
            <a:extLst xmlns:a="http://schemas.openxmlformats.org/drawingml/2006/main">
              <a:ext uri="{FF2B5EF4-FFF2-40B4-BE49-F238E27FC236}">
                <a16:creationId xmlns:a16="http://schemas.microsoft.com/office/drawing/2014/main" id="{6538C425-72B7-4683-A882-7EB441F302E7}"/>
              </a:ext>
            </a:extLst>
          </p:cNvPr>
          <p:cNvSpPr>
            <a:spLocks xmlns:a="http://schemas.openxmlformats.org/drawingml/2006/main" noGrp="1"/>
          </p:cNvSpPr>
          <p:nvPr/>
        </p:nvSpPr>
        <p:spPr>
          <a:xfrm xmlns:a="http://schemas.openxmlformats.org/drawingml/2006/main">
            <a:off x="4619625" y="2362200"/>
            <a:ext cx="3048000" cy="1714500"/>
          </a:xfrm>
          <a:prstGeom xmlns:a="http://schemas.openxmlformats.org/drawingml/2006/main" prst="rect">
            <a:avLst/>
          </a:prstGeom>
          <a:solidFill xmlns:a="http://schemas.openxmlformats.org/drawingml/2006/main">
            <a:srgbClr val="FFFFFF"/>
          </a:solidFill>
          <a:ln xmlns:a="http://schemas.openxmlformats.org/drawingml/2006/main" w="14288">
            <a:solidFill>
              <a:srgbClr val="D7DFE5"/>
            </a:solidFill>
          </a:ln>
        </p:spPr>
      </p:sp>
      <p:sp>
        <p:nvSpPr>
          <p:cNvPr id="9" name="">
            <a:extLst xmlns:a="http://schemas.openxmlformats.org/drawingml/2006/main">
              <a:ext uri="{FF2B5EF4-FFF2-40B4-BE49-F238E27FC236}">
                <a16:creationId xmlns:a16="http://schemas.microsoft.com/office/drawing/2014/main" id="{21158988-E577-41D8-88E1-6CE53B01029A}"/>
              </a:ext>
            </a:extLst>
          </p:cNvPr>
          <p:cNvSpPr>
            <a:spLocks xmlns:a="http://schemas.openxmlformats.org/drawingml/2006/main" noGrp="1"/>
          </p:cNvSpPr>
          <p:nvPr/>
        </p:nvSpPr>
        <p:spPr>
          <a:xfrm xmlns:a="http://schemas.openxmlformats.org/drawingml/2006/main">
            <a:off x="5619750" y="2895600"/>
            <a:ext cx="1047750" cy="647700"/>
          </a:xfrm>
          <a:prstGeom xmlns:a="http://schemas.openxmlformats.org/drawingml/2006/main" prst="rect">
            <a:avLst/>
          </a:prstGeom>
          <a:solidFill xmlns:a="http://schemas.openxmlformats.org/drawingml/2006/main">
            <a:srgbClr val="EAF3F6"/>
          </a:solidFill>
          <a:ln xmlns:a="http://schemas.openxmlformats.org/drawingml/2006/main" w="14288">
            <a:solidFill>
              <a:srgbClr val="148B83"/>
            </a:solidFill>
          </a:ln>
        </p:spPr>
      </p:sp>
      <p:sp>
        <p:nvSpPr>
          <p:cNvPr id="10" name="">
            <a:extLst xmlns:a="http://schemas.openxmlformats.org/drawingml/2006/main">
              <a:ext uri="{FF2B5EF4-FFF2-40B4-BE49-F238E27FC236}">
                <a16:creationId xmlns:a16="http://schemas.microsoft.com/office/drawing/2014/main" id="{E539C618-3801-411B-A00B-36C5D4D02533}"/>
              </a:ext>
            </a:extLst>
          </p:cNvPr>
          <p:cNvSpPr>
            <a:spLocks xmlns:a="http://schemas.openxmlformats.org/drawingml/2006/main" noGrp="1"/>
          </p:cNvSpPr>
          <p:nvPr/>
        </p:nvSpPr>
        <p:spPr>
          <a:xfrm xmlns:a="http://schemas.openxmlformats.org/drawingml/2006/main">
            <a:off x="5600700" y="310515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800" b="1">
                <a:solidFill>
                  <a:srgbClr val="148B83"/>
                </a:solidFill>
                <a:latin typeface="Arial"/>
                <a:ea typeface="Arial"/>
                <a:cs typeface="Arial"/>
              </a:rPr>
              <a:t>ROI</a:t>
            </a:r>
          </a:p>
        </p:txBody>
      </p:sp>
      <p:sp>
        <p:nvSpPr>
          <p:cNvPr id="11" name="">
            <a:extLst xmlns:a="http://schemas.openxmlformats.org/drawingml/2006/main">
              <a:ext uri="{FF2B5EF4-FFF2-40B4-BE49-F238E27FC236}">
                <a16:creationId xmlns:a16="http://schemas.microsoft.com/office/drawing/2014/main" id="{A1C9F0C8-A8F1-4A01-B9D9-61A316C825AA}"/>
              </a:ext>
            </a:extLst>
          </p:cNvPr>
          <p:cNvSpPr>
            <a:spLocks xmlns:a="http://schemas.openxmlformats.org/drawingml/2006/main" noGrp="1"/>
          </p:cNvSpPr>
          <p:nvPr/>
        </p:nvSpPr>
        <p:spPr>
          <a:xfrm xmlns:a="http://schemas.openxmlformats.org/drawingml/2006/main">
            <a:off x="4114800" y="2924175"/>
            <a:ext cx="428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150" b="1">
                <a:solidFill>
                  <a:srgbClr val="086B93"/>
                </a:solidFill>
                <a:latin typeface="Arial"/>
                <a:ea typeface="Arial"/>
                <a:cs typeface="Arial"/>
              </a:rPr>
              <a:t>+</a:t>
            </a:r>
          </a:p>
        </p:txBody>
      </p:sp>
      <p:sp>
        <p:nvSpPr>
          <p:cNvPr id="12" name="">
            <a:extLst xmlns:a="http://schemas.openxmlformats.org/drawingml/2006/main">
              <a:ext uri="{FF2B5EF4-FFF2-40B4-BE49-F238E27FC236}">
                <a16:creationId xmlns:a16="http://schemas.microsoft.com/office/drawing/2014/main" id="{729384C7-536F-4347-BB1E-B3FFBBE295DE}"/>
              </a:ext>
            </a:extLst>
          </p:cNvPr>
          <p:cNvSpPr>
            <a:spLocks xmlns:a="http://schemas.openxmlformats.org/drawingml/2006/main" noGrp="1"/>
          </p:cNvSpPr>
          <p:nvPr/>
        </p:nvSpPr>
        <p:spPr>
          <a:xfrm xmlns:a="http://schemas.openxmlformats.org/drawingml/2006/main">
            <a:off x="4619625" y="4257675"/>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875" b="0">
                <a:solidFill>
                  <a:srgbClr val="536675"/>
                </a:solidFill>
                <a:latin typeface="Arial"/>
                <a:ea typeface="Arial"/>
                <a:cs typeface="Arial"/>
              </a:rPr>
              <a:t>Full resolution within the ROI</a:t>
            </a:r>
          </a:p>
        </p:txBody>
      </p:sp>
      <p:sp>
        <p:nvSpPr>
          <p:cNvPr id="13" name="">
            <a:extLst xmlns:a="http://schemas.openxmlformats.org/drawingml/2006/main">
              <a:ext uri="{FF2B5EF4-FFF2-40B4-BE49-F238E27FC236}">
                <a16:creationId xmlns:a16="http://schemas.microsoft.com/office/drawing/2014/main" id="{41C87B5D-40AB-4CAB-9EDA-14C71ADE667C}"/>
              </a:ext>
            </a:extLst>
          </p:cNvPr>
          <p:cNvSpPr>
            <a:spLocks xmlns:a="http://schemas.openxmlformats.org/drawingml/2006/main" noGrp="1"/>
          </p:cNvSpPr>
          <p:nvPr/>
        </p:nvSpPr>
        <p:spPr>
          <a:xfrm xmlns:a="http://schemas.openxmlformats.org/drawingml/2006/main">
            <a:off x="7867650" y="3067050"/>
            <a:ext cx="571500" cy="209550"/>
          </a:xfrm>
          <a:prstGeom xmlns:a="http://schemas.openxmlformats.org/drawingml/2006/main" prst="rightArrow">
            <a:avLst/>
          </a:prstGeom>
          <a:solidFill xmlns:a="http://schemas.openxmlformats.org/drawingml/2006/main">
            <a:srgbClr val="148B83"/>
          </a:solidFill>
          <a:ln xmlns:a="http://schemas.openxmlformats.org/drawingml/2006/main" w="0">
            <a:solidFill>
              <a:srgbClr val="148B83"/>
            </a:solidFill>
          </a:ln>
        </p:spPr>
      </p:sp>
      <p:sp>
        <p:nvSpPr>
          <p:cNvPr id="14" name="">
            <a:extLst xmlns:a="http://schemas.openxmlformats.org/drawingml/2006/main">
              <a:ext uri="{FF2B5EF4-FFF2-40B4-BE49-F238E27FC236}">
                <a16:creationId xmlns:a16="http://schemas.microsoft.com/office/drawing/2014/main" id="{45AEE0A7-30F0-4D6A-86AB-81EE30300A3C}"/>
              </a:ext>
            </a:extLst>
          </p:cNvPr>
          <p:cNvSpPr>
            <a:spLocks xmlns:a="http://schemas.openxmlformats.org/drawingml/2006/main" noGrp="1"/>
          </p:cNvSpPr>
          <p:nvPr/>
        </p:nvSpPr>
        <p:spPr>
          <a:xfrm xmlns:a="http://schemas.openxmlformats.org/drawingml/2006/main">
            <a:off x="8667750" y="2362200"/>
            <a:ext cx="2857500" cy="1714500"/>
          </a:xfrm>
          <a:prstGeom xmlns:a="http://schemas.openxmlformats.org/drawingml/2006/main" prst="rect">
            <a:avLst/>
          </a:prstGeom>
          <a:solidFill xmlns:a="http://schemas.openxmlformats.org/drawingml/2006/main">
            <a:srgbClr val="EAF3F6"/>
          </a:solidFill>
          <a:ln xmlns:a="http://schemas.openxmlformats.org/drawingml/2006/main" w="14288">
            <a:solidFill>
              <a:srgbClr val="086B93"/>
            </a:solidFill>
          </a:ln>
        </p:spPr>
      </p:sp>
      <p:sp>
        <p:nvSpPr>
          <p:cNvPr id="15" name="">
            <a:extLst xmlns:a="http://schemas.openxmlformats.org/drawingml/2006/main">
              <a:ext uri="{FF2B5EF4-FFF2-40B4-BE49-F238E27FC236}">
                <a16:creationId xmlns:a16="http://schemas.microsoft.com/office/drawing/2014/main" id="{5CBD4861-3C39-4768-A4ED-2C311C9A41B0}"/>
              </a:ext>
            </a:extLst>
          </p:cNvPr>
          <p:cNvSpPr>
            <a:spLocks xmlns:a="http://schemas.openxmlformats.org/drawingml/2006/main" noGrp="1"/>
          </p:cNvSpPr>
          <p:nvPr/>
        </p:nvSpPr>
        <p:spPr>
          <a:xfrm xmlns:a="http://schemas.openxmlformats.org/drawingml/2006/main">
            <a:off x="9667875" y="2895600"/>
            <a:ext cx="857250" cy="647700"/>
          </a:xfrm>
          <a:prstGeom xmlns:a="http://schemas.openxmlformats.org/drawingml/2006/main" prst="rect">
            <a:avLst/>
          </a:prstGeom>
          <a:solidFill xmlns:a="http://schemas.openxmlformats.org/drawingml/2006/main">
            <a:srgbClr val="FFFFFF"/>
          </a:solidFill>
          <a:ln xmlns:a="http://schemas.openxmlformats.org/drawingml/2006/main" w="14288">
            <a:solidFill>
              <a:srgbClr val="148B83"/>
            </a:solidFill>
          </a:ln>
        </p:spPr>
      </p:sp>
      <p:sp>
        <p:nvSpPr>
          <p:cNvPr id="16" name="">
            <a:extLst xmlns:a="http://schemas.openxmlformats.org/drawingml/2006/main">
              <a:ext uri="{FF2B5EF4-FFF2-40B4-BE49-F238E27FC236}">
                <a16:creationId xmlns:a16="http://schemas.microsoft.com/office/drawing/2014/main" id="{F65ED315-533A-4FA1-9300-498275C3D24F}"/>
              </a:ext>
            </a:extLst>
          </p:cNvPr>
          <p:cNvSpPr>
            <a:spLocks xmlns:a="http://schemas.openxmlformats.org/drawingml/2006/main" noGrp="1"/>
          </p:cNvSpPr>
          <p:nvPr/>
        </p:nvSpPr>
        <p:spPr>
          <a:xfrm xmlns:a="http://schemas.openxmlformats.org/drawingml/2006/main">
            <a:off x="8763000" y="4400550"/>
            <a:ext cx="276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100" b="1">
                <a:solidFill>
                  <a:srgbClr val="086B93"/>
                </a:solidFill>
                <a:latin typeface="Arial"/>
                <a:ea typeface="Arial"/>
                <a:cs typeface="Arial"/>
              </a:rPr>
              <a:t>Upsample + blend</a:t>
            </a:r>
          </a:p>
        </p:txBody>
      </p:sp>
      <p:sp>
        <p:nvSpPr>
          <p:cNvPr id="17" name="">
            <a:extLst xmlns:a="http://schemas.openxmlformats.org/drawingml/2006/main">
              <a:ext uri="{FF2B5EF4-FFF2-40B4-BE49-F238E27FC236}">
                <a16:creationId xmlns:a16="http://schemas.microsoft.com/office/drawing/2014/main" id="{F5722ABB-22DB-475C-9A0E-D7D974BF44B3}"/>
              </a:ext>
            </a:extLst>
          </p:cNvPr>
          <p:cNvSpPr>
            <a:spLocks xmlns:a="http://schemas.openxmlformats.org/drawingml/2006/main" noGrp="1"/>
          </p:cNvSpPr>
          <p:nvPr/>
        </p:nvSpPr>
        <p:spPr>
          <a:xfrm xmlns:a="http://schemas.openxmlformats.org/drawingml/2006/main">
            <a:off x="8982075" y="4857750"/>
            <a:ext cx="2714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950" b="0">
                <a:solidFill>
                  <a:srgbClr val="536675"/>
                </a:solidFill>
                <a:latin typeface="Arial"/>
                <a:ea typeface="Arial"/>
                <a:cs typeface="Arial"/>
              </a:rPr>
              <a:t>960 × 540 output</a:t>
            </a:r>
          </a:p>
        </p:txBody>
      </p:sp>
      <p:sp>
        <p:nvSpPr>
          <p:cNvPr id="18" name="">
            <a:extLst xmlns:a="http://schemas.openxmlformats.org/drawingml/2006/main">
              <a:ext uri="{FF2B5EF4-FFF2-40B4-BE49-F238E27FC236}">
                <a16:creationId xmlns:a16="http://schemas.microsoft.com/office/drawing/2014/main" id="{8FB91103-69AB-4F45-9E54-4A217FECF29C}"/>
              </a:ext>
            </a:extLst>
          </p:cNvPr>
          <p:cNvSpPr>
            <a:spLocks xmlns:a="http://schemas.openxmlformats.org/drawingml/2006/main" noGrp="1"/>
          </p:cNvSpPr>
          <p:nvPr/>
        </p:nvSpPr>
        <p:spPr>
          <a:xfrm xmlns:a="http://schemas.openxmlformats.org/drawingml/2006/main">
            <a:off x="609600" y="52578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175" b="1">
                <a:solidFill>
                  <a:srgbClr val="152D43"/>
                </a:solidFill>
                <a:latin typeface="Arial"/>
                <a:ea typeface="Arial"/>
                <a:cs typeface="Arial"/>
              </a:rPr>
              <a:t>Full-resolution region: 0.7%, 2.8%, 11.1%, 25.0%, 44.4% of image</a:t>
            </a:r>
          </a:p>
        </p:txBody>
      </p:sp>
      <p:sp>
        <p:nvSpPr>
          <p:cNvPr id="19" name="">
            <a:extLst xmlns:a="http://schemas.openxmlformats.org/drawingml/2006/main">
              <a:ext uri="{FF2B5EF4-FFF2-40B4-BE49-F238E27FC236}">
                <a16:creationId xmlns:a16="http://schemas.microsoft.com/office/drawing/2014/main" id="{C4D6A980-3477-40B1-AB54-4CDC71A5B911}"/>
              </a:ext>
            </a:extLst>
          </p:cNvPr>
          <p:cNvSpPr>
            <a:spLocks xmlns:a="http://schemas.openxmlformats.org/drawingml/2006/main" noGrp="1"/>
          </p:cNvSpPr>
          <p:nvPr/>
        </p:nvSpPr>
        <p:spPr>
          <a:xfrm xmlns:a="http://schemas.openxmlformats.org/drawingml/2006/main">
            <a:off x="609600" y="5924550"/>
            <a:ext cx="10715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500" b="0">
                <a:solidFill>
                  <a:srgbClr val="536675"/>
                </a:solidFill>
                <a:latin typeface="Arial"/>
                <a:ea typeface="Arial"/>
                <a:cs typeface="Arial"/>
              </a:rPr>
              <a:t>Region % means image-area coverage; base sampling is separate. Fixed center, 3 px halo; no eye tracking.</a:t>
            </a:r>
          </a:p>
        </p:txBody>
      </p:sp>
    </p:spTree>
    <p:extLst>
      <p:ext uri="{BB962C8B-B14F-4D97-AF65-F5344CB8AC3E}">
        <p14:creationId xmlns:p14="http://schemas.microsoft.com/office/powerpoint/2010/main" val="97934378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713F3BE-EB0F-46A2-A664-7ED9CE922A51}"/>
              </a:ext>
            </a:extLst>
          </p:cNvPr>
          <p:cNvSpPr>
            <a:spLocks xmlns:a="http://schemas.openxmlformats.org/drawingml/2006/main" noGrp="1"/>
          </p:cNvSpPr>
          <p:nvPr/>
        </p:nvSpPr>
        <p:spPr>
          <a:xfrm xmlns:a="http://schemas.openxmlformats.org/drawingml/2006/main">
            <a:off x="609600" y="381000"/>
            <a:ext cx="10906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150" b="1">
                <a:solidFill>
                  <a:srgbClr val="152D43"/>
                </a:solidFill>
                <a:latin typeface="Arial"/>
                <a:ea typeface="Arial"/>
                <a:cs typeface="Arial"/>
              </a:rPr>
              <a:t>Coverage and measurement scope</a:t>
            </a:r>
          </a:p>
        </p:txBody>
      </p:sp>
      <p:sp>
        <p:nvSpPr>
          <p:cNvPr id="2" name="">
            <a:extLst xmlns:a="http://schemas.openxmlformats.org/drawingml/2006/main">
              <a:ext uri="{FF2B5EF4-FFF2-40B4-BE49-F238E27FC236}">
                <a16:creationId xmlns:a16="http://schemas.microsoft.com/office/drawing/2014/main" id="{82BC5469-4B7F-49F3-ACF0-F830AF617BD2}"/>
              </a:ext>
            </a:extLst>
          </p:cNvPr>
          <p:cNvSpPr>
            <a:spLocks xmlns:a="http://schemas.openxmlformats.org/drawingml/2006/main" noGrp="1"/>
          </p:cNvSpPr>
          <p:nvPr/>
        </p:nvSpPr>
        <p:spPr>
          <a:xfrm xmlns:a="http://schemas.openxmlformats.org/drawingml/2006/main">
            <a:off x="609600" y="1162050"/>
            <a:ext cx="10972800" cy="0"/>
          </a:xfrm>
          <a:prstGeom xmlns:a="http://schemas.openxmlformats.org/drawingml/2006/main" prst="line">
            <a:avLst/>
          </a:prstGeom>
          <a:noFill xmlns:a="http://schemas.openxmlformats.org/drawingml/2006/main"/>
          <a:ln xmlns:a="http://schemas.openxmlformats.org/drawingml/2006/main" w="9525">
            <a:solidFill>
              <a:srgbClr val="D7DFE5"/>
            </a:solidFill>
          </a:ln>
        </p:spPr>
      </p:sp>
      <p:sp>
        <p:nvSpPr>
          <p:cNvPr id="3" name="">
            <a:extLst xmlns:a="http://schemas.openxmlformats.org/drawingml/2006/main">
              <a:ext uri="{FF2B5EF4-FFF2-40B4-BE49-F238E27FC236}">
                <a16:creationId xmlns:a16="http://schemas.microsoft.com/office/drawing/2014/main" id="{DE552A5F-1849-4ED4-85F8-479C43DBFA0D}"/>
              </a:ext>
            </a:extLst>
          </p:cNvPr>
          <p:cNvSpPr>
            <a:spLocks xmlns:a="http://schemas.openxmlformats.org/drawingml/2006/main" noGrp="1"/>
          </p:cNvSpPr>
          <p:nvPr/>
        </p:nvSpPr>
        <p:spPr>
          <a:xfrm xmlns:a="http://schemas.openxmlformats.org/drawingml/2006/main">
            <a:off x="11353800" y="6429375"/>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275" b="0">
                <a:solidFill>
                  <a:srgbClr val="536675"/>
                </a:solidFill>
                <a:latin typeface="Arial"/>
                <a:ea typeface="Arial"/>
                <a:cs typeface="Arial"/>
              </a:rPr>
              <a:t>5</a:t>
            </a:r>
          </a:p>
        </p:txBody>
      </p:sp>
      <p:graphicFrame>
        <p:nvGraphicFramePr>
          <p:cNvPr id="4" name="">
            <a:extLst xmlns:a="http://schemas.openxmlformats.org/drawingml/2006/main">
              <a:ext uri="{FF2B5EF4-FFF2-40B4-BE49-F238E27FC236}">
                <a16:creationId xmlns:a16="http://schemas.microsoft.com/office/drawing/2014/main" id="{FEE9F5E2-F819-4E51-9CC7-AD56E59F1B06}"/>
              </a:ext>
            </a:extLst>
          </p:cNvPr>
          <p:cNvGraphicFramePr/>
          <p:nvPr/>
        </p:nvGraphicFramePr>
        <p:xfrm>
          <a:off xmlns:a="http://schemas.openxmlformats.org/drawingml/2006/main" x="609600" y="1590675"/>
          <a:ext xmlns:a="http://schemas.openxmlformats.org/drawingml/2006/main" cx="6286500" cy="3143250"/>
        </p:xfrm>
        <a:graphic xmlns:a="http://schemas.openxmlformats.org/drawingml/2006/main">
          <a:graphicData uri="http://schemas.openxmlformats.org/drawingml/2006/table">
            <a:tbl>
              <a:tblPr/>
              <a:tblGrid>
                <a:gridCol w="2286000"/>
                <a:gridCol w="1333500"/>
                <a:gridCol w="2667000"/>
              </a:tblGrid>
              <a:tr h="628650">
                <a:tc>
                  <a:txBody>
                    <a:bodyPr/>
                    <a:lstStyle/>
                    <a:p>
                      <a:r>
                        <a:rPr sz="1800" b="1">
                          <a:solidFill>
                            <a:srgbClr val="FFFFFF"/>
                          </a:solidFill>
                          <a:latin typeface="Arial"/>
                          <a:ea typeface="Arial"/>
                          <a:cs typeface="Arial"/>
                        </a:rPr>
                        <a:t>Forward sequence</a:t>
                      </a:r>
                    </a:p>
                  </a:txBody>
                  <a:tcPr marL="91440" marR="91440" marT="45720" marB="45720">
                    <a:lnL w="9525">
                      <a:solidFill>
                        <a:srgbClr val="D7DFE5"/>
                      </a:solidFill>
                      <a:prstDash val="solid"/>
                    </a:lnL>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c>
                  <a:txBody>
                    <a:bodyPr/>
                    <a:lstStyle/>
                    <a:p>
                      <a:r>
                        <a:rPr sz="1800" b="1">
                          <a:solidFill>
                            <a:srgbClr val="FFFFFF"/>
                          </a:solidFill>
                          <a:latin typeface="Arial"/>
                          <a:ea typeface="Arial"/>
                          <a:cs typeface="Arial"/>
                        </a:rPr>
                        <a:t>Frames</a:t>
                      </a:r>
                    </a:p>
                  </a:txBody>
                  <a:tcPr marL="91440" marR="91440" marT="45720" marB="45720">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c>
                  <a:txBody>
                    <a:bodyPr/>
                    <a:lstStyle/>
                    <a:p>
                      <a:r>
                        <a:rPr sz="1800" b="1">
                          <a:solidFill>
                            <a:srgbClr val="FFFFFF"/>
                          </a:solidFill>
                          <a:latin typeface="Arial"/>
                          <a:ea typeface="Arial"/>
                          <a:cs typeface="Arial"/>
                        </a:rPr>
                        <a:t>Right-eye frame IDs</a:t>
                      </a:r>
                    </a:p>
                  </a:txBody>
                  <a:tcPr marL="91440" marR="91440" marT="45720" marB="45720">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r>
              <a:tr h="628650">
                <a:tc>
                  <a:txBody>
                    <a:bodyPr/>
                    <a:lstStyle/>
                    <a:p>
                      <a:r>
                        <a:rPr sz="1800" b="0">
                          <a:solidFill>
                            <a:srgbClr val="152D43"/>
                          </a:solidFill>
                          <a:latin typeface="Arial"/>
                          <a:ea typeface="Arial"/>
                          <a:cs typeface="Arial"/>
                        </a:rPr>
                        <a:t>15 mm / 300</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147</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Odd frames 7–299</a:t>
                      </a:r>
                    </a:p>
                  </a:txBody>
                  <a:tcPr marL="91440" marR="91440" marT="45720" marB="45720">
                    <a:lnR w="9525">
                      <a:solidFill>
                        <a:srgbClr val="D7DFE5"/>
                      </a:solidFill>
                      <a:prstDash val="solid"/>
                    </a:lnR>
                    <a:lnB w="9525">
                      <a:solidFill>
                        <a:srgbClr val="D7DFE5"/>
                      </a:solidFill>
                      <a:prstDash val="solid"/>
                    </a:lnB>
                    <a:solidFill>
                      <a:srgbClr val="FFFFFF"/>
                    </a:solidFill>
                  </a:tcPr>
                </a:tc>
              </a:tr>
              <a:tr h="628650">
                <a:tc>
                  <a:txBody>
                    <a:bodyPr/>
                    <a:lstStyle/>
                    <a:p>
                      <a:r>
                        <a:rPr sz="1800" b="0">
                          <a:solidFill>
                            <a:srgbClr val="152D43"/>
                          </a:solidFill>
                          <a:latin typeface="Arial"/>
                          <a:ea typeface="Arial"/>
                          <a:cs typeface="Arial"/>
                        </a:rPr>
                        <a:t>15 mm / 800</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EAF3F6"/>
                    </a:solidFill>
                  </a:tcPr>
                </a:tc>
                <a:tc>
                  <a:txBody>
                    <a:bodyPr/>
                    <a:lstStyle/>
                    <a:p>
                      <a:r>
                        <a:rPr sz="1800" b="0">
                          <a:solidFill>
                            <a:srgbClr val="152D43"/>
                          </a:solidFill>
                          <a:latin typeface="Arial"/>
                          <a:ea typeface="Arial"/>
                          <a:cs typeface="Arial"/>
                        </a:rPr>
                        <a:t>387</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800" b="0">
                          <a:solidFill>
                            <a:srgbClr val="152D43"/>
                          </a:solidFill>
                          <a:latin typeface="Arial"/>
                          <a:ea typeface="Arial"/>
                          <a:cs typeface="Arial"/>
                        </a:rPr>
                        <a:t>Odd frames 7–779</a:t>
                      </a:r>
                    </a:p>
                  </a:txBody>
                  <a:tcPr marL="91440" marR="91440" marT="45720" marB="45720">
                    <a:lnR w="9525">
                      <a:solidFill>
                        <a:srgbClr val="D7DFE5"/>
                      </a:solidFill>
                      <a:prstDash val="solid"/>
                    </a:lnR>
                    <a:lnB w="9525">
                      <a:solidFill>
                        <a:srgbClr val="D7DFE5"/>
                      </a:solidFill>
                      <a:prstDash val="solid"/>
                    </a:lnB>
                    <a:solidFill>
                      <a:srgbClr val="EAF3F6"/>
                    </a:solidFill>
                  </a:tcPr>
                </a:tc>
              </a:tr>
              <a:tr h="628650">
                <a:tc>
                  <a:txBody>
                    <a:bodyPr/>
                    <a:lstStyle/>
                    <a:p>
                      <a:r>
                        <a:rPr sz="1800" b="0">
                          <a:solidFill>
                            <a:srgbClr val="152D43"/>
                          </a:solidFill>
                          <a:latin typeface="Arial"/>
                          <a:ea typeface="Arial"/>
                          <a:cs typeface="Arial"/>
                        </a:rPr>
                        <a:t>35 mm / 300</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147</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Odd frames 7–299</a:t>
                      </a:r>
                    </a:p>
                  </a:txBody>
                  <a:tcPr marL="91440" marR="91440" marT="45720" marB="45720">
                    <a:lnR w="9525">
                      <a:solidFill>
                        <a:srgbClr val="D7DFE5"/>
                      </a:solidFill>
                      <a:prstDash val="solid"/>
                    </a:lnR>
                    <a:lnB w="9525">
                      <a:solidFill>
                        <a:srgbClr val="D7DFE5"/>
                      </a:solidFill>
                      <a:prstDash val="solid"/>
                    </a:lnB>
                    <a:solidFill>
                      <a:srgbClr val="FFFFFF"/>
                    </a:solidFill>
                  </a:tcPr>
                </a:tc>
              </a:tr>
              <a:tr h="628650">
                <a:tc>
                  <a:txBody>
                    <a:bodyPr/>
                    <a:lstStyle/>
                    <a:p>
                      <a:r>
                        <a:rPr sz="1800" b="0">
                          <a:solidFill>
                            <a:srgbClr val="152D43"/>
                          </a:solidFill>
                          <a:latin typeface="Arial"/>
                          <a:ea typeface="Arial"/>
                          <a:cs typeface="Arial"/>
                        </a:rPr>
                        <a:t>35 mm / 800</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EAF3F6"/>
                    </a:solidFill>
                  </a:tcPr>
                </a:tc>
                <a:tc>
                  <a:txBody>
                    <a:bodyPr/>
                    <a:lstStyle/>
                    <a:p>
                      <a:r>
                        <a:rPr sz="1800" b="0">
                          <a:solidFill>
                            <a:srgbClr val="152D43"/>
                          </a:solidFill>
                          <a:latin typeface="Arial"/>
                          <a:ea typeface="Arial"/>
                          <a:cs typeface="Arial"/>
                        </a:rPr>
                        <a:t>387</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800" b="0">
                          <a:solidFill>
                            <a:srgbClr val="152D43"/>
                          </a:solidFill>
                          <a:latin typeface="Arial"/>
                          <a:ea typeface="Arial"/>
                          <a:cs typeface="Arial"/>
                        </a:rPr>
                        <a:t>Odd frames 7–779</a:t>
                      </a:r>
                    </a:p>
                  </a:txBody>
                  <a:tcPr marL="91440" marR="91440" marT="45720" marB="45720">
                    <a:lnR w="9525">
                      <a:solidFill>
                        <a:srgbClr val="D7DFE5"/>
                      </a:solidFill>
                      <a:prstDash val="solid"/>
                    </a:lnR>
                    <a:lnB w="9525">
                      <a:solidFill>
                        <a:srgbClr val="D7DFE5"/>
                      </a:solidFill>
                      <a:prstDash val="solid"/>
                    </a:lnB>
                    <a:solidFill>
                      <a:srgbClr val="EAF3F6"/>
                    </a:solidFill>
                  </a:tcPr>
                </a:tc>
              </a:tr>
            </a:tbl>
          </a:graphicData>
        </a:graphic>
      </p:graphicFrame>
      <p:sp>
        <p:nvSpPr>
          <p:cNvPr id="5" name="">
            <a:extLst xmlns:a="http://schemas.openxmlformats.org/drawingml/2006/main">
              <a:ext uri="{FF2B5EF4-FFF2-40B4-BE49-F238E27FC236}">
                <a16:creationId xmlns:a16="http://schemas.microsoft.com/office/drawing/2014/main" id="{2A81CA77-6C27-4F2C-AC60-DF328124A0F9}"/>
              </a:ext>
            </a:extLst>
          </p:cNvPr>
          <p:cNvSpPr>
            <a:spLocks xmlns:a="http://schemas.openxmlformats.org/drawingml/2006/main" noGrp="1"/>
          </p:cNvSpPr>
          <p:nvPr/>
        </p:nvSpPr>
        <p:spPr>
          <a:xfrm xmlns:a="http://schemas.openxmlformats.org/drawingml/2006/main">
            <a:off x="7581900" y="1638300"/>
            <a:ext cx="342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600" b="1">
                <a:solidFill>
                  <a:srgbClr val="086B93"/>
                </a:solidFill>
                <a:latin typeface="Arial"/>
                <a:ea typeface="Arial"/>
                <a:cs typeface="Arial"/>
              </a:rPr>
              <a:t>1068 frames</a:t>
            </a:r>
          </a:p>
        </p:txBody>
      </p:sp>
      <p:sp>
        <p:nvSpPr>
          <p:cNvPr id="6" name="">
            <a:extLst xmlns:a="http://schemas.openxmlformats.org/drawingml/2006/main">
              <a:ext uri="{FF2B5EF4-FFF2-40B4-BE49-F238E27FC236}">
                <a16:creationId xmlns:a16="http://schemas.microsoft.com/office/drawing/2014/main" id="{F03D4A5E-10FC-400D-974D-6CECACCB772A}"/>
              </a:ext>
            </a:extLst>
          </p:cNvPr>
          <p:cNvSpPr>
            <a:spLocks xmlns:a="http://schemas.openxmlformats.org/drawingml/2006/main" noGrp="1"/>
          </p:cNvSpPr>
          <p:nvPr/>
        </p:nvSpPr>
        <p:spPr>
          <a:xfrm xmlns:a="http://schemas.openxmlformats.org/drawingml/2006/main">
            <a:off x="7581900" y="2552700"/>
            <a:ext cx="381000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950" b="0">
                <a:solidFill>
                  <a:srgbClr val="152D43"/>
                </a:solidFill>
                <a:latin typeface="Arial"/>
                <a:ea typeface="Arial"/>
                <a:cs typeface="Arial"/>
              </a:rPr>
              <a:t>Xavier 15W Desktop</a:t>
            </a:r>
          </a:p>
          <a:p xmlns:a="http://schemas.openxmlformats.org/drawingml/2006/main">
            <a:r>
              <a:rPr sz="1950" b="0">
                <a:solidFill>
                  <a:srgbClr val="152D43"/>
                </a:solidFill>
                <a:latin typeface="Arial"/>
                <a:ea typeface="Arial"/>
                <a:cs typeface="Arial"/>
              </a:rPr>
              <a:t>CUDA 11.4, unlocked clocks</a:t>
            </a:r>
          </a:p>
          <a:p xmlns:a="http://schemas.openxmlformats.org/drawingml/2006/main">
            <a:r>
              <a:rPr sz="1950" b="0">
                <a:solidFill>
                  <a:srgbClr val="152D43"/>
                </a:solidFill>
                <a:latin typeface="Arial"/>
                <a:ea typeface="Arial"/>
                <a:cs typeface="Arial"/>
              </a:rPr>
              <a:t>3 warmups + 5 timed runs/frame</a:t>
            </a:r>
          </a:p>
          <a:p xmlns:a="http://schemas.openxmlformats.org/drawingml/2006/main">
            <a:r>
              <a:rPr sz="1950" b="0">
                <a:solidFill>
                  <a:srgbClr val="152D43"/>
                </a:solidFill>
                <a:latin typeface="Arial"/>
                <a:ea typeface="Arial"/>
                <a:cs typeface="Arial"/>
              </a:rPr>
              <a:t>One quality output/config/frame</a:t>
            </a:r>
          </a:p>
        </p:txBody>
      </p:sp>
      <p:sp>
        <p:nvSpPr>
          <p:cNvPr id="7" name="">
            <a:extLst xmlns:a="http://schemas.openxmlformats.org/drawingml/2006/main">
              <a:ext uri="{FF2B5EF4-FFF2-40B4-BE49-F238E27FC236}">
                <a16:creationId xmlns:a16="http://schemas.microsoft.com/office/drawing/2014/main" id="{DBEC9474-8C8B-4729-8063-1AC73BC5EBC8}"/>
              </a:ext>
            </a:extLst>
          </p:cNvPr>
          <p:cNvSpPr>
            <a:spLocks xmlns:a="http://schemas.openxmlformats.org/drawingml/2006/main" noGrp="1"/>
          </p:cNvSpPr>
          <p:nvPr/>
        </p:nvSpPr>
        <p:spPr>
          <a:xfrm xmlns:a="http://schemas.openxmlformats.org/drawingml/2006/main">
            <a:off x="609600" y="4905375"/>
            <a:ext cx="1081087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800" b="0">
                <a:solidFill>
                  <a:srgbClr val="152D43"/>
                </a:solidFill>
                <a:latin typeface="Arial"/>
                <a:ea typeface="Arial"/>
                <a:cs typeface="Arial"/>
              </a:rPr>
              <a:t>Resident: GPU-resident inputs, reconstruction, upsampling, and blending</a:t>
            </a:r>
          </a:p>
          <a:p xmlns:a="http://schemas.openxmlformats.org/drawingml/2006/main">
            <a:r>
              <a:rPr sz="1800" b="0">
                <a:solidFill>
                  <a:srgbClr val="152D43"/>
                </a:solidFill>
                <a:latin typeface="Arial"/>
                <a:ea typeface="Arial"/>
                <a:cs typeface="Arial"/>
              </a:rPr>
              <a:t>Stream: also includes input upload and output download</a:t>
            </a:r>
          </a:p>
          <a:p xmlns:a="http://schemas.openxmlformats.org/drawingml/2006/main">
            <a:r>
              <a:rPr sz="1800" b="0">
                <a:solidFill>
                  <a:srgbClr val="152D43"/>
                </a:solidFill>
                <a:latin typeface="Arial"/>
                <a:ea typeface="Arial"/>
                <a:cs typeface="Arial"/>
              </a:rPr>
              <a:t>Slides 6–7 add a fixed 2 ms/frame decode budget; not measured end-to-end.</a:t>
            </a:r>
          </a:p>
        </p:txBody>
      </p:sp>
      <p:sp>
        <p:nvSpPr>
          <p:cNvPr id="8" name="">
            <a:extLst xmlns:a="http://schemas.openxmlformats.org/drawingml/2006/main">
              <a:ext uri="{FF2B5EF4-FFF2-40B4-BE49-F238E27FC236}">
                <a16:creationId xmlns:a16="http://schemas.microsoft.com/office/drawing/2014/main" id="{97E31DD2-707D-424E-B054-983B1743D06A}"/>
              </a:ext>
            </a:extLst>
          </p:cNvPr>
          <p:cNvSpPr>
            <a:spLocks xmlns:a="http://schemas.openxmlformats.org/drawingml/2006/main" noGrp="1"/>
          </p:cNvSpPr>
          <p:nvPr/>
        </p:nvSpPr>
        <p:spPr>
          <a:xfrm xmlns:a="http://schemas.openxmlformats.org/drawingml/2006/main">
            <a:off x="609600" y="5924550"/>
            <a:ext cx="10715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500" b="0">
                <a:solidFill>
                  <a:srgbClr val="536675"/>
                </a:solidFill>
                <a:latin typeface="Arial"/>
                <a:ea typeface="Arial"/>
                <a:cs typeface="Arial"/>
              </a:rPr>
              <a:t>Excludes backward scenes, even frames, and unsupported tail frames. Timing excludes I/O, allocation, network, decoding, and display.</a:t>
            </a:r>
          </a:p>
        </p:txBody>
      </p:sp>
    </p:spTree>
    <p:extLst>
      <p:ext uri="{BB962C8B-B14F-4D97-AF65-F5344CB8AC3E}">
        <p14:creationId xmlns:p14="http://schemas.microsoft.com/office/powerpoint/2010/main" val="13558436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C18236E-9365-4ECB-B77D-FF26FF34AEFA}"/>
              </a:ext>
            </a:extLst>
          </p:cNvPr>
          <p:cNvSpPr>
            <a:spLocks xmlns:a="http://schemas.openxmlformats.org/drawingml/2006/main" noGrp="1"/>
          </p:cNvSpPr>
          <p:nvPr/>
        </p:nvSpPr>
        <p:spPr>
          <a:xfrm xmlns:a="http://schemas.openxmlformats.org/drawingml/2006/main">
            <a:off x="609600" y="381000"/>
            <a:ext cx="10906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150" b="1">
                <a:solidFill>
                  <a:srgbClr val="152D43"/>
                </a:solidFill>
                <a:latin typeface="Arial"/>
                <a:ea typeface="Arial"/>
                <a:cs typeface="Arial"/>
              </a:rPr>
              <a:t>Decode budget + reconstruction across FOV levels</a:t>
            </a:r>
          </a:p>
        </p:txBody>
      </p:sp>
      <p:sp>
        <p:nvSpPr>
          <p:cNvPr id="2" name="">
            <a:extLst xmlns:a="http://schemas.openxmlformats.org/drawingml/2006/main">
              <a:ext uri="{FF2B5EF4-FFF2-40B4-BE49-F238E27FC236}">
                <a16:creationId xmlns:a16="http://schemas.microsoft.com/office/drawing/2014/main" id="{002E7BB7-F8D1-41CF-BCAE-E9C278B5A9C3}"/>
              </a:ext>
            </a:extLst>
          </p:cNvPr>
          <p:cNvSpPr>
            <a:spLocks xmlns:a="http://schemas.openxmlformats.org/drawingml/2006/main" noGrp="1"/>
          </p:cNvSpPr>
          <p:nvPr/>
        </p:nvSpPr>
        <p:spPr>
          <a:xfrm xmlns:a="http://schemas.openxmlformats.org/drawingml/2006/main">
            <a:off x="609600" y="1162050"/>
            <a:ext cx="10972800" cy="0"/>
          </a:xfrm>
          <a:prstGeom xmlns:a="http://schemas.openxmlformats.org/drawingml/2006/main" prst="line">
            <a:avLst/>
          </a:prstGeom>
          <a:noFill xmlns:a="http://schemas.openxmlformats.org/drawingml/2006/main"/>
          <a:ln xmlns:a="http://schemas.openxmlformats.org/drawingml/2006/main" w="9525">
            <a:solidFill>
              <a:srgbClr val="D7DFE5"/>
            </a:solidFill>
          </a:ln>
        </p:spPr>
      </p:sp>
      <p:sp>
        <p:nvSpPr>
          <p:cNvPr id="3" name="">
            <a:extLst xmlns:a="http://schemas.openxmlformats.org/drawingml/2006/main">
              <a:ext uri="{FF2B5EF4-FFF2-40B4-BE49-F238E27FC236}">
                <a16:creationId xmlns:a16="http://schemas.microsoft.com/office/drawing/2014/main" id="{0C71149C-B1C7-43C9-A920-4E95536D9A63}"/>
              </a:ext>
            </a:extLst>
          </p:cNvPr>
          <p:cNvSpPr>
            <a:spLocks xmlns:a="http://schemas.openxmlformats.org/drawingml/2006/main" noGrp="1"/>
          </p:cNvSpPr>
          <p:nvPr/>
        </p:nvSpPr>
        <p:spPr>
          <a:xfrm xmlns:a="http://schemas.openxmlformats.org/drawingml/2006/main">
            <a:off x="11353800" y="6429375"/>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275" b="0">
                <a:solidFill>
                  <a:srgbClr val="536675"/>
                </a:solidFill>
                <a:latin typeface="Arial"/>
                <a:ea typeface="Arial"/>
                <a:cs typeface="Arial"/>
              </a:rPr>
              <a:t>6</a:t>
            </a:r>
          </a:p>
        </p:txBody>
      </p:sp>
      <p:graphicFrame>
        <p:nvGraphicFramePr>
          <p:cNvPr id="4" name="Chart">
            <a:extLst xmlns:a="http://schemas.openxmlformats.org/drawingml/2006/main">
              <a:ext uri="{FF2B5EF4-FFF2-40B4-BE49-F238E27FC236}">
                <a16:creationId xmlns:a16="http://schemas.microsoft.com/office/drawing/2014/main" id="{1DC04A79-CA80-4A38-A015-59BF3E53FB09}"/>
              </a:ext>
            </a:extLst>
          </p:cNvPr>
          <p:cNvGraphicFramePr/>
          <p:nvPr/>
        </p:nvGraphicFramePr>
        <p:xfrm>
          <a:off xmlns:a="http://schemas.openxmlformats.org/drawingml/2006/main" x="609600" y="1676400"/>
          <a:ext xmlns:a="http://schemas.openxmlformats.org/drawingml/2006/main" cx="7715250" cy="3905250"/>
        </p:xfrm>
        <a:graphic xmlns:a="http://schemas.openxmlformats.org/drawingml/2006/main">
          <a:graphicData uri="http://schemas.openxmlformats.org/drawingml/2006/chart">
            <c:chart xmlns:r="http://schemas.openxmlformats.org/officeDocument/2006/relationships" xmlns:c="http://schemas.openxmlformats.org/drawingml/2006/chart" r:id="R249ff02d47294aaa"/>
          </a:graphicData>
        </a:graphic>
      </p:graphicFrame>
      <p:sp>
        <p:nvSpPr>
          <p:cNvPr id="5" name="">
            <a:extLst xmlns:a="http://schemas.openxmlformats.org/drawingml/2006/main">
              <a:ext uri="{FF2B5EF4-FFF2-40B4-BE49-F238E27FC236}">
                <a16:creationId xmlns:a16="http://schemas.microsoft.com/office/drawing/2014/main" id="{6D51D4F5-FF15-4D7F-AA90-F015DBBC8816}"/>
              </a:ext>
            </a:extLst>
          </p:cNvPr>
          <p:cNvSpPr>
            <a:spLocks xmlns:a="http://schemas.openxmlformats.org/drawingml/2006/main" noGrp="1"/>
          </p:cNvSpPr>
          <p:nvPr/>
        </p:nvSpPr>
        <p:spPr>
          <a:xfrm xmlns:a="http://schemas.openxmlformats.org/drawingml/2006/main">
            <a:off x="8858250" y="192405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625" b="1">
                <a:solidFill>
                  <a:srgbClr val="086B93"/>
                </a:solidFill>
                <a:latin typeface="Arial"/>
                <a:ea typeface="Arial"/>
                <a:cs typeface="Arial"/>
              </a:rPr>
              <a:t>2.8% region</a:t>
            </a:r>
          </a:p>
        </p:txBody>
      </p:sp>
      <p:sp>
        <p:nvSpPr>
          <p:cNvPr id="6" name="">
            <a:extLst xmlns:a="http://schemas.openxmlformats.org/drawingml/2006/main">
              <a:ext uri="{FF2B5EF4-FFF2-40B4-BE49-F238E27FC236}">
                <a16:creationId xmlns:a16="http://schemas.microsoft.com/office/drawing/2014/main" id="{45826A59-AC24-426D-898F-306B3D538DEB}"/>
              </a:ext>
            </a:extLst>
          </p:cNvPr>
          <p:cNvSpPr>
            <a:spLocks xmlns:a="http://schemas.openxmlformats.org/drawingml/2006/main" noGrp="1"/>
          </p:cNvSpPr>
          <p:nvPr/>
        </p:nvSpPr>
        <p:spPr>
          <a:xfrm xmlns:a="http://schemas.openxmlformats.org/drawingml/2006/main">
            <a:off x="8858250" y="2619375"/>
            <a:ext cx="285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375" b="1">
                <a:solidFill>
                  <a:srgbClr val="152D43"/>
                </a:solidFill>
                <a:latin typeface="Arial"/>
                <a:ea typeface="Arial"/>
                <a:cs typeface="Arial"/>
              </a:rPr>
              <a:t>6.770 ms</a:t>
            </a:r>
          </a:p>
        </p:txBody>
      </p:sp>
      <p:sp>
        <p:nvSpPr>
          <p:cNvPr id="7" name="">
            <a:extLst xmlns:a="http://schemas.openxmlformats.org/drawingml/2006/main">
              <a:ext uri="{FF2B5EF4-FFF2-40B4-BE49-F238E27FC236}">
                <a16:creationId xmlns:a16="http://schemas.microsoft.com/office/drawing/2014/main" id="{0343FACC-B7B1-4BD0-8894-69A4B9600937}"/>
              </a:ext>
            </a:extLst>
          </p:cNvPr>
          <p:cNvSpPr>
            <a:spLocks xmlns:a="http://schemas.openxmlformats.org/drawingml/2006/main" noGrp="1"/>
          </p:cNvSpPr>
          <p:nvPr/>
        </p:nvSpPr>
        <p:spPr>
          <a:xfrm xmlns:a="http://schemas.openxmlformats.org/drawingml/2006/main">
            <a:off x="8858250" y="3305175"/>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875" b="0">
                <a:solidFill>
                  <a:srgbClr val="536675"/>
                </a:solidFill>
                <a:latin typeface="Arial"/>
                <a:ea typeface="Arial"/>
                <a:cs typeface="Arial"/>
              </a:rPr>
              <a:t>decode + resident</a:t>
            </a:r>
          </a:p>
        </p:txBody>
      </p:sp>
      <p:sp>
        <p:nvSpPr>
          <p:cNvPr id="8" name="">
            <a:extLst xmlns:a="http://schemas.openxmlformats.org/drawingml/2006/main">
              <a:ext uri="{FF2B5EF4-FFF2-40B4-BE49-F238E27FC236}">
                <a16:creationId xmlns:a16="http://schemas.microsoft.com/office/drawing/2014/main" id="{A925B8A5-655E-46E4-9ECE-27E6008D55F7}"/>
              </a:ext>
            </a:extLst>
          </p:cNvPr>
          <p:cNvSpPr>
            <a:spLocks xmlns:a="http://schemas.openxmlformats.org/drawingml/2006/main" noGrp="1"/>
          </p:cNvSpPr>
          <p:nvPr/>
        </p:nvSpPr>
        <p:spPr>
          <a:xfrm xmlns:a="http://schemas.openxmlformats.org/drawingml/2006/main">
            <a:off x="8858250" y="3971925"/>
            <a:ext cx="266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450" b="1">
                <a:solidFill>
                  <a:srgbClr val="148B83"/>
                </a:solidFill>
                <a:latin typeface="Arial"/>
                <a:ea typeface="Arial"/>
                <a:cs typeface="Arial"/>
              </a:rPr>
              <a:t>1.92×</a:t>
            </a:r>
          </a:p>
        </p:txBody>
      </p:sp>
      <p:sp>
        <p:nvSpPr>
          <p:cNvPr id="9" name="">
            <a:extLst xmlns:a="http://schemas.openxmlformats.org/drawingml/2006/main">
              <a:ext uri="{FF2B5EF4-FFF2-40B4-BE49-F238E27FC236}">
                <a16:creationId xmlns:a16="http://schemas.microsoft.com/office/drawing/2014/main" id="{513A9FBF-C677-4F9D-AA41-C0FF619E2AD3}"/>
              </a:ext>
            </a:extLst>
          </p:cNvPr>
          <p:cNvSpPr>
            <a:spLocks xmlns:a="http://schemas.openxmlformats.org/drawingml/2006/main" noGrp="1"/>
          </p:cNvSpPr>
          <p:nvPr/>
        </p:nvSpPr>
        <p:spPr>
          <a:xfrm xmlns:a="http://schemas.openxmlformats.org/drawingml/2006/main">
            <a:off x="8858250" y="4619625"/>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875" b="0">
                <a:solidFill>
                  <a:srgbClr val="536675"/>
                </a:solidFill>
                <a:latin typeface="Arial"/>
                <a:ea typeface="Arial"/>
                <a:cs typeface="Arial"/>
              </a:rPr>
              <a:t>versus full + decode</a:t>
            </a:r>
          </a:p>
        </p:txBody>
      </p:sp>
      <p:sp>
        <p:nvSpPr>
          <p:cNvPr id="10" name="">
            <a:extLst xmlns:a="http://schemas.openxmlformats.org/drawingml/2006/main">
              <a:ext uri="{FF2B5EF4-FFF2-40B4-BE49-F238E27FC236}">
                <a16:creationId xmlns:a16="http://schemas.microsoft.com/office/drawing/2014/main" id="{FF106BD9-5C08-4560-9F54-8C1C4937BE48}"/>
              </a:ext>
            </a:extLst>
          </p:cNvPr>
          <p:cNvSpPr>
            <a:spLocks xmlns:a="http://schemas.openxmlformats.org/drawingml/2006/main" noGrp="1"/>
          </p:cNvSpPr>
          <p:nvPr/>
        </p:nvSpPr>
        <p:spPr>
          <a:xfrm xmlns:a="http://schemas.openxmlformats.org/drawingml/2006/main">
            <a:off x="609600" y="1381125"/>
            <a:ext cx="109061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725" b="1">
                <a:solidFill>
                  <a:srgbClr val="086B93"/>
                </a:solidFill>
                <a:latin typeface="Arial"/>
                <a:ea typeface="Arial"/>
                <a:cs typeface="Arial"/>
              </a:rPr>
              <a:t>Fixed decode budget: 2 ms/frame + measured reconstruction; stream also includes copies.</a:t>
            </a:r>
          </a:p>
        </p:txBody>
      </p:sp>
      <p:sp>
        <p:nvSpPr>
          <p:cNvPr id="11" name="">
            <a:extLst xmlns:a="http://schemas.openxmlformats.org/drawingml/2006/main">
              <a:ext uri="{FF2B5EF4-FFF2-40B4-BE49-F238E27FC236}">
                <a16:creationId xmlns:a16="http://schemas.microsoft.com/office/drawing/2014/main" id="{D6091BB4-A2B5-46C6-B0DC-E9CAC62CA47E}"/>
              </a:ext>
            </a:extLst>
          </p:cNvPr>
          <p:cNvSpPr>
            <a:spLocks xmlns:a="http://schemas.openxmlformats.org/drawingml/2006/main" noGrp="1"/>
          </p:cNvSpPr>
          <p:nvPr/>
        </p:nvSpPr>
        <p:spPr>
          <a:xfrm xmlns:a="http://schemas.openxmlformats.org/drawingml/2006/main">
            <a:off x="609600" y="5924550"/>
            <a:ext cx="10715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500" b="0">
                <a:solidFill>
                  <a:srgbClr val="536675"/>
                </a:solidFill>
                <a:latin typeface="Arial"/>
                <a:ea typeface="Arial"/>
                <a:cs typeface="Arial"/>
              </a:rPr>
              <a:t>Derived budget, not measured end-to-end. Fast resampling enabled; gains also include upsampling changes. No optimal-baseline claim.</a:t>
            </a:r>
          </a:p>
        </p:txBody>
      </p:sp>
    </p:spTree>
    <p:extLst>
      <p:ext uri="{BB962C8B-B14F-4D97-AF65-F5344CB8AC3E}">
        <p14:creationId xmlns:p14="http://schemas.microsoft.com/office/powerpoint/2010/main" val="199595021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E36535A-3D76-44ED-BEC0-AC83455960C2}"/>
              </a:ext>
            </a:extLst>
          </p:cNvPr>
          <p:cNvSpPr>
            <a:spLocks xmlns:a="http://schemas.openxmlformats.org/drawingml/2006/main" noGrp="1"/>
          </p:cNvSpPr>
          <p:nvPr/>
        </p:nvSpPr>
        <p:spPr>
          <a:xfrm xmlns:a="http://schemas.openxmlformats.org/drawingml/2006/main">
            <a:off x="609600" y="381000"/>
            <a:ext cx="10906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150" b="1">
                <a:solidFill>
                  <a:srgbClr val="152D43"/>
                </a:solidFill>
                <a:latin typeface="Arial"/>
                <a:ea typeface="Arial"/>
                <a:cs typeface="Arial"/>
              </a:rPr>
              <a:t>Quality–latency trade-off</a:t>
            </a:r>
          </a:p>
        </p:txBody>
      </p:sp>
      <p:sp>
        <p:nvSpPr>
          <p:cNvPr id="2" name="">
            <a:extLst xmlns:a="http://schemas.openxmlformats.org/drawingml/2006/main">
              <a:ext uri="{FF2B5EF4-FFF2-40B4-BE49-F238E27FC236}">
                <a16:creationId xmlns:a16="http://schemas.microsoft.com/office/drawing/2014/main" id="{7EE8DD29-BFFD-43DF-8F3F-6719BC4AB9E5}"/>
              </a:ext>
            </a:extLst>
          </p:cNvPr>
          <p:cNvSpPr>
            <a:spLocks xmlns:a="http://schemas.openxmlformats.org/drawingml/2006/main" noGrp="1"/>
          </p:cNvSpPr>
          <p:nvPr/>
        </p:nvSpPr>
        <p:spPr>
          <a:xfrm xmlns:a="http://schemas.openxmlformats.org/drawingml/2006/main">
            <a:off x="609600" y="1162050"/>
            <a:ext cx="10972800" cy="0"/>
          </a:xfrm>
          <a:prstGeom xmlns:a="http://schemas.openxmlformats.org/drawingml/2006/main" prst="line">
            <a:avLst/>
          </a:prstGeom>
          <a:noFill xmlns:a="http://schemas.openxmlformats.org/drawingml/2006/main"/>
          <a:ln xmlns:a="http://schemas.openxmlformats.org/drawingml/2006/main" w="9525">
            <a:solidFill>
              <a:srgbClr val="D7DFE5"/>
            </a:solidFill>
          </a:ln>
        </p:spPr>
      </p:sp>
      <p:sp>
        <p:nvSpPr>
          <p:cNvPr id="3" name="">
            <a:extLst xmlns:a="http://schemas.openxmlformats.org/drawingml/2006/main">
              <a:ext uri="{FF2B5EF4-FFF2-40B4-BE49-F238E27FC236}">
                <a16:creationId xmlns:a16="http://schemas.microsoft.com/office/drawing/2014/main" id="{F78D41F6-AA25-42AD-9C2A-CAEC0375D007}"/>
              </a:ext>
            </a:extLst>
          </p:cNvPr>
          <p:cNvSpPr>
            <a:spLocks xmlns:a="http://schemas.openxmlformats.org/drawingml/2006/main" noGrp="1"/>
          </p:cNvSpPr>
          <p:nvPr/>
        </p:nvSpPr>
        <p:spPr>
          <a:xfrm xmlns:a="http://schemas.openxmlformats.org/drawingml/2006/main">
            <a:off x="11353800" y="6429375"/>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275" b="0">
                <a:solidFill>
                  <a:srgbClr val="536675"/>
                </a:solidFill>
                <a:latin typeface="Arial"/>
                <a:ea typeface="Arial"/>
                <a:cs typeface="Arial"/>
              </a:rPr>
              <a:t>7</a:t>
            </a:r>
          </a:p>
        </p:txBody>
      </p:sp>
      <p:graphicFrame>
        <p:nvGraphicFramePr>
          <p:cNvPr id="4" name="">
            <a:extLst xmlns:a="http://schemas.openxmlformats.org/drawingml/2006/main">
              <a:ext uri="{FF2B5EF4-FFF2-40B4-BE49-F238E27FC236}">
                <a16:creationId xmlns:a16="http://schemas.microsoft.com/office/drawing/2014/main" id="{B75FF649-0591-4B21-82A1-8E2FDB533548}"/>
              </a:ext>
            </a:extLst>
          </p:cNvPr>
          <p:cNvGraphicFramePr/>
          <p:nvPr/>
        </p:nvGraphicFramePr>
        <p:xfrm>
          <a:off xmlns:a="http://schemas.openxmlformats.org/drawingml/2006/main" x="609600" y="1619250"/>
          <a:ext xmlns:a="http://schemas.openxmlformats.org/drawingml/2006/main" cx="10972800" cy="3209925"/>
        </p:xfrm>
        <a:graphic xmlns:a="http://schemas.openxmlformats.org/drawingml/2006/main">
          <a:graphicData uri="http://schemas.openxmlformats.org/drawingml/2006/table">
            <a:tbl>
              <a:tblPr/>
              <a:tblGrid>
                <a:gridCol w="2524125"/>
                <a:gridCol w="2619375"/>
                <a:gridCol w="2724150"/>
                <a:gridCol w="3105150"/>
              </a:tblGrid>
              <a:tr h="534988">
                <a:tc>
                  <a:txBody>
                    <a:bodyPr/>
                    <a:lstStyle/>
                    <a:p>
                      <a:r>
                        <a:rPr sz="1800" b="1">
                          <a:solidFill>
                            <a:srgbClr val="FFFFFF"/>
                          </a:solidFill>
                          <a:latin typeface="Arial"/>
                          <a:ea typeface="Arial"/>
                          <a:cs typeface="Arial"/>
                        </a:rPr>
                        <a:t>Region (% of image)</a:t>
                      </a:r>
                    </a:p>
                  </a:txBody>
                  <a:tcPr marL="91440" marR="91440" marT="45720" marB="45720">
                    <a:lnL w="9525">
                      <a:solidFill>
                        <a:srgbClr val="D7DFE5"/>
                      </a:solidFill>
                      <a:prstDash val="solid"/>
                    </a:lnL>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c>
                  <a:txBody>
                    <a:bodyPr/>
                    <a:lstStyle/>
                    <a:p>
                      <a:r>
                        <a:rPr sz="1800" b="1">
                          <a:solidFill>
                            <a:srgbClr val="FFFFFF"/>
                          </a:solidFill>
                          <a:latin typeface="Arial"/>
                          <a:ea typeface="Arial"/>
                          <a:cs typeface="Arial"/>
                        </a:rPr>
                        <a:t>Decode + recon mean</a:t>
                      </a:r>
                    </a:p>
                  </a:txBody>
                  <a:tcPr marL="91440" marR="91440" marT="45720" marB="45720">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c>
                  <a:txBody>
                    <a:bodyPr/>
                    <a:lstStyle/>
                    <a:p>
                      <a:r>
                        <a:rPr sz="1800" b="1">
                          <a:solidFill>
                            <a:srgbClr val="FFFFFF"/>
                          </a:solidFill>
                          <a:latin typeface="Arial"/>
                          <a:ea typeface="Arial"/>
                          <a:cs typeface="Arial"/>
                        </a:rPr>
                        <a:t>Right-eye ΔPSNR</a:t>
                      </a:r>
                    </a:p>
                  </a:txBody>
                  <a:tcPr marL="91440" marR="91440" marT="45720" marB="45720">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c>
                  <a:txBody>
                    <a:bodyPr/>
                    <a:lstStyle/>
                    <a:p>
                      <a:r>
                        <a:rPr sz="1800" b="1">
                          <a:solidFill>
                            <a:srgbClr val="FFFFFF"/>
                          </a:solidFill>
                          <a:latin typeface="Arial"/>
                          <a:ea typeface="Arial"/>
                          <a:cs typeface="Arial"/>
                        </a:rPr>
                        <a:t>Stereo mean ΔPSNR*</a:t>
                      </a:r>
                    </a:p>
                  </a:txBody>
                  <a:tcPr marL="91440" marR="91440" marT="45720" marB="45720">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r>
              <a:tr h="534988">
                <a:tc>
                  <a:txBody>
                    <a:bodyPr/>
                    <a:lstStyle/>
                    <a:p>
                      <a:r>
                        <a:rPr sz="1800" b="0">
                          <a:solidFill>
                            <a:srgbClr val="152D43"/>
                          </a:solidFill>
                          <a:latin typeface="Arial"/>
                          <a:ea typeface="Arial"/>
                          <a:cs typeface="Arial"/>
                        </a:rPr>
                        <a:t>0.7%</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6.562 ms</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-0.1727 dB</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-0.0864 dB</a:t>
                      </a:r>
                    </a:p>
                  </a:txBody>
                  <a:tcPr marL="91440" marR="91440" marT="45720" marB="45720">
                    <a:lnR w="9525">
                      <a:solidFill>
                        <a:srgbClr val="D7DFE5"/>
                      </a:solidFill>
                      <a:prstDash val="solid"/>
                    </a:lnR>
                    <a:lnB w="9525">
                      <a:solidFill>
                        <a:srgbClr val="D7DFE5"/>
                      </a:solidFill>
                      <a:prstDash val="solid"/>
                    </a:lnB>
                    <a:solidFill>
                      <a:srgbClr val="FFFFFF"/>
                    </a:solidFill>
                  </a:tcPr>
                </a:tc>
              </a:tr>
              <a:tr h="534988">
                <a:tc>
                  <a:txBody>
                    <a:bodyPr/>
                    <a:lstStyle/>
                    <a:p>
                      <a:r>
                        <a:rPr sz="1800" b="0">
                          <a:solidFill>
                            <a:srgbClr val="152D43"/>
                          </a:solidFill>
                          <a:latin typeface="Arial"/>
                          <a:ea typeface="Arial"/>
                          <a:cs typeface="Arial"/>
                        </a:rPr>
                        <a:t>2.8%</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EAF3F6"/>
                    </a:solidFill>
                  </a:tcPr>
                </a:tc>
                <a:tc>
                  <a:txBody>
                    <a:bodyPr/>
                    <a:lstStyle/>
                    <a:p>
                      <a:r>
                        <a:rPr sz="1800" b="0">
                          <a:solidFill>
                            <a:srgbClr val="152D43"/>
                          </a:solidFill>
                          <a:latin typeface="Arial"/>
                          <a:ea typeface="Arial"/>
                          <a:cs typeface="Arial"/>
                        </a:rPr>
                        <a:t>6.770 ms</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800" b="0">
                          <a:solidFill>
                            <a:srgbClr val="152D43"/>
                          </a:solidFill>
                          <a:latin typeface="Arial"/>
                          <a:ea typeface="Arial"/>
                          <a:cs typeface="Arial"/>
                        </a:rPr>
                        <a:t>-0.1668 dB</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800" b="0">
                          <a:solidFill>
                            <a:srgbClr val="152D43"/>
                          </a:solidFill>
                          <a:latin typeface="Arial"/>
                          <a:ea typeface="Arial"/>
                          <a:cs typeface="Arial"/>
                        </a:rPr>
                        <a:t>-0.0834 dB</a:t>
                      </a:r>
                    </a:p>
                  </a:txBody>
                  <a:tcPr marL="91440" marR="91440" marT="45720" marB="45720">
                    <a:lnR w="9525">
                      <a:solidFill>
                        <a:srgbClr val="D7DFE5"/>
                      </a:solidFill>
                      <a:prstDash val="solid"/>
                    </a:lnR>
                    <a:lnB w="9525">
                      <a:solidFill>
                        <a:srgbClr val="D7DFE5"/>
                      </a:solidFill>
                      <a:prstDash val="solid"/>
                    </a:lnB>
                    <a:solidFill>
                      <a:srgbClr val="EAF3F6"/>
                    </a:solidFill>
                  </a:tcPr>
                </a:tc>
              </a:tr>
              <a:tr h="534988">
                <a:tc>
                  <a:txBody>
                    <a:bodyPr/>
                    <a:lstStyle/>
                    <a:p>
                      <a:r>
                        <a:rPr sz="1800" b="0">
                          <a:solidFill>
                            <a:srgbClr val="152D43"/>
                          </a:solidFill>
                          <a:latin typeface="Arial"/>
                          <a:ea typeface="Arial"/>
                          <a:cs typeface="Arial"/>
                        </a:rPr>
                        <a:t>11.1%</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7.998 ms</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-0.1462 dB</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-0.0731 dB</a:t>
                      </a:r>
                    </a:p>
                  </a:txBody>
                  <a:tcPr marL="91440" marR="91440" marT="45720" marB="45720">
                    <a:lnR w="9525">
                      <a:solidFill>
                        <a:srgbClr val="D7DFE5"/>
                      </a:solidFill>
                      <a:prstDash val="solid"/>
                    </a:lnR>
                    <a:lnB w="9525">
                      <a:solidFill>
                        <a:srgbClr val="D7DFE5"/>
                      </a:solidFill>
                      <a:prstDash val="solid"/>
                    </a:lnB>
                    <a:solidFill>
                      <a:srgbClr val="FFFFFF"/>
                    </a:solidFill>
                  </a:tcPr>
                </a:tc>
              </a:tr>
              <a:tr h="534988">
                <a:tc>
                  <a:txBody>
                    <a:bodyPr/>
                    <a:lstStyle/>
                    <a:p>
                      <a:r>
                        <a:rPr sz="1800" b="0">
                          <a:solidFill>
                            <a:srgbClr val="152D43"/>
                          </a:solidFill>
                          <a:latin typeface="Arial"/>
                          <a:ea typeface="Arial"/>
                          <a:cs typeface="Arial"/>
                        </a:rPr>
                        <a:t>25.0%</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EAF3F6"/>
                    </a:solidFill>
                  </a:tcPr>
                </a:tc>
                <a:tc>
                  <a:txBody>
                    <a:bodyPr/>
                    <a:lstStyle/>
                    <a:p>
                      <a:r>
                        <a:rPr sz="1800" b="0">
                          <a:solidFill>
                            <a:srgbClr val="152D43"/>
                          </a:solidFill>
                          <a:latin typeface="Arial"/>
                          <a:ea typeface="Arial"/>
                          <a:cs typeface="Arial"/>
                        </a:rPr>
                        <a:t>9.772 ms</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800" b="0">
                          <a:solidFill>
                            <a:srgbClr val="152D43"/>
                          </a:solidFill>
                          <a:latin typeface="Arial"/>
                          <a:ea typeface="Arial"/>
                          <a:cs typeface="Arial"/>
                        </a:rPr>
                        <a:t>-0.1200 dB</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800" b="0">
                          <a:solidFill>
                            <a:srgbClr val="152D43"/>
                          </a:solidFill>
                          <a:latin typeface="Arial"/>
                          <a:ea typeface="Arial"/>
                          <a:cs typeface="Arial"/>
                        </a:rPr>
                        <a:t>-0.0600 dB</a:t>
                      </a:r>
                    </a:p>
                  </a:txBody>
                  <a:tcPr marL="91440" marR="91440" marT="45720" marB="45720">
                    <a:lnR w="9525">
                      <a:solidFill>
                        <a:srgbClr val="D7DFE5"/>
                      </a:solidFill>
                      <a:prstDash val="solid"/>
                    </a:lnR>
                    <a:lnB w="9525">
                      <a:solidFill>
                        <a:srgbClr val="D7DFE5"/>
                      </a:solidFill>
                      <a:prstDash val="solid"/>
                    </a:lnB>
                    <a:solidFill>
                      <a:srgbClr val="EAF3F6"/>
                    </a:solidFill>
                  </a:tcPr>
                </a:tc>
              </a:tr>
              <a:tr h="534988">
                <a:tc>
                  <a:txBody>
                    <a:bodyPr/>
                    <a:lstStyle/>
                    <a:p>
                      <a:r>
                        <a:rPr sz="1800" b="0">
                          <a:solidFill>
                            <a:srgbClr val="152D43"/>
                          </a:solidFill>
                          <a:latin typeface="Arial"/>
                          <a:ea typeface="Arial"/>
                          <a:cs typeface="Arial"/>
                        </a:rPr>
                        <a:t>44.4%</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12.425 ms</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-0.0861 dB</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800" b="0">
                          <a:solidFill>
                            <a:srgbClr val="152D43"/>
                          </a:solidFill>
                          <a:latin typeface="Arial"/>
                          <a:ea typeface="Arial"/>
                          <a:cs typeface="Arial"/>
                        </a:rPr>
                        <a:t>-0.0430 dB</a:t>
                      </a:r>
                    </a:p>
                  </a:txBody>
                  <a:tcPr marL="91440" marR="91440" marT="45720" marB="45720">
                    <a:lnR w="9525">
                      <a:solidFill>
                        <a:srgbClr val="D7DFE5"/>
                      </a:solidFill>
                      <a:prstDash val="solid"/>
                    </a:lnR>
                    <a:lnB w="9525">
                      <a:solidFill>
                        <a:srgbClr val="D7DFE5"/>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914DFD3-DFC4-4708-A964-7A92AEFEEE1E}"/>
              </a:ext>
            </a:extLst>
          </p:cNvPr>
          <p:cNvSpPr>
            <a:spLocks xmlns:a="http://schemas.openxmlformats.org/drawingml/2006/main" noGrp="1"/>
          </p:cNvSpPr>
          <p:nvPr/>
        </p:nvSpPr>
        <p:spPr>
          <a:xfrm xmlns:a="http://schemas.openxmlformats.org/drawingml/2006/main">
            <a:off x="609600" y="5114925"/>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875" b="1">
                <a:solidFill>
                  <a:srgbClr val="086B93"/>
                </a:solidFill>
                <a:latin typeface="Arial"/>
                <a:ea typeface="Arial"/>
                <a:cs typeface="Arial"/>
              </a:rPr>
              <a:t>* Unchanged left eye, mean per-eye PSNR in dB: stereo difference = right-eye difference / 2</a:t>
            </a:r>
          </a:p>
        </p:txBody>
      </p:sp>
      <p:sp>
        <p:nvSpPr>
          <p:cNvPr id="6" name="">
            <a:extLst xmlns:a="http://schemas.openxmlformats.org/drawingml/2006/main">
              <a:ext uri="{FF2B5EF4-FFF2-40B4-BE49-F238E27FC236}">
                <a16:creationId xmlns:a16="http://schemas.microsoft.com/office/drawing/2014/main" id="{82977264-1EAE-4303-8E85-688E562E2C16}"/>
              </a:ext>
            </a:extLst>
          </p:cNvPr>
          <p:cNvSpPr>
            <a:spLocks xmlns:a="http://schemas.openxmlformats.org/drawingml/2006/main" noGrp="1"/>
          </p:cNvSpPr>
          <p:nvPr/>
        </p:nvSpPr>
        <p:spPr>
          <a:xfrm xmlns:a="http://schemas.openxmlformats.org/drawingml/2006/main">
            <a:off x="609600" y="5534025"/>
            <a:ext cx="1095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725" b="0">
                <a:solidFill>
                  <a:srgbClr val="536675"/>
                </a:solidFill>
                <a:latin typeface="Arial"/>
                <a:ea typeface="Arial"/>
                <a:cs typeface="Arial"/>
              </a:rPr>
              <a:t>ΔPSNR = FOV − full, using original overflow PSNR. Standard PSNR can show a different trend.</a:t>
            </a:r>
          </a:p>
        </p:txBody>
      </p:sp>
      <p:sp>
        <p:nvSpPr>
          <p:cNvPr id="7" name="">
            <a:extLst xmlns:a="http://schemas.openxmlformats.org/drawingml/2006/main">
              <a:ext uri="{FF2B5EF4-FFF2-40B4-BE49-F238E27FC236}">
                <a16:creationId xmlns:a16="http://schemas.microsoft.com/office/drawing/2014/main" id="{91AC4755-FD96-4E1C-853B-93C0830B7EA9}"/>
              </a:ext>
            </a:extLst>
          </p:cNvPr>
          <p:cNvSpPr>
            <a:spLocks xmlns:a="http://schemas.openxmlformats.org/drawingml/2006/main" noGrp="1"/>
          </p:cNvSpPr>
          <p:nvPr/>
        </p:nvSpPr>
        <p:spPr>
          <a:xfrm xmlns:a="http://schemas.openxmlformats.org/drawingml/2006/main">
            <a:off x="609600" y="5924550"/>
            <a:ext cx="10715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500" b="0">
                <a:solidFill>
                  <a:srgbClr val="536675"/>
                </a:solidFill>
                <a:latin typeface="Arial"/>
                <a:ea typeface="Arial"/>
                <a:cs typeface="Arial"/>
              </a:rPr>
              <a:t>Fixed 2 ms decode budget + resident reconstruction. Stereo values derived; non-atomic writes remain. No SSIM/LPIPS.</a:t>
            </a:r>
          </a:p>
        </p:txBody>
      </p:sp>
    </p:spTree>
    <p:extLst>
      <p:ext uri="{BB962C8B-B14F-4D97-AF65-F5344CB8AC3E}">
        <p14:creationId xmlns:p14="http://schemas.microsoft.com/office/powerpoint/2010/main" val="165920952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F621FE3-20C2-401B-A41C-25EC71F084D5}"/>
              </a:ext>
            </a:extLst>
          </p:cNvPr>
          <p:cNvSpPr>
            <a:spLocks xmlns:a="http://schemas.openxmlformats.org/drawingml/2006/main" noGrp="1"/>
          </p:cNvSpPr>
          <p:nvPr/>
        </p:nvSpPr>
        <p:spPr>
          <a:xfrm xmlns:a="http://schemas.openxmlformats.org/drawingml/2006/main">
            <a:off x="609600" y="381000"/>
            <a:ext cx="10906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150" b="1">
                <a:solidFill>
                  <a:srgbClr val="152D43"/>
                </a:solidFill>
                <a:latin typeface="Arial"/>
                <a:ea typeface="Arial"/>
                <a:cs typeface="Arial"/>
              </a:rPr>
              <a:t>Numba latency at 15W and 30W</a:t>
            </a:r>
          </a:p>
        </p:txBody>
      </p:sp>
      <p:sp>
        <p:nvSpPr>
          <p:cNvPr id="2" name="">
            <a:extLst xmlns:a="http://schemas.openxmlformats.org/drawingml/2006/main">
              <a:ext uri="{FF2B5EF4-FFF2-40B4-BE49-F238E27FC236}">
                <a16:creationId xmlns:a16="http://schemas.microsoft.com/office/drawing/2014/main" id="{0F308A0D-3F13-43E0-A2A9-770DEEB953F6}"/>
              </a:ext>
            </a:extLst>
          </p:cNvPr>
          <p:cNvSpPr>
            <a:spLocks xmlns:a="http://schemas.openxmlformats.org/drawingml/2006/main" noGrp="1"/>
          </p:cNvSpPr>
          <p:nvPr/>
        </p:nvSpPr>
        <p:spPr>
          <a:xfrm xmlns:a="http://schemas.openxmlformats.org/drawingml/2006/main">
            <a:off x="609600" y="1162050"/>
            <a:ext cx="10972800" cy="0"/>
          </a:xfrm>
          <a:prstGeom xmlns:a="http://schemas.openxmlformats.org/drawingml/2006/main" prst="line">
            <a:avLst/>
          </a:prstGeom>
          <a:noFill xmlns:a="http://schemas.openxmlformats.org/drawingml/2006/main"/>
          <a:ln xmlns:a="http://schemas.openxmlformats.org/drawingml/2006/main" w="9525">
            <a:solidFill>
              <a:srgbClr val="D7DFE5"/>
            </a:solidFill>
          </a:ln>
        </p:spPr>
      </p:sp>
      <p:sp>
        <p:nvSpPr>
          <p:cNvPr id="3" name="">
            <a:extLst xmlns:a="http://schemas.openxmlformats.org/drawingml/2006/main">
              <a:ext uri="{FF2B5EF4-FFF2-40B4-BE49-F238E27FC236}">
                <a16:creationId xmlns:a16="http://schemas.microsoft.com/office/drawing/2014/main" id="{6D155053-AEB3-4185-939B-3B9088D18B22}"/>
              </a:ext>
            </a:extLst>
          </p:cNvPr>
          <p:cNvSpPr>
            <a:spLocks xmlns:a="http://schemas.openxmlformats.org/drawingml/2006/main" noGrp="1"/>
          </p:cNvSpPr>
          <p:nvPr/>
        </p:nvSpPr>
        <p:spPr>
          <a:xfrm xmlns:a="http://schemas.openxmlformats.org/drawingml/2006/main">
            <a:off x="11353800" y="6429375"/>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275" b="0">
                <a:solidFill>
                  <a:srgbClr val="536675"/>
                </a:solidFill>
                <a:latin typeface="Arial"/>
                <a:ea typeface="Arial"/>
                <a:cs typeface="Arial"/>
              </a:rPr>
              <a:t>8</a:t>
            </a:r>
          </a:p>
        </p:txBody>
      </p:sp>
      <p:graphicFrame>
        <p:nvGraphicFramePr>
          <p:cNvPr id="4" name="">
            <a:extLst xmlns:a="http://schemas.openxmlformats.org/drawingml/2006/main">
              <a:ext uri="{FF2B5EF4-FFF2-40B4-BE49-F238E27FC236}">
                <a16:creationId xmlns:a16="http://schemas.microsoft.com/office/drawing/2014/main" id="{F8496523-C573-4179-8249-43DF223E69DE}"/>
              </a:ext>
            </a:extLst>
          </p:cNvPr>
          <p:cNvGraphicFramePr/>
          <p:nvPr/>
        </p:nvGraphicFramePr>
        <p:xfrm>
          <a:off xmlns:a="http://schemas.openxmlformats.org/drawingml/2006/main" x="609600" y="1714500"/>
          <a:ext xmlns:a="http://schemas.openxmlformats.org/drawingml/2006/main" cx="10972800" cy="2714625"/>
        </p:xfrm>
        <a:graphic xmlns:a="http://schemas.openxmlformats.org/drawingml/2006/main">
          <a:graphicData uri="http://schemas.openxmlformats.org/drawingml/2006/table">
            <a:tbl>
              <a:tblPr/>
              <a:tblGrid>
                <a:gridCol w="2209800"/>
                <a:gridCol w="2190750"/>
                <a:gridCol w="2190750"/>
                <a:gridCol w="2190750"/>
                <a:gridCol w="2190750"/>
              </a:tblGrid>
              <a:tr h="542925">
                <a:tc>
                  <a:txBody>
                    <a:bodyPr/>
                    <a:lstStyle/>
                    <a:p>
                      <a:r>
                        <a:rPr sz="1950" b="1">
                          <a:solidFill>
                            <a:srgbClr val="FFFFFF"/>
                          </a:solidFill>
                          <a:latin typeface="Arial"/>
                          <a:ea typeface="Arial"/>
                          <a:cs typeface="Arial"/>
                        </a:rPr>
                        <a:t>Sequence</a:t>
                      </a:r>
                    </a:p>
                  </a:txBody>
                  <a:tcPr marL="91440" marR="91440" marT="45720" marB="45720">
                    <a:lnL w="9525">
                      <a:solidFill>
                        <a:srgbClr val="D7DFE5"/>
                      </a:solidFill>
                      <a:prstDash val="solid"/>
                    </a:lnL>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c>
                  <a:txBody>
                    <a:bodyPr/>
                    <a:lstStyle/>
                    <a:p>
                      <a:r>
                        <a:rPr sz="1950" b="1">
                          <a:solidFill>
                            <a:srgbClr val="FFFFFF"/>
                          </a:solidFill>
                          <a:latin typeface="Arial"/>
                          <a:ea typeface="Arial"/>
                          <a:cs typeface="Arial"/>
                        </a:rPr>
                        <a:t>Full 15W</a:t>
                      </a:r>
                    </a:p>
                  </a:txBody>
                  <a:tcPr marL="91440" marR="91440" marT="45720" marB="45720">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c>
                  <a:txBody>
                    <a:bodyPr/>
                    <a:lstStyle/>
                    <a:p>
                      <a:r>
                        <a:rPr sz="1950" b="1">
                          <a:solidFill>
                            <a:srgbClr val="FFFFFF"/>
                          </a:solidFill>
                          <a:latin typeface="Arial"/>
                          <a:ea typeface="Arial"/>
                          <a:cs typeface="Arial"/>
                        </a:rPr>
                        <a:t>Full 30W</a:t>
                      </a:r>
                    </a:p>
                  </a:txBody>
                  <a:tcPr marL="91440" marR="91440" marT="45720" marB="45720">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c>
                  <a:txBody>
                    <a:bodyPr/>
                    <a:lstStyle/>
                    <a:p>
                      <a:r>
                        <a:rPr sz="1950" b="1">
                          <a:solidFill>
                            <a:srgbClr val="FFFFFF"/>
                          </a:solidFill>
                          <a:latin typeface="Arial"/>
                          <a:ea typeface="Arial"/>
                          <a:cs typeface="Arial"/>
                        </a:rPr>
                        <a:t>ROI 15W</a:t>
                      </a:r>
                    </a:p>
                  </a:txBody>
                  <a:tcPr marL="91440" marR="91440" marT="45720" marB="45720">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c>
                  <a:txBody>
                    <a:bodyPr/>
                    <a:lstStyle/>
                    <a:p>
                      <a:r>
                        <a:rPr sz="1950" b="1">
                          <a:solidFill>
                            <a:srgbClr val="FFFFFF"/>
                          </a:solidFill>
                          <a:latin typeface="Arial"/>
                          <a:ea typeface="Arial"/>
                          <a:cs typeface="Arial"/>
                        </a:rPr>
                        <a:t>ROI 30W</a:t>
                      </a:r>
                    </a:p>
                  </a:txBody>
                  <a:tcPr marL="91440" marR="91440" marT="45720" marB="45720">
                    <a:lnR w="9525">
                      <a:solidFill>
                        <a:srgbClr val="D7DFE5"/>
                      </a:solidFill>
                      <a:prstDash val="solid"/>
                    </a:lnR>
                    <a:lnT w="9525">
                      <a:solidFill>
                        <a:srgbClr val="D7DFE5"/>
                      </a:solidFill>
                      <a:prstDash val="solid"/>
                    </a:lnT>
                    <a:lnB w="9525">
                      <a:solidFill>
                        <a:srgbClr val="D7DFE5"/>
                      </a:solidFill>
                      <a:prstDash val="solid"/>
                    </a:lnB>
                    <a:solidFill>
                      <a:srgbClr val="152D43"/>
                    </a:solidFill>
                  </a:tcPr>
                </a:tc>
              </a:tr>
              <a:tr h="542925">
                <a:tc>
                  <a:txBody>
                    <a:bodyPr/>
                    <a:lstStyle/>
                    <a:p>
                      <a:r>
                        <a:rPr sz="1950" b="0">
                          <a:solidFill>
                            <a:srgbClr val="152D43"/>
                          </a:solidFill>
                          <a:latin typeface="Arial"/>
                          <a:ea typeface="Arial"/>
                          <a:cs typeface="Arial"/>
                        </a:rPr>
                        <a:t>15_300</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FFFFFF"/>
                    </a:solidFill>
                  </a:tcPr>
                </a:tc>
                <a:tc>
                  <a:txBody>
                    <a:bodyPr/>
                    <a:lstStyle/>
                    <a:p>
                      <a:r>
                        <a:rPr sz="1950" b="0">
                          <a:solidFill>
                            <a:srgbClr val="152D43"/>
                          </a:solidFill>
                          <a:latin typeface="Arial"/>
                          <a:ea typeface="Arial"/>
                          <a:cs typeface="Arial"/>
                        </a:rPr>
                        <a:t>14.661</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950" b="0">
                          <a:solidFill>
                            <a:srgbClr val="152D43"/>
                          </a:solidFill>
                          <a:latin typeface="Arial"/>
                          <a:ea typeface="Arial"/>
                          <a:cs typeface="Arial"/>
                        </a:rPr>
                        <a:t>11.039</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950" b="0">
                          <a:solidFill>
                            <a:srgbClr val="152D43"/>
                          </a:solidFill>
                          <a:latin typeface="Arial"/>
                          <a:ea typeface="Arial"/>
                          <a:cs typeface="Arial"/>
                        </a:rPr>
                        <a:t>8.924</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950" b="0">
                          <a:solidFill>
                            <a:srgbClr val="152D43"/>
                          </a:solidFill>
                          <a:latin typeface="Arial"/>
                          <a:ea typeface="Arial"/>
                          <a:cs typeface="Arial"/>
                        </a:rPr>
                        <a:t>6.803</a:t>
                      </a:r>
                    </a:p>
                  </a:txBody>
                  <a:tcPr marL="91440" marR="91440" marT="45720" marB="45720">
                    <a:lnR w="9525">
                      <a:solidFill>
                        <a:srgbClr val="D7DFE5"/>
                      </a:solidFill>
                      <a:prstDash val="solid"/>
                    </a:lnR>
                    <a:lnB w="9525">
                      <a:solidFill>
                        <a:srgbClr val="D7DFE5"/>
                      </a:solidFill>
                      <a:prstDash val="solid"/>
                    </a:lnB>
                    <a:solidFill>
                      <a:srgbClr val="FFFFFF"/>
                    </a:solidFill>
                  </a:tcPr>
                </a:tc>
              </a:tr>
              <a:tr h="542925">
                <a:tc>
                  <a:txBody>
                    <a:bodyPr/>
                    <a:lstStyle/>
                    <a:p>
                      <a:r>
                        <a:rPr sz="1950" b="0">
                          <a:solidFill>
                            <a:srgbClr val="152D43"/>
                          </a:solidFill>
                          <a:latin typeface="Arial"/>
                          <a:ea typeface="Arial"/>
                          <a:cs typeface="Arial"/>
                        </a:rPr>
                        <a:t>15_800</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EAF3F6"/>
                    </a:solidFill>
                  </a:tcPr>
                </a:tc>
                <a:tc>
                  <a:txBody>
                    <a:bodyPr/>
                    <a:lstStyle/>
                    <a:p>
                      <a:r>
                        <a:rPr sz="1950" b="0">
                          <a:solidFill>
                            <a:srgbClr val="152D43"/>
                          </a:solidFill>
                          <a:latin typeface="Arial"/>
                          <a:ea typeface="Arial"/>
                          <a:cs typeface="Arial"/>
                        </a:rPr>
                        <a:t>14.433</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950" b="0">
                          <a:solidFill>
                            <a:srgbClr val="152D43"/>
                          </a:solidFill>
                          <a:latin typeface="Arial"/>
                          <a:ea typeface="Arial"/>
                          <a:cs typeface="Arial"/>
                        </a:rPr>
                        <a:t>10.870</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950" b="0">
                          <a:solidFill>
                            <a:srgbClr val="152D43"/>
                          </a:solidFill>
                          <a:latin typeface="Arial"/>
                          <a:ea typeface="Arial"/>
                          <a:cs typeface="Arial"/>
                        </a:rPr>
                        <a:t>8.910</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950" b="0">
                          <a:solidFill>
                            <a:srgbClr val="152D43"/>
                          </a:solidFill>
                          <a:latin typeface="Arial"/>
                          <a:ea typeface="Arial"/>
                          <a:cs typeface="Arial"/>
                        </a:rPr>
                        <a:t>6.784</a:t>
                      </a:r>
                    </a:p>
                  </a:txBody>
                  <a:tcPr marL="91440" marR="91440" marT="45720" marB="45720">
                    <a:lnR w="9525">
                      <a:solidFill>
                        <a:srgbClr val="D7DFE5"/>
                      </a:solidFill>
                      <a:prstDash val="solid"/>
                    </a:lnR>
                    <a:lnB w="9525">
                      <a:solidFill>
                        <a:srgbClr val="D7DFE5"/>
                      </a:solidFill>
                      <a:prstDash val="solid"/>
                    </a:lnB>
                    <a:solidFill>
                      <a:srgbClr val="EAF3F6"/>
                    </a:solidFill>
                  </a:tcPr>
                </a:tc>
              </a:tr>
              <a:tr h="542925">
                <a:tc>
                  <a:txBody>
                    <a:bodyPr/>
                    <a:lstStyle/>
                    <a:p>
                      <a:r>
                        <a:rPr sz="1950" b="0">
                          <a:solidFill>
                            <a:srgbClr val="152D43"/>
                          </a:solidFill>
                          <a:latin typeface="Arial"/>
                          <a:ea typeface="Arial"/>
                          <a:cs typeface="Arial"/>
                        </a:rPr>
                        <a:t>35_300</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FFFFFF"/>
                    </a:solidFill>
                  </a:tcPr>
                </a:tc>
                <a:tc>
                  <a:txBody>
                    <a:bodyPr/>
                    <a:lstStyle/>
                    <a:p>
                      <a:r>
                        <a:rPr sz="1950" b="0">
                          <a:solidFill>
                            <a:srgbClr val="152D43"/>
                          </a:solidFill>
                          <a:latin typeface="Arial"/>
                          <a:ea typeface="Arial"/>
                          <a:cs typeface="Arial"/>
                        </a:rPr>
                        <a:t>14.537</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950" b="0">
                          <a:solidFill>
                            <a:srgbClr val="152D43"/>
                          </a:solidFill>
                          <a:latin typeface="Arial"/>
                          <a:ea typeface="Arial"/>
                          <a:cs typeface="Arial"/>
                        </a:rPr>
                        <a:t>10.914</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950" b="0">
                          <a:solidFill>
                            <a:srgbClr val="152D43"/>
                          </a:solidFill>
                          <a:latin typeface="Arial"/>
                          <a:ea typeface="Arial"/>
                          <a:cs typeface="Arial"/>
                        </a:rPr>
                        <a:t>8.911</a:t>
                      </a:r>
                    </a:p>
                  </a:txBody>
                  <a:tcPr marL="91440" marR="91440" marT="45720" marB="45720">
                    <a:lnR w="9525">
                      <a:solidFill>
                        <a:srgbClr val="D7DFE5"/>
                      </a:solidFill>
                      <a:prstDash val="solid"/>
                    </a:lnR>
                    <a:lnB w="9525">
                      <a:solidFill>
                        <a:srgbClr val="D7DFE5"/>
                      </a:solidFill>
                      <a:prstDash val="solid"/>
                    </a:lnB>
                    <a:solidFill>
                      <a:srgbClr val="FFFFFF"/>
                    </a:solidFill>
                  </a:tcPr>
                </a:tc>
                <a:tc>
                  <a:txBody>
                    <a:bodyPr/>
                    <a:lstStyle/>
                    <a:p>
                      <a:r>
                        <a:rPr sz="1950" b="0">
                          <a:solidFill>
                            <a:srgbClr val="152D43"/>
                          </a:solidFill>
                          <a:latin typeface="Arial"/>
                          <a:ea typeface="Arial"/>
                          <a:cs typeface="Arial"/>
                        </a:rPr>
                        <a:t>6.793</a:t>
                      </a:r>
                    </a:p>
                  </a:txBody>
                  <a:tcPr marL="91440" marR="91440" marT="45720" marB="45720">
                    <a:lnR w="9525">
                      <a:solidFill>
                        <a:srgbClr val="D7DFE5"/>
                      </a:solidFill>
                      <a:prstDash val="solid"/>
                    </a:lnR>
                    <a:lnB w="9525">
                      <a:solidFill>
                        <a:srgbClr val="D7DFE5"/>
                      </a:solidFill>
                      <a:prstDash val="solid"/>
                    </a:lnB>
                    <a:solidFill>
                      <a:srgbClr val="FFFFFF"/>
                    </a:solidFill>
                  </a:tcPr>
                </a:tc>
              </a:tr>
              <a:tr h="542925">
                <a:tc>
                  <a:txBody>
                    <a:bodyPr/>
                    <a:lstStyle/>
                    <a:p>
                      <a:r>
                        <a:rPr sz="1950" b="0">
                          <a:solidFill>
                            <a:srgbClr val="152D43"/>
                          </a:solidFill>
                          <a:latin typeface="Arial"/>
                          <a:ea typeface="Arial"/>
                          <a:cs typeface="Arial"/>
                        </a:rPr>
                        <a:t>35_800</a:t>
                      </a:r>
                    </a:p>
                  </a:txBody>
                  <a:tcPr marL="91440" marR="91440" marT="45720" marB="45720">
                    <a:lnL w="9525">
                      <a:solidFill>
                        <a:srgbClr val="D7DFE5"/>
                      </a:solidFill>
                      <a:prstDash val="solid"/>
                    </a:lnL>
                    <a:lnR w="9525">
                      <a:solidFill>
                        <a:srgbClr val="D7DFE5"/>
                      </a:solidFill>
                      <a:prstDash val="solid"/>
                    </a:lnR>
                    <a:lnB w="9525">
                      <a:solidFill>
                        <a:srgbClr val="D7DFE5"/>
                      </a:solidFill>
                      <a:prstDash val="solid"/>
                    </a:lnB>
                    <a:solidFill>
                      <a:srgbClr val="EAF3F6"/>
                    </a:solidFill>
                  </a:tcPr>
                </a:tc>
                <a:tc>
                  <a:txBody>
                    <a:bodyPr/>
                    <a:lstStyle/>
                    <a:p>
                      <a:r>
                        <a:rPr sz="1950" b="0">
                          <a:solidFill>
                            <a:srgbClr val="152D43"/>
                          </a:solidFill>
                          <a:latin typeface="Arial"/>
                          <a:ea typeface="Arial"/>
                          <a:cs typeface="Arial"/>
                        </a:rPr>
                        <a:t>14.567</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950" b="0">
                          <a:solidFill>
                            <a:srgbClr val="152D43"/>
                          </a:solidFill>
                          <a:latin typeface="Arial"/>
                          <a:ea typeface="Arial"/>
                          <a:cs typeface="Arial"/>
                        </a:rPr>
                        <a:t>11.045</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950" b="0">
                          <a:solidFill>
                            <a:srgbClr val="152D43"/>
                          </a:solidFill>
                          <a:latin typeface="Arial"/>
                          <a:ea typeface="Arial"/>
                          <a:cs typeface="Arial"/>
                        </a:rPr>
                        <a:t>8.959</a:t>
                      </a:r>
                    </a:p>
                  </a:txBody>
                  <a:tcPr marL="91440" marR="91440" marT="45720" marB="45720">
                    <a:lnR w="9525">
                      <a:solidFill>
                        <a:srgbClr val="D7DFE5"/>
                      </a:solidFill>
                      <a:prstDash val="solid"/>
                    </a:lnR>
                    <a:lnB w="9525">
                      <a:solidFill>
                        <a:srgbClr val="D7DFE5"/>
                      </a:solidFill>
                      <a:prstDash val="solid"/>
                    </a:lnB>
                    <a:solidFill>
                      <a:srgbClr val="EAF3F6"/>
                    </a:solidFill>
                  </a:tcPr>
                </a:tc>
                <a:tc>
                  <a:txBody>
                    <a:bodyPr/>
                    <a:lstStyle/>
                    <a:p>
                      <a:r>
                        <a:rPr sz="1950" b="0">
                          <a:solidFill>
                            <a:srgbClr val="152D43"/>
                          </a:solidFill>
                          <a:latin typeface="Arial"/>
                          <a:ea typeface="Arial"/>
                          <a:cs typeface="Arial"/>
                        </a:rPr>
                        <a:t>6.841</a:t>
                      </a:r>
                    </a:p>
                  </a:txBody>
                  <a:tcPr marL="91440" marR="91440" marT="45720" marB="45720">
                    <a:lnR w="9525">
                      <a:solidFill>
                        <a:srgbClr val="D7DFE5"/>
                      </a:solidFill>
                      <a:prstDash val="solid"/>
                    </a:lnR>
                    <a:lnB w="9525">
                      <a:solidFill>
                        <a:srgbClr val="D7DFE5"/>
                      </a:solidFill>
                      <a:prstDash val="solid"/>
                    </a:lnB>
                    <a:solidFill>
                      <a:srgbClr val="EAF3F6"/>
                    </a:solidFill>
                  </a:tcPr>
                </a:tc>
              </a:tr>
            </a:tbl>
          </a:graphicData>
        </a:graphic>
      </p:graphicFrame>
      <p:sp>
        <p:nvSpPr>
          <p:cNvPr id="5" name="">
            <a:extLst xmlns:a="http://schemas.openxmlformats.org/drawingml/2006/main">
              <a:ext uri="{FF2B5EF4-FFF2-40B4-BE49-F238E27FC236}">
                <a16:creationId xmlns:a16="http://schemas.microsoft.com/office/drawing/2014/main" id="{48786C31-37F4-480F-9C34-F3EAAA7EFCBF}"/>
              </a:ext>
            </a:extLst>
          </p:cNvPr>
          <p:cNvSpPr>
            <a:spLocks xmlns:a="http://schemas.openxmlformats.org/drawingml/2006/main" noGrp="1"/>
          </p:cNvSpPr>
          <p:nvPr/>
        </p:nvSpPr>
        <p:spPr>
          <a:xfrm xmlns:a="http://schemas.openxmlformats.org/drawingml/2006/main">
            <a:off x="609600" y="4714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950" b="1">
                <a:solidFill>
                  <a:srgbClr val="086B93"/>
                </a:solidFill>
                <a:latin typeface="Arial"/>
                <a:ea typeface="Arial"/>
                <a:cs typeface="Arial"/>
              </a:rPr>
              <a:t>Frame 39 per sequence, 100 repeats. Reconstruction means (ms); no decode. Region = 2.8%.</a:t>
            </a:r>
          </a:p>
        </p:txBody>
      </p:sp>
      <p:sp>
        <p:nvSpPr>
          <p:cNvPr id="6" name="">
            <a:extLst xmlns:a="http://schemas.openxmlformats.org/drawingml/2006/main">
              <a:ext uri="{FF2B5EF4-FFF2-40B4-BE49-F238E27FC236}">
                <a16:creationId xmlns:a16="http://schemas.microsoft.com/office/drawing/2014/main" id="{FE2651F4-E1A4-4591-94B4-57DFD0BD8457}"/>
              </a:ext>
            </a:extLst>
          </p:cNvPr>
          <p:cNvSpPr>
            <a:spLocks xmlns:a="http://schemas.openxmlformats.org/drawingml/2006/main" noGrp="1"/>
          </p:cNvSpPr>
          <p:nvPr/>
        </p:nvSpPr>
        <p:spPr>
          <a:xfrm xmlns:a="http://schemas.openxmlformats.org/drawingml/2006/main">
            <a:off x="609600" y="5238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875" b="0">
                <a:solidFill>
                  <a:srgbClr val="152D43"/>
                </a:solidFill>
                <a:latin typeface="Arial"/>
                <a:ea typeface="Arial"/>
                <a:cs typeface="Arial"/>
              </a:rPr>
              <a:t>30W 4-core mode raises the GPU cap but lowers the CPU cap versus 15W Desktop.</a:t>
            </a:r>
          </a:p>
          <a:p xmlns:a="http://schemas.openxmlformats.org/drawingml/2006/main">
            <a:r>
              <a:rPr sz="1875" b="0">
                <a:solidFill>
                  <a:srgbClr val="152D43"/>
                </a:solidFill>
                <a:latin typeface="Arial"/>
                <a:ea typeface="Arial"/>
                <a:cs typeface="Arial"/>
              </a:rPr>
              <a:t>Dynamic clocks. Numba and optimized C++ use different upsampling implementations.</a:t>
            </a:r>
          </a:p>
        </p:txBody>
      </p:sp>
      <p:sp>
        <p:nvSpPr>
          <p:cNvPr id="7" name="">
            <a:extLst xmlns:a="http://schemas.openxmlformats.org/drawingml/2006/main">
              <a:ext uri="{FF2B5EF4-FFF2-40B4-BE49-F238E27FC236}">
                <a16:creationId xmlns:a16="http://schemas.microsoft.com/office/drawing/2014/main" id="{39919E23-0D6B-4BC6-8924-43CB6446DCA7}"/>
              </a:ext>
            </a:extLst>
          </p:cNvPr>
          <p:cNvSpPr>
            <a:spLocks xmlns:a="http://schemas.openxmlformats.org/drawingml/2006/main" noGrp="1"/>
          </p:cNvSpPr>
          <p:nvPr/>
        </p:nvSpPr>
        <p:spPr>
          <a:xfrm xmlns:a="http://schemas.openxmlformats.org/drawingml/2006/main">
            <a:off x="609600" y="5924550"/>
            <a:ext cx="10715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500" b="0">
                <a:solidFill>
                  <a:srgbClr val="536675"/>
                </a:solidFill>
                <a:latin typeface="Arial"/>
                <a:ea typeface="Arial"/>
                <a:cs typeface="Arial"/>
              </a:rPr>
              <a:t>Small-sample power-mode comparison, not a complete-dataset study or a language-only comparison.</a:t>
            </a:r>
          </a:p>
        </p:txBody>
      </p:sp>
    </p:spTree>
    <p:extLst>
      <p:ext uri="{BB962C8B-B14F-4D97-AF65-F5344CB8AC3E}">
        <p14:creationId xmlns:p14="http://schemas.microsoft.com/office/powerpoint/2010/main" val="116419113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C2FE9EB-1B78-4E3F-8F19-3869B02541E8}"/>
              </a:ext>
            </a:extLst>
          </p:cNvPr>
          <p:cNvSpPr>
            <a:spLocks xmlns:a="http://schemas.openxmlformats.org/drawingml/2006/main" noGrp="1"/>
          </p:cNvSpPr>
          <p:nvPr/>
        </p:nvSpPr>
        <p:spPr>
          <a:xfrm xmlns:a="http://schemas.openxmlformats.org/drawingml/2006/main">
            <a:off x="609600" y="381000"/>
            <a:ext cx="10906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150" b="1">
                <a:solidFill>
                  <a:srgbClr val="152D43"/>
                </a:solidFill>
                <a:latin typeface="Arial"/>
                <a:ea typeface="Arial"/>
                <a:cs typeface="Arial"/>
              </a:rPr>
              <a:t>Next: measure deadline behavior under jitter</a:t>
            </a:r>
          </a:p>
        </p:txBody>
      </p:sp>
      <p:sp>
        <p:nvSpPr>
          <p:cNvPr id="2" name="">
            <a:extLst xmlns:a="http://schemas.openxmlformats.org/drawingml/2006/main">
              <a:ext uri="{FF2B5EF4-FFF2-40B4-BE49-F238E27FC236}">
                <a16:creationId xmlns:a16="http://schemas.microsoft.com/office/drawing/2014/main" id="{7672AA85-BA9E-4405-96C5-5E002AFCDEF8}"/>
              </a:ext>
            </a:extLst>
          </p:cNvPr>
          <p:cNvSpPr>
            <a:spLocks xmlns:a="http://schemas.openxmlformats.org/drawingml/2006/main" noGrp="1"/>
          </p:cNvSpPr>
          <p:nvPr/>
        </p:nvSpPr>
        <p:spPr>
          <a:xfrm xmlns:a="http://schemas.openxmlformats.org/drawingml/2006/main">
            <a:off x="609600" y="1162050"/>
            <a:ext cx="10972800" cy="0"/>
          </a:xfrm>
          <a:prstGeom xmlns:a="http://schemas.openxmlformats.org/drawingml/2006/main" prst="line">
            <a:avLst/>
          </a:prstGeom>
          <a:noFill xmlns:a="http://schemas.openxmlformats.org/drawingml/2006/main"/>
          <a:ln xmlns:a="http://schemas.openxmlformats.org/drawingml/2006/main" w="9525">
            <a:solidFill>
              <a:srgbClr val="D7DFE5"/>
            </a:solidFill>
          </a:ln>
        </p:spPr>
      </p:sp>
      <p:sp>
        <p:nvSpPr>
          <p:cNvPr id="3" name="">
            <a:extLst xmlns:a="http://schemas.openxmlformats.org/drawingml/2006/main">
              <a:ext uri="{FF2B5EF4-FFF2-40B4-BE49-F238E27FC236}">
                <a16:creationId xmlns:a16="http://schemas.microsoft.com/office/drawing/2014/main" id="{DD409307-5C55-46DB-B7DD-5B787E395489}"/>
              </a:ext>
            </a:extLst>
          </p:cNvPr>
          <p:cNvSpPr>
            <a:spLocks xmlns:a="http://schemas.openxmlformats.org/drawingml/2006/main" noGrp="1"/>
          </p:cNvSpPr>
          <p:nvPr/>
        </p:nvSpPr>
        <p:spPr>
          <a:xfrm xmlns:a="http://schemas.openxmlformats.org/drawingml/2006/main">
            <a:off x="11353800" y="6429375"/>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275" b="0">
                <a:solidFill>
                  <a:srgbClr val="536675"/>
                </a:solidFill>
                <a:latin typeface="Arial"/>
                <a:ea typeface="Arial"/>
                <a:cs typeface="Arial"/>
              </a:rPr>
              <a:t>9</a:t>
            </a:r>
          </a:p>
        </p:txBody>
      </p:sp>
      <p:sp>
        <p:nvSpPr>
          <p:cNvPr id="4" name="">
            <a:extLst xmlns:a="http://schemas.openxmlformats.org/drawingml/2006/main">
              <a:ext uri="{FF2B5EF4-FFF2-40B4-BE49-F238E27FC236}">
                <a16:creationId xmlns:a16="http://schemas.microsoft.com/office/drawing/2014/main" id="{96E05C6B-EDD7-4C8A-A0BD-EDF5359F0685}"/>
              </a:ext>
            </a:extLst>
          </p:cNvPr>
          <p:cNvSpPr>
            <a:spLocks xmlns:a="http://schemas.openxmlformats.org/drawingml/2006/main" noGrp="1"/>
          </p:cNvSpPr>
          <p:nvPr/>
        </p:nvSpPr>
        <p:spPr>
          <a:xfrm xmlns:a="http://schemas.openxmlformats.org/drawingml/2006/main">
            <a:off x="628650" y="170497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000" b="1">
                <a:solidFill>
                  <a:srgbClr val="086B93"/>
                </a:solidFill>
                <a:latin typeface="Arial"/>
                <a:ea typeface="Arial"/>
                <a:cs typeface="Arial"/>
              </a:rPr>
              <a:t>1</a:t>
            </a:r>
          </a:p>
        </p:txBody>
      </p:sp>
      <p:sp>
        <p:nvSpPr>
          <p:cNvPr id="5" name="">
            <a:extLst xmlns:a="http://schemas.openxmlformats.org/drawingml/2006/main">
              <a:ext uri="{FF2B5EF4-FFF2-40B4-BE49-F238E27FC236}">
                <a16:creationId xmlns:a16="http://schemas.microsoft.com/office/drawing/2014/main" id="{01F14804-78B2-494E-BC92-16E3A164BFF9}"/>
              </a:ext>
            </a:extLst>
          </p:cNvPr>
          <p:cNvSpPr>
            <a:spLocks xmlns:a="http://schemas.openxmlformats.org/drawingml/2006/main" noGrp="1"/>
          </p:cNvSpPr>
          <p:nvPr/>
        </p:nvSpPr>
        <p:spPr>
          <a:xfrm xmlns:a="http://schemas.openxmlformats.org/drawingml/2006/main">
            <a:off x="1333500" y="1704975"/>
            <a:ext cx="1000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400" b="1">
                <a:solidFill>
                  <a:srgbClr val="152D43"/>
                </a:solidFill>
                <a:latin typeface="Arial"/>
                <a:ea typeface="Arial"/>
                <a:cs typeface="Arial"/>
              </a:rPr>
              <a:t>Record the actual per-frame budget</a:t>
            </a:r>
          </a:p>
        </p:txBody>
      </p:sp>
      <p:sp>
        <p:nvSpPr>
          <p:cNvPr id="6" name="">
            <a:extLst xmlns:a="http://schemas.openxmlformats.org/drawingml/2006/main">
              <a:ext uri="{FF2B5EF4-FFF2-40B4-BE49-F238E27FC236}">
                <a16:creationId xmlns:a16="http://schemas.microsoft.com/office/drawing/2014/main" id="{26332308-6FF3-4049-BA00-66041711FDB3}"/>
              </a:ext>
            </a:extLst>
          </p:cNvPr>
          <p:cNvSpPr>
            <a:spLocks xmlns:a="http://schemas.openxmlformats.org/drawingml/2006/main" noGrp="1"/>
          </p:cNvSpPr>
          <p:nvPr/>
        </p:nvSpPr>
        <p:spPr>
          <a:xfrm xmlns:a="http://schemas.openxmlformats.org/drawingml/2006/main">
            <a:off x="1333500" y="2247900"/>
            <a:ext cx="9953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025" b="0">
                <a:solidFill>
                  <a:srgbClr val="536675"/>
                </a:solidFill>
                <a:latin typeface="Arial"/>
                <a:ea typeface="Arial"/>
                <a:cs typeface="Arial"/>
              </a:rPr>
              <a:t>Log arrival, decode completion, and display deadline. Reserve display time and a margin.</a:t>
            </a:r>
          </a:p>
        </p:txBody>
      </p:sp>
      <p:sp>
        <p:nvSpPr>
          <p:cNvPr id="7" name="">
            <a:extLst xmlns:a="http://schemas.openxmlformats.org/drawingml/2006/main">
              <a:ext uri="{FF2B5EF4-FFF2-40B4-BE49-F238E27FC236}">
                <a16:creationId xmlns:a16="http://schemas.microsoft.com/office/drawing/2014/main" id="{4E2D6B02-A981-4473-88DA-D712017B07FC}"/>
              </a:ext>
            </a:extLst>
          </p:cNvPr>
          <p:cNvSpPr>
            <a:spLocks xmlns:a="http://schemas.openxmlformats.org/drawingml/2006/main" noGrp="1"/>
          </p:cNvSpPr>
          <p:nvPr/>
        </p:nvSpPr>
        <p:spPr>
          <a:xfrm xmlns:a="http://schemas.openxmlformats.org/drawingml/2006/main">
            <a:off x="628650" y="300037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000" b="1">
                <a:solidFill>
                  <a:srgbClr val="086B93"/>
                </a:solidFill>
                <a:latin typeface="Arial"/>
                <a:ea typeface="Arial"/>
                <a:cs typeface="Arial"/>
              </a:rPr>
              <a:t>2</a:t>
            </a:r>
          </a:p>
        </p:txBody>
      </p:sp>
      <p:sp>
        <p:nvSpPr>
          <p:cNvPr id="8" name="">
            <a:extLst xmlns:a="http://schemas.openxmlformats.org/drawingml/2006/main">
              <a:ext uri="{FF2B5EF4-FFF2-40B4-BE49-F238E27FC236}">
                <a16:creationId xmlns:a16="http://schemas.microsoft.com/office/drawing/2014/main" id="{FDF60FD4-F107-4299-8040-179FEC0A0182}"/>
              </a:ext>
            </a:extLst>
          </p:cNvPr>
          <p:cNvSpPr>
            <a:spLocks xmlns:a="http://schemas.openxmlformats.org/drawingml/2006/main" noGrp="1"/>
          </p:cNvSpPr>
          <p:nvPr/>
        </p:nvSpPr>
        <p:spPr>
          <a:xfrm xmlns:a="http://schemas.openxmlformats.org/drawingml/2006/main">
            <a:off x="1333500" y="3000375"/>
            <a:ext cx="1000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400" b="1">
                <a:solidFill>
                  <a:srgbClr val="152D43"/>
                </a:solidFill>
                <a:latin typeface="Arial"/>
                <a:ea typeface="Arial"/>
                <a:cs typeface="Arial"/>
              </a:rPr>
              <a:t>Implement budget-based ROI selection</a:t>
            </a:r>
          </a:p>
        </p:txBody>
      </p:sp>
      <p:sp>
        <p:nvSpPr>
          <p:cNvPr id="9" name="">
            <a:extLst xmlns:a="http://schemas.openxmlformats.org/drawingml/2006/main">
              <a:ext uri="{FF2B5EF4-FFF2-40B4-BE49-F238E27FC236}">
                <a16:creationId xmlns:a16="http://schemas.microsoft.com/office/drawing/2014/main" id="{6F29AAA9-1CA3-4346-BEBA-A1AADF94360F}"/>
              </a:ext>
            </a:extLst>
          </p:cNvPr>
          <p:cNvSpPr>
            <a:spLocks xmlns:a="http://schemas.openxmlformats.org/drawingml/2006/main" noGrp="1"/>
          </p:cNvSpPr>
          <p:nvPr/>
        </p:nvSpPr>
        <p:spPr>
          <a:xfrm xmlns:a="http://schemas.openxmlformats.org/drawingml/2006/main">
            <a:off x="1333500" y="3543300"/>
            <a:ext cx="9953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025" b="0">
                <a:solidFill>
                  <a:srgbClr val="536675"/>
                </a:solidFill>
                <a:latin typeface="Arial"/>
                <a:ea typeface="Arial"/>
                <a:cs typeface="Arial"/>
              </a:rPr>
              <a:t>Build a percentile-based profile. Define a fallback when no level fits the budget.</a:t>
            </a:r>
          </a:p>
        </p:txBody>
      </p:sp>
      <p:sp>
        <p:nvSpPr>
          <p:cNvPr id="10" name="">
            <a:extLst xmlns:a="http://schemas.openxmlformats.org/drawingml/2006/main">
              <a:ext uri="{FF2B5EF4-FFF2-40B4-BE49-F238E27FC236}">
                <a16:creationId xmlns:a16="http://schemas.microsoft.com/office/drawing/2014/main" id="{F14697C4-3C2E-4DC0-8DEE-0EFE18D2B9D8}"/>
              </a:ext>
            </a:extLst>
          </p:cNvPr>
          <p:cNvSpPr>
            <a:spLocks xmlns:a="http://schemas.openxmlformats.org/drawingml/2006/main" noGrp="1"/>
          </p:cNvSpPr>
          <p:nvPr/>
        </p:nvSpPr>
        <p:spPr>
          <a:xfrm xmlns:a="http://schemas.openxmlformats.org/drawingml/2006/main">
            <a:off x="628650" y="429577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3000" b="1">
                <a:solidFill>
                  <a:srgbClr val="086B93"/>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C48ECCB3-9045-499D-9A24-9D752C1CA228}"/>
              </a:ext>
            </a:extLst>
          </p:cNvPr>
          <p:cNvSpPr>
            <a:spLocks xmlns:a="http://schemas.openxmlformats.org/drawingml/2006/main" noGrp="1"/>
          </p:cNvSpPr>
          <p:nvPr/>
        </p:nvSpPr>
        <p:spPr>
          <a:xfrm xmlns:a="http://schemas.openxmlformats.org/drawingml/2006/main">
            <a:off x="1333500" y="4295775"/>
            <a:ext cx="1000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400" b="1">
                <a:solidFill>
                  <a:srgbClr val="152D43"/>
                </a:solidFill>
                <a:latin typeface="Arial"/>
                <a:ea typeface="Arial"/>
                <a:cs typeface="Arial"/>
              </a:rPr>
              <a:t>Compare fixed and adaptive policies on the same trace</a:t>
            </a:r>
          </a:p>
        </p:txBody>
      </p:sp>
      <p:sp>
        <p:nvSpPr>
          <p:cNvPr id="12" name="">
            <a:extLst xmlns:a="http://schemas.openxmlformats.org/drawingml/2006/main">
              <a:ext uri="{FF2B5EF4-FFF2-40B4-BE49-F238E27FC236}">
                <a16:creationId xmlns:a16="http://schemas.microsoft.com/office/drawing/2014/main" id="{0F517856-ED5F-4933-B1D5-4973CA97E1A6}"/>
              </a:ext>
            </a:extLst>
          </p:cNvPr>
          <p:cNvSpPr>
            <a:spLocks xmlns:a="http://schemas.openxmlformats.org/drawingml/2006/main" noGrp="1"/>
          </p:cNvSpPr>
          <p:nvPr/>
        </p:nvSpPr>
        <p:spPr>
          <a:xfrm xmlns:a="http://schemas.openxmlformats.org/drawingml/2006/main">
            <a:off x="1333500" y="4838700"/>
            <a:ext cx="9953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2025" b="0">
                <a:solidFill>
                  <a:srgbClr val="536675"/>
                </a:solidFill>
                <a:latin typeface="Arial"/>
                <a:ea typeface="Arial"/>
                <a:cs typeface="Arial"/>
              </a:rPr>
              <a:t>Report deadline-miss rate, tail latency, and quality. Repeat runs to check stability.</a:t>
            </a:r>
          </a:p>
        </p:txBody>
      </p:sp>
      <p:sp>
        <p:nvSpPr>
          <p:cNvPr id="13" name="">
            <a:extLst xmlns:a="http://schemas.openxmlformats.org/drawingml/2006/main">
              <a:ext uri="{FF2B5EF4-FFF2-40B4-BE49-F238E27FC236}">
                <a16:creationId xmlns:a16="http://schemas.microsoft.com/office/drawing/2014/main" id="{AD1D3B16-4456-46F4-8761-28DCD18AF82C}"/>
              </a:ext>
            </a:extLst>
          </p:cNvPr>
          <p:cNvSpPr>
            <a:spLocks xmlns:a="http://schemas.openxmlformats.org/drawingml/2006/main" noGrp="1"/>
          </p:cNvSpPr>
          <p:nvPr/>
        </p:nvSpPr>
        <p:spPr>
          <a:xfrm xmlns:a="http://schemas.openxmlformats.org/drawingml/2006/main">
            <a:off x="609600" y="5924550"/>
            <a:ext cx="10715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p xmlns:a="http://schemas.openxmlformats.org/drawingml/2006/main">
            <a:r>
              <a:rPr sz="1500" b="0">
                <a:solidFill>
                  <a:srgbClr val="536675"/>
                </a:solidFill>
                <a:latin typeface="Arial"/>
                <a:ea typeface="Arial"/>
                <a:cs typeface="Arial"/>
              </a:rPr>
              <a:t>Measured: fixed-center quality–latency levels. Adaptive scheduling and benefits under jitter still require validation.</a:t>
            </a:r>
          </a:p>
        </p:txBody>
      </p:sp>
    </p:spTree>
    <p:extLst>
      <p:ext uri="{BB962C8B-B14F-4D97-AF65-F5344CB8AC3E}">
        <p14:creationId xmlns:p14="http://schemas.microsoft.com/office/powerpoint/2010/main" val="182426357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2026-10-30T03:53:51.6700000Z</dcterms:created>
  <dcterms:modified xsi:type="dcterms:W3CDTF">2026-10-30T03:53:51.6700000Z</dcterms:modified>
</coreProperties>
</file>