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6fa290b73e41e2" /><Relationship Type="http://schemas.openxmlformats.org/officeDocument/2006/relationships/extended-properties" Target="/docProps/app.xml" Id="R27c8b80bcc204b27" /><Relationship Type="http://schemas.openxmlformats.org/officeDocument/2006/relationships/officeDocument" Target="/ppt/presentation.xml" Id="R40be8d2c50f145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9de33e494740a5"/>
  </p:sldMasterIdLst>
  <p:notesMasterIdLst>
    <p:notesMasterId xmlns:r="http://schemas.openxmlformats.org/officeDocument/2006/relationships" r:id="R0de4b637a0494807"/>
  </p:notesMasterIdLst>
  <p:sldIdLst>
    <p:sldId xmlns:r="http://schemas.openxmlformats.org/officeDocument/2006/relationships" id="256" r:id="Rdca792a4d3d74194"/>
    <p:sldId xmlns:r="http://schemas.openxmlformats.org/officeDocument/2006/relationships" id="257" r:id="R6c7ae1ac5d6445e7"/>
    <p:sldId xmlns:r="http://schemas.openxmlformats.org/officeDocument/2006/relationships" id="258" r:id="R94c45fc12e234211"/>
    <p:sldId xmlns:r="http://schemas.openxmlformats.org/officeDocument/2006/relationships" id="259" r:id="Re64d9e9c336b470c"/>
    <p:sldId xmlns:r="http://schemas.openxmlformats.org/officeDocument/2006/relationships" id="260" r:id="R6921852ecdc54e61"/>
    <p:sldId xmlns:r="http://schemas.openxmlformats.org/officeDocument/2006/relationships" id="261" r:id="Rb1bd142a39464acd"/>
    <p:sldId xmlns:r="http://schemas.openxmlformats.org/officeDocument/2006/relationships" id="262" r:id="Rb2d53381a81a4f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9b6d17c16c45e6" /><Relationship Type="http://schemas.openxmlformats.org/officeDocument/2006/relationships/slideMaster" Target="/ppt/slideMasters/slideMaster1.xml" Id="R179de33e494740a5" /><Relationship Type="http://schemas.openxmlformats.org/officeDocument/2006/relationships/notesMaster" Target="/ppt/notesMasters/notesMaster1.xml" Id="R0de4b637a0494807" /><Relationship Type="http://schemas.openxmlformats.org/officeDocument/2006/relationships/presProps" Target="/ppt/presProps.xml" Id="R39a9fa3178d1415c" /><Relationship Type="http://schemas.openxmlformats.org/officeDocument/2006/relationships/tableStyles" Target="/ppt/tableStyles.xml" Id="R86615de2a95041ad" /><Relationship Type="http://schemas.openxmlformats.org/officeDocument/2006/relationships/slide" Target="/ppt/slides/slide1.xml" Id="Rdca792a4d3d74194" /><Relationship Type="http://schemas.openxmlformats.org/officeDocument/2006/relationships/slide" Target="/ppt/slides/slide2.xml" Id="R6c7ae1ac5d6445e7" /><Relationship Type="http://schemas.openxmlformats.org/officeDocument/2006/relationships/slide" Target="/ppt/slides/slide3.xml" Id="R94c45fc12e234211" /><Relationship Type="http://schemas.openxmlformats.org/officeDocument/2006/relationships/slide" Target="/ppt/slides/slide4.xml" Id="Re64d9e9c336b470c" /><Relationship Type="http://schemas.openxmlformats.org/officeDocument/2006/relationships/slide" Target="/ppt/slides/slide5.xml" Id="R6921852ecdc54e61" /><Relationship Type="http://schemas.openxmlformats.org/officeDocument/2006/relationships/slide" Target="/ppt/slides/slide6.xml" Id="Rb1bd142a39464acd" /><Relationship Type="http://schemas.openxmlformats.org/officeDocument/2006/relationships/slide" Target="/ppt/slides/slide7.xml" Id="Rb2d53381a81a4f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58d99485cf47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0ea8d6471b46ab" /><Relationship Type="http://schemas.openxmlformats.org/officeDocument/2006/relationships/notesMaster" Target="/ppt/notesMasters/notesMaster1.xml" Id="R5923039e092445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5f4f88b6bd49c5" /><Relationship Type="http://schemas.openxmlformats.org/officeDocument/2006/relationships/notesMaster" Target="/ppt/notesMasters/notesMaster1.xml" Id="Ra3e63f79a1ef47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fa9037b9ce413b" /><Relationship Type="http://schemas.openxmlformats.org/officeDocument/2006/relationships/notesMaster" Target="/ppt/notesMasters/notesMaster1.xml" Id="R3a1665ec3a8646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a631cddfc7433a" /><Relationship Type="http://schemas.openxmlformats.org/officeDocument/2006/relationships/notesMaster" Target="/ppt/notesMasters/notesMaster1.xml" Id="R202b5f2e905f43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b7db58b3414d15" /><Relationship Type="http://schemas.openxmlformats.org/officeDocument/2006/relationships/notesMaster" Target="/ppt/notesMasters/notesMaster1.xml" Id="R59cef1f81bbb4e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b63c61d4ec4374" /><Relationship Type="http://schemas.openxmlformats.org/officeDocument/2006/relationships/notesMaster" Target="/ppt/notesMasters/notesMaster1.xml" Id="Rff21a6f34c1447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19a31f53ac4956" /><Relationship Type="http://schemas.openxmlformats.org/officeDocument/2006/relationships/notesMaster" Target="/ppt/notesMasters/notesMaster1.xml" Id="R527d1a2a49f847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Weekly update. This deck distinguishes the proposed deadline scheduler from the implemented fixed-center FOV sweep. No measured network jitter or deadline-miss improvement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Schematic only, not measured data. 90 FPS gives a frame period of 1000/90=11.11 ms. Frame period is not an established end-to-end deadline. The bars illustrate arrival/decode variability relative to a chosen display deadline.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adaptive mechanism, not implemented/validated. After inputs are ready, more remaining reconstruction time allows a larger full-resolution region; less time calls for a smaller region. The half-resolution base still covers the full image. Region sizes in this schematic are illustrative, not quantitative. Current implementation covers a fixed-center FOV sweep and latency profiles.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results/fov_levels_xavier_full_20261027/README.md; overview.csv; summary.csv. Commit 0f1506c. Date 2026-10-27. Raw evidence: evidence.tar.gz. Mechanism: half-resolution base + padded full-resolution ROI + feather overlay. Region percentages are spatial coverage of a 960x540 image: 80x46=0.7098765%, 160x90=2.7777778%, 320x180=11.1111111%, 480x270=25%, 640x360=44.4444444%. The base samples at 50% width and 50% height, giving 25% as many pixels (480x270), while covering the entire image. Region coverage and sampling resolution are different quantities.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results/cu_breakdown_xavier_20261029/README.md; results/fov_decode_budget_2ms_20261029/summary.csv. Four workloads, each frame39; 10 warmups and 100 timed runs per path. Arithmetic means of staged resident GPU timelines, not wall time. Full uses the paired baseline from the 2.8% configuration. Fixed decode budget is 2 ms once per frame, not measured joint RGB/depth/flow decoding or measured end-to-end timing. No input/output copies, network or display. Fast resampling enabled. Clearing dominates Full and accounts for about 58% of the Full-to-2.8% reconstruction saving, so the gain cannot be attributed entirely to reduced reprojection computation. No claim of an optimal Full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results/fov_levels_xavier_full_20261027/README.md; overview.csv; summary.csv. Commit 0f1506c. Date 2026-10-27. Raw evidence: evidence.tar.gz. Original uint8-overflow PSNR preserved. Stereo delta is derived only if left eye remains unchanged and per-eye PSNR dB is averaged. Quality: 15W, 1068 frames. Timing: separate 30W four-frame CUDA staged GPU experiment; not joint measurements and no new quality equivalence verified. Timing is never divided by two. Latency adds a fixed 2 ms per-frame decode budget once, not measured decoding or end-to-end latency. Source: results/fov_decode_budget_2ms_20261029/summary.csv.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future work; no measured jitter trace or deadline-miss reduction exists in the current experiment. Slides 5–6 add a fixed 2 ms decode budget to local reconstruction means. Other timing values are local reconstruction measurements. None are measured end-to-end VR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4884a200a041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70dc4615147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f6ec808cd45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b2990e151c4f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de8f86fa424a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9251a1d374d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873602-1825-4C9F-89B4-348F67A143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B43B04-B2BF-4150-86BA-AD2F926508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7304056-3C4A-42F0-9154-D26D831FA3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6F2F85-032D-418F-8FF6-CB247A4A35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5C660E-DC4A-4D2D-9454-10B999B867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DC0EFB-33C8-4675-824E-5713C8E462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DEF5BD-D96D-4E3C-9041-36AC92BAB0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695DE9-0F6C-42AB-B76C-CA2651021B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EB5180-5B59-4F37-BE8F-B87E585B6C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8E5EC7-2F77-4ED2-BDFE-FDBDF54FAD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4a2aac66cd4887" /><Relationship Type="http://schemas.openxmlformats.org/officeDocument/2006/relationships/slideLayout" Target="/ppt/slideLayouts/slideLayout1.xml" Id="R72a625dab0af494a" /><Relationship Type="http://schemas.openxmlformats.org/officeDocument/2006/relationships/slideLayout" Target="/ppt/slideLayouts/slideLayout2.xml" Id="Rd82813bafa7d4ac4" /><Relationship Type="http://schemas.openxmlformats.org/officeDocument/2006/relationships/slideLayout" Target="/ppt/slideLayouts/slideLayout3.xml" Id="R3ce94574400545e7" /><Relationship Type="http://schemas.openxmlformats.org/officeDocument/2006/relationships/slideLayout" Target="/ppt/slideLayouts/slideLayout4.xml" Id="Rebca27cfd7ae4322" /><Relationship Type="http://schemas.openxmlformats.org/officeDocument/2006/relationships/slideLayout" Target="/ppt/slideLayouts/slideLayout5.xml" Id="R61bdae2f7e984c52" /><Relationship Type="http://schemas.openxmlformats.org/officeDocument/2006/relationships/slideLayout" Target="/ppt/slideLayouts/slideLayout6.xml" Id="R95aab2068dac4a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a625dab0af494a"/>
    <p:sldLayoutId xmlns:r="http://schemas.openxmlformats.org/officeDocument/2006/relationships" id="2147483650" r:id="Rd82813bafa7d4ac4"/>
    <p:sldLayoutId xmlns:r="http://schemas.openxmlformats.org/officeDocument/2006/relationships" id="2147483651" r:id="R3ce94574400545e7"/>
    <p:sldLayoutId xmlns:r="http://schemas.openxmlformats.org/officeDocument/2006/relationships" id="2147483652" r:id="Rebca27cfd7ae4322"/>
    <p:sldLayoutId xmlns:r="http://schemas.openxmlformats.org/officeDocument/2006/relationships" id="2147483653" r:id="R61bdae2f7e984c52"/>
    <p:sldLayoutId xmlns:r="http://schemas.openxmlformats.org/officeDocument/2006/relationships" id="2147483654" r:id="R95aab2068dac4a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99b55b34084ba8" /><Relationship Type="http://schemas.openxmlformats.org/officeDocument/2006/relationships/notesSlide" Target="/ppt/notesSlides/notesSlide1.xml" Id="Raa0b057f8c0645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39d0508c984c96" /><Relationship Type="http://schemas.openxmlformats.org/officeDocument/2006/relationships/notesSlide" Target="/ppt/notesSlides/notesSlide2.xml" Id="Rfc10dcb6344b4c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81897318de453e" /><Relationship Type="http://schemas.openxmlformats.org/officeDocument/2006/relationships/notesSlide" Target="/ppt/notesSlides/notesSlide3.xml" Id="R56081568d45e4f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4568bb2f054b9a" /><Relationship Type="http://schemas.openxmlformats.org/officeDocument/2006/relationships/notesSlide" Target="/ppt/notesSlides/notesSlide4.xml" Id="Ra565fa87ac5a4d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a9f77819d94541" /><Relationship Type="http://schemas.openxmlformats.org/officeDocument/2006/relationships/chart" Target="/ppt/slides/charts/chart1.xml" Id="R0f94985e972f4ef5" /><Relationship Type="http://schemas.openxmlformats.org/officeDocument/2006/relationships/notesSlide" Target="/ppt/notesSlides/notesSlide5.xml" Id="Rfedf2bb522c640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48217204f6498e" /><Relationship Type="http://schemas.openxmlformats.org/officeDocument/2006/relationships/notesSlide" Target="/ppt/notesSlides/notesSlide6.xml" Id="Raa8a85d1a07149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5de72998f74faa" /><Relationship Type="http://schemas.openxmlformats.org/officeDocument/2006/relationships/notesSlide" Target="/ppt/notesSlides/notesSlide7.xml" Id="R176d903e2c9a415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Measured reconstruction</c:v>
          </c:tx>
          <c:spPr>
            <a:solidFill xmlns:a="http://schemas.openxmlformats.org/drawingml/2006/main">
              <a:srgbClr val="086B93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Full</c:v>
                </c:pt>
                <c:pt idx="1">
                  <c:v>0.7%</c:v>
                </c:pt>
                <c:pt idx="2">
                  <c:v>2.8%</c:v>
                </c:pt>
                <c:pt idx="3">
                  <c:v>11.1%</c:v>
                </c:pt>
                <c:pt idx="4">
                  <c:v>25.0%</c:v>
                </c:pt>
                <c:pt idx="5">
                  <c:v>44.4%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7.996</c:v>
                </c:pt>
                <c:pt idx="1">
                  <c:v>3.248</c:v>
                </c:pt>
                <c:pt idx="2">
                  <c:v>3.462</c:v>
                </c:pt>
                <c:pt idx="3">
                  <c:v>4.318</c:v>
                </c:pt>
                <c:pt idx="4">
                  <c:v>5.637</c:v>
                </c:pt>
                <c:pt idx="5">
                  <c:v>7.543</c:v>
                </c:pt>
              </c:numCache>
            </c:numRef>
          </c:val>
        </c:ser>
        <c:ser>
          <c:idx val="1"/>
          <c:order val="1"/>
          <c:tx>
            <c:v>Fixed decode budget (2 ms)</c:v>
          </c:tx>
          <c:spPr>
            <a:solidFill xmlns:a="http://schemas.openxmlformats.org/drawingml/2006/main">
              <a:srgbClr val="D17B28"/>
            </a:solidFill>
          </c:spPr>
          <c:invertIfNegative val="0"/>
          <c:cat>
            <c:strRef>
              <c:f>'Chart Data'!$C$2:$C$7</c:f>
              <c:strCache>
                <c:ptCount val="6"/>
                <c:pt idx="0">
                  <c:v>Full</c:v>
                </c:pt>
                <c:pt idx="1">
                  <c:v>0.7%</c:v>
                </c:pt>
                <c:pt idx="2">
                  <c:v>2.8%</c:v>
                </c:pt>
                <c:pt idx="3">
                  <c:v>11.1%</c:v>
                </c:pt>
                <c:pt idx="4">
                  <c:v>25.0%</c:v>
                </c:pt>
                <c:pt idx="5">
                  <c:v>44.4%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Decode + GPU reconstruction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29841-71F3-45D8-A5A2-5BFED7BE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465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Deadline-aware</a:t>
            </a:r>
          </a:p>
          <a:p xmlns:a="http://schemas.openxmlformats.org/drawingml/2006/main">
            <a:r>
              <a:rPr sz="465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Foveated Reconstruction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72B89-AD12-43CF-A3D2-857E6E49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325" b="0">
                <a:solidFill>
                  <a:srgbClr val="086B93"/>
                </a:solidFill>
                <a:latin typeface="Arial"/>
                <a:ea typeface="Arial"/>
                <a:cs typeface="Arial"/>
              </a:rPr>
              <a:t>Research weekly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443F8-A1D6-4F14-B9ED-291E65E4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Network jitter, reconstruction design, and Xavier measurements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4CD67-3E22-4238-BC7D-D7E1D8EF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2026-10-29</a:t>
            </a:r>
          </a:p>
        </p:txBody>
      </p:sp>
    </p:spTree>
    <p:extLst>
      <p:ext uri="{BB962C8B-B14F-4D97-AF65-F5344CB8AC3E}">
        <p14:creationId xmlns:p14="http://schemas.microsoft.com/office/powerpoint/2010/main" val="498036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374315-5E62-4846-91D2-373249F6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Jitter reduces the reconstruction budget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B14F7-50B1-4C94-9233-B0626B51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7A882-C7C7-4194-8B62-BC075CC1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293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207DC-3B7D-48E8-89B6-C83C24F3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250" b="0">
                <a:solidFill>
                  <a:srgbClr val="152D43"/>
                </a:solidFill>
                <a:latin typeface="Arial"/>
                <a:ea typeface="Arial"/>
                <a:cs typeface="Arial"/>
              </a:rPr>
              <a:t>Later input readiness leaves less time before the display deadline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23E07-BB3D-4466-9E98-446A3BB8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0">
                <a:solidFill>
                  <a:srgbClr val="152D43"/>
                </a:solidFill>
                <a:latin typeface="Arial"/>
                <a:ea typeface="Arial"/>
                <a:cs typeface="Arial"/>
              </a:rPr>
              <a:t>Early arrival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01DD5-19A3-4F94-9DF1-5A66BC8D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5"/>
          </a:solidFill>
          <a:ln xmlns:a="http://schemas.openxmlformats.org/drawingml/2006/main" w="14288">
            <a:solidFill>
              <a:srgbClr val="D7DFE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CEB64-880B-4EAC-B06B-82E40517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550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14288">
            <a:solidFill>
              <a:srgbClr val="148B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5A3DB-6F13-458E-B129-B864948F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76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DD9"/>
          </a:solidFill>
          <a:ln xmlns:a="http://schemas.openxmlformats.org/drawingml/2006/main" w="14288">
            <a:solidFill>
              <a:srgbClr val="D17B2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AAAAE-B75D-44EB-B6A5-353C240C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52700"/>
            <a:ext cx="6076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48B83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A9E18-6631-4B7C-B186-47EC6A6D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24100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8B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81893-1F6F-491C-B0E1-910C5EF5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0">
                <a:solidFill>
                  <a:srgbClr val="152D43"/>
                </a:solidFill>
                <a:latin typeface="Arial"/>
                <a:ea typeface="Arial"/>
                <a:cs typeface="Arial"/>
              </a:rPr>
              <a:t>Typical arrival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DE810-0C11-4813-A48F-AFA37215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29000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5"/>
          </a:solidFill>
          <a:ln xmlns:a="http://schemas.openxmlformats.org/drawingml/2006/main" w="14288">
            <a:solidFill>
              <a:srgbClr val="D7DF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180D7-7780-4E81-84DB-375B3A30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3695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14288">
            <a:solidFill>
              <a:srgbClr val="086B9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BDC18-0475-4C64-A4D1-F3A8F999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0"/>
            <a:ext cx="76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DD9"/>
          </a:solidFill>
          <a:ln xmlns:a="http://schemas.openxmlformats.org/drawingml/2006/main" w="14288">
            <a:solidFill>
              <a:srgbClr val="D17B2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A7636-527B-4300-B2F4-0BC2FD27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05200"/>
            <a:ext cx="426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F4508-6E20-404D-8B4E-DCD0A584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6B9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C216B4-5F4B-4ECE-9B98-BE8B4814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0">
                <a:solidFill>
                  <a:srgbClr val="152D43"/>
                </a:solidFill>
                <a:latin typeface="Arial"/>
                <a:ea typeface="Arial"/>
                <a:cs typeface="Arial"/>
              </a:rPr>
              <a:t>Late arrival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7FD9F-8FD9-4F94-9FB0-96DC5590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815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5"/>
          </a:solidFill>
          <a:ln xmlns:a="http://schemas.openxmlformats.org/drawingml/2006/main" w="14288">
            <a:solidFill>
              <a:srgbClr val="D7DF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4B526B-600B-401F-A256-9118E187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8150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14288">
            <a:solidFill>
              <a:srgbClr val="D17B2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E5178-FAA3-4886-9570-989CD76F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0"/>
            <a:ext cx="76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DD9"/>
          </a:solidFill>
          <a:ln xmlns:a="http://schemas.openxmlformats.org/drawingml/2006/main" w="14288">
            <a:solidFill>
              <a:srgbClr val="D17B2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6006C2-B8F4-411C-8564-6FAD3203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57700"/>
            <a:ext cx="2266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D17B28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76054E-77DF-4268-AC39-A83F0EAA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29100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17B2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DC4478-DF8D-494F-A7EF-C248D104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17170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17B2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CBA70-DD47-4D17-B41B-7BC78208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95475"/>
            <a:ext cx="1952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D17B28"/>
                </a:solidFill>
                <a:latin typeface="Arial"/>
                <a:ea typeface="Arial"/>
                <a:cs typeface="Arial"/>
              </a:rPr>
              <a:t>Deadline 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291467-25B4-4F59-99D4-DE69D47A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1339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D17B28"/>
                </a:solidFill>
                <a:latin typeface="Arial"/>
                <a:ea typeface="Arial"/>
                <a:cs typeface="Arial"/>
              </a:rPr>
              <a:t>Display reserve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374B4D-4E1E-4370-A018-4675F5C9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006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Transfer + decode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245022-2F24-4EA5-A4EF-60B65847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0067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B = D − t_ready − T_display − margin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D56FB4-12B3-4DA5-AB16-18FEFDDF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Schematic, not a measured jitter trace. A 90 FPS frame period is 11.11 ms, not a validated end-to-end deadline.</a:t>
            </a:r>
          </a:p>
        </p:txBody>
      </p:sp>
    </p:spTree>
    <p:extLst>
      <p:ext uri="{BB962C8B-B14F-4D97-AF65-F5344CB8AC3E}">
        <p14:creationId xmlns:p14="http://schemas.microsoft.com/office/powerpoint/2010/main" val="18327606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9CFF3-E307-4319-9953-EC9EFA8A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Adapt the full-resolution region to available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AA4AB-E29F-45C1-8EB3-A662D4F0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CD144-DDD5-4FC3-8821-1A0B304D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293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B0435-2181-48B3-AB00-DF0482E7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925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More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9513A-B0B8-4C7C-8AB9-A3E5ABA6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05075"/>
            <a:ext cx="13811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6B93"/>
          </a:solidFill>
          <a:ln xmlns:a="http://schemas.openxmlformats.org/drawingml/2006/main" w="0">
            <a:solidFill>
              <a:srgbClr val="086B9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F1170-648D-4E00-9F09-D4C944A3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14475"/>
            <a:ext cx="3429000" cy="1928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14288">
            <a:solidFill>
              <a:srgbClr val="D7DFE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5F302-861F-4ABE-8E6F-CA051C37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03797"/>
            <a:ext cx="2400300" cy="13501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6B9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8B852-4217-4A38-917A-3867D45D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765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Larger full-resolution region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BB3A1-656D-47A2-83DC-F578B649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925" b="1">
                <a:solidFill>
                  <a:srgbClr val="148B83"/>
                </a:solidFill>
                <a:latin typeface="Arial"/>
                <a:ea typeface="Arial"/>
                <a:cs typeface="Arial"/>
              </a:rPr>
              <a:t>Less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A5D89-E3CD-48D3-93C8-2CEC8764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76775"/>
            <a:ext cx="13811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B83"/>
          </a:solidFill>
          <a:ln xmlns:a="http://schemas.openxmlformats.org/drawingml/2006/main" w="0">
            <a:solidFill>
              <a:srgbClr val="148B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B8706-E23C-4C1B-809B-F8EDCE28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3429000" cy="1928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14288">
            <a:solidFill>
              <a:srgbClr val="D7DF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1904A-A86C-4ED6-8A71-82271909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32709"/>
            <a:ext cx="1028700" cy="5786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48B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B12A1-6FC0-4760-BDA3-D748443F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482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48B83"/>
                </a:solidFill>
                <a:latin typeface="Arial"/>
                <a:ea typeface="Arial"/>
                <a:cs typeface="Arial"/>
              </a:rPr>
              <a:t>Smaller full-resolution region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5BA41-A66F-46A4-AFC0-376DFB8D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Proposed adaptation. Fixed-center levels are measured; scheduling and deadline-miss reduction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17313961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F723A-A912-4A29-B2CB-A9C658D3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Half-resolution base with a full-resolution center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62F35-8203-44A6-B6A1-383CDB80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6AC8E-5AE9-453D-8ADE-D3A1E234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293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BA7DB-6FD4-4AD7-A279-ADE527DB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250" b="0">
                <a:solidFill>
                  <a:srgbClr val="152D43"/>
                </a:solidFill>
                <a:latin typeface="Arial"/>
                <a:ea typeface="Arial"/>
                <a:cs typeface="Arial"/>
              </a:rPr>
              <a:t>Shared image, disparity, and optical-flow 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393B4-F07F-4DB4-98D9-F74BF54A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304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14288">
            <a:solidFill>
              <a:srgbClr val="086B9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2032C-1402-46F0-8641-D6CE8E48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95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Base sampling</a:t>
            </a:r>
          </a:p>
          <a:p xmlns:a="http://schemas.openxmlformats.org/drawingml/2006/main">
            <a:r>
              <a:rPr sz="195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50% W × 50% H</a:t>
            </a:r>
          </a:p>
          <a:p xmlns:a="http://schemas.openxmlformats.org/drawingml/2006/main">
            <a:r>
              <a:rPr sz="195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(25% of pixels)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95508-4155-43DC-927E-D9F4BF03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5767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Base covers the whole image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F8474-E533-4C96-AB54-30AF8782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62200"/>
            <a:ext cx="304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F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9CF6C-B043-4EF1-B9F9-B1E7F3DB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95600"/>
            <a:ext cx="1047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14288">
            <a:solidFill>
              <a:srgbClr val="148B8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FB8B6-8473-4EA0-AB59-66848D08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051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48B83"/>
                </a:solidFill>
                <a:latin typeface="Arial"/>
                <a:ea typeface="Arial"/>
                <a:cs typeface="Arial"/>
              </a:rPr>
              <a:t>ROI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E6B9A-4F84-4E0A-8821-92DA8AC8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24175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D05D2-712F-4B7A-87C5-BA1CB15F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5767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Full resolution within the ROI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FF49D-F64E-467B-AE0A-2AD43EF3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67050"/>
            <a:ext cx="571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B83"/>
          </a:solidFill>
          <a:ln xmlns:a="http://schemas.openxmlformats.org/drawingml/2006/main" w="0">
            <a:solidFill>
              <a:srgbClr val="148B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E9256-1B6A-4A49-99CA-A3ECEE86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6220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14288">
            <a:solidFill>
              <a:srgbClr val="086B9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2B53F-7975-48FC-BE17-82EC128D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95600"/>
            <a:ext cx="85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48B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2CED7-8EF1-443E-BEB6-21F70C32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005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Upsample + blend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AB435-6491-41FF-AF55-DB7C02BF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57750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95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960 × 540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6B42D-189B-4D7E-B05A-1AB7E058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75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Full-resolution region: 0.7%, 2.8%, 11.1%, 25.0%, 44.4% of image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8E51DD-0FE4-435C-AD7B-B514D1D3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Region % means image-area coverage; base sampling is separate. Fixed center, 3 px halo; no eye tracking.</a:t>
            </a:r>
          </a:p>
        </p:txBody>
      </p:sp>
    </p:spTree>
    <p:extLst>
      <p:ext uri="{BB962C8B-B14F-4D97-AF65-F5344CB8AC3E}">
        <p14:creationId xmlns:p14="http://schemas.microsoft.com/office/powerpoint/2010/main" val="5909003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7B120-2336-4508-AEDD-3A80E7F5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30W CUDA C++: decode budget + reconstruction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7E9B1-56BC-4BB5-A378-6BD83526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66B18-9EAE-4369-B199-9FB6BAD3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293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657DE70-47A4-4A50-A164-2D6474B474BF}"/>
              </a:ext>
            </a:extLst>
          </p:cNvPr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7715250" cy="3752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94985e972f4ef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587D0-E7AA-4B18-8103-CB9E233E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0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4 workloads × frame 39; 100 repetitions/path. GPU timeline, not wall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C1FE3-DC60-44C2-8E0A-0AA8C4B0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2882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625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2.8% region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E4EE5-A198-4B0B-B86E-B0A3A603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955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375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5.462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1ECD1-451A-4461-A687-26411766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528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decode + reconstruction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EAE3-571A-4803-8325-765F7E19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195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450" b="1">
                <a:solidFill>
                  <a:srgbClr val="148B83"/>
                </a:solidFill>
                <a:latin typeface="Arial"/>
                <a:ea typeface="Arial"/>
                <a:cs typeface="Arial"/>
              </a:rPr>
              <a:t>1.83×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60181-77EA-41D6-A00C-EAA672DA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67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versus Full + decode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B3EC2-6239-40D6-BC60-602C8853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Derived budget, not measured end-to-end. Copies excluded. Savings include reduced clearing work; no optimal-Full claim.</a:t>
            </a:r>
          </a:p>
        </p:txBody>
      </p:sp>
    </p:spTree>
    <p:extLst>
      <p:ext uri="{BB962C8B-B14F-4D97-AF65-F5344CB8AC3E}">
        <p14:creationId xmlns:p14="http://schemas.microsoft.com/office/powerpoint/2010/main" val="1223246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97BD3-542B-42B4-A0BE-9AC4C6BA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Quality and timing across region sizes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2AC4E-0C09-4651-80AE-F2A753F7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64DB4-DBBE-485A-A0BD-3495CBDA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293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F8852-C2C1-4ADB-859B-F517255A89B0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2619375"/>
                <a:gridCol w="2724150"/>
                <a:gridCol w="3105150"/>
              </a:tblGrid>
              <a:tr h="5349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Region (% of image)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T w="9525">
                      <a:solidFill>
                        <a:srgbClr val="D7DFE5"/>
                      </a:solidFill>
                      <a:prstDash val="solid"/>
                    </a:lnT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15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Decode + recon mean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T w="9525">
                      <a:solidFill>
                        <a:srgbClr val="D7DFE5"/>
                      </a:solidFill>
                      <a:prstDash val="solid"/>
                    </a:lnT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15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Right-eye ΔPSNR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T w="9525">
                      <a:solidFill>
                        <a:srgbClr val="D7DFE5"/>
                      </a:solidFill>
                      <a:prstDash val="solid"/>
                    </a:lnT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15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Stereo mean ΔPSNR*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T w="9525">
                      <a:solidFill>
                        <a:srgbClr val="D7DFE5"/>
                      </a:solidFill>
                      <a:prstDash val="solid"/>
                    </a:lnT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152D43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0.7%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5.248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-0.1727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-0.0864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2.8%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5.462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-0.1668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-0.0834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11.1%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6.318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-0.1462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-0.0731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25.0%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7.637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-0.1200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-0.0600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44.4%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9.543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-0.0861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-0.0430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B63B0-91DC-489B-ADA1-9398EE93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* Unchanged left eye, mean per-eye PSNR in dB: stereo difference = right-eye difference /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E0DC4-FC57-4BD1-A116-68C3A2C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ΔPSNR = FOV − full, using original overflow PSNR. Standard PSNR can show a different trend.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7472D-2F8D-4D76-9B9E-82B27A7C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Timing: 30W, 4 frames + fixed 2 ms decode. Quality: 15W, 1068 frames. Separate experiments, not jointly measured.</a:t>
            </a:r>
          </a:p>
        </p:txBody>
      </p:sp>
    </p:spTree>
    <p:extLst>
      <p:ext uri="{BB962C8B-B14F-4D97-AF65-F5344CB8AC3E}">
        <p14:creationId xmlns:p14="http://schemas.microsoft.com/office/powerpoint/2010/main" val="4194754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F8F7F-DA8E-46EA-BA12-F2623080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Next: measure deadline behavior under jitter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FB765-84FA-4F13-A723-7C915DC7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F258C-CD4F-44D3-85E2-87334FFF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293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5C36C-BE03-4069-BA14-873A54FC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049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C9158-FDF4-400B-B3DC-0A57964A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049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Record the actual per-frame budget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6AEF3-0CFC-4618-9644-830E1267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47900"/>
            <a:ext cx="995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02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Log arrival, decode completion, and display deadline. Reserve display time and a margin.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DF492-2069-4A3A-825E-13C1BF3F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6C9AC-9B16-40DF-B1F0-646E8555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Implement budget-based ROI selection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D1267-E581-47CF-B687-A0CAFA5C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43300"/>
            <a:ext cx="995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02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Build a percentile-based profile. Define a fallback when no level fits the budget.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E7798-7DB6-4851-8166-3B519818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57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63E59-E48B-4956-ABA1-6EB52E07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957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Compare fixed and adaptive policies on the same trace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48389-D926-49A7-94BD-A69FEDFC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38700"/>
            <a:ext cx="995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02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Report deadline-miss rate, tail latency, and quality. Repeat runs to check stability.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6EAEF-0C2A-40EC-BE87-7977C55B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Measured: fixed-center quality–latency levels. Adaptive scheduling and benefits under jitter still require validation.</a:t>
            </a:r>
          </a:p>
        </p:txBody>
      </p:sp>
    </p:spTree>
    <p:extLst>
      <p:ext uri="{BB962C8B-B14F-4D97-AF65-F5344CB8AC3E}">
        <p14:creationId xmlns:p14="http://schemas.microsoft.com/office/powerpoint/2010/main" val="18605364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2026-10-30T04:06:29.5630000Z</dcterms:created>
  <dcterms:modified xsi:type="dcterms:W3CDTF">2026-10-30T04:06:29.5630000Z</dcterms:modified>
</coreProperties>
</file>